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930" autoAdjust="0"/>
  </p:normalViewPr>
  <p:slideViewPr>
    <p:cSldViewPr>
      <p:cViewPr varScale="1">
        <p:scale>
          <a:sx n="113" d="100"/>
          <a:sy n="113" d="100"/>
        </p:scale>
        <p:origin x="14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559CA-44B5-4E3B-98DF-E6ACCF9CB0DD}" type="datetimeFigureOut">
              <a:rPr lang="ro-RO" smtClean="0"/>
              <a:pPr/>
              <a:t>17.04.2020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rush.ru/quests/lectures/questcollections.level06.lecture01" TargetMode="External"/><Relationship Id="rId2" Type="http://schemas.openxmlformats.org/officeDocument/2006/relationships/hyperlink" Target="https://www.tutorialspoint.com/design_pattern/mvc_pattern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BM78NJBS_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877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o-RO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Programarea orientată pe obiect 2</a:t>
            </a:r>
            <a:endParaRPr lang="ro-RO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505" y="2348880"/>
            <a:ext cx="7500990" cy="3857652"/>
          </a:xfrm>
        </p:spPr>
        <p:txBody>
          <a:bodyPr>
            <a:normAutofit/>
          </a:bodyPr>
          <a:lstStyle/>
          <a:p>
            <a:r>
              <a:rPr lang="it-IT" dirty="0"/>
              <a:t>Patternul MVC. Componente si arhitectură</a:t>
            </a:r>
            <a:r>
              <a:rPr lang="it-IT" dirty="0" smtClean="0"/>
              <a:t>.</a:t>
            </a:r>
            <a:endParaRPr lang="ro-MD" dirty="0" smtClean="0"/>
          </a:p>
          <a:p>
            <a:endParaRPr lang="ro-MD" dirty="0"/>
          </a:p>
          <a:p>
            <a:endParaRPr lang="ro-RO" dirty="0" smtClean="0"/>
          </a:p>
          <a:p>
            <a:pPr algn="r"/>
            <a:r>
              <a:rPr lang="ro-RO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Petic Mircea</a:t>
            </a:r>
          </a:p>
          <a:p>
            <a:pPr algn="r"/>
            <a:r>
              <a:rPr lang="ro-RO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petic.mircea@yahoo.com</a:t>
            </a:r>
          </a:p>
          <a:p>
            <a:pPr algn="r"/>
            <a:r>
              <a:rPr lang="ro-RO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www.facebook.com/mircea.petic</a:t>
            </a:r>
            <a:endParaRPr lang="ro-RO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dirty="0" smtClean="0"/>
              <a:t>Definiția </a:t>
            </a:r>
            <a:r>
              <a:rPr lang="ro-MD" dirty="0" err="1" smtClean="0"/>
              <a:t>patternului</a:t>
            </a:r>
            <a:r>
              <a:rPr lang="ro-MD" dirty="0" smtClean="0"/>
              <a:t> de programare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MD" dirty="0"/>
              <a:t>Pattern-</a:t>
            </a:r>
            <a:r>
              <a:rPr lang="ro-MD" dirty="0" err="1"/>
              <a:t>ul</a:t>
            </a:r>
            <a:r>
              <a:rPr lang="ro-MD" dirty="0"/>
              <a:t> reprezintă o metodă eficientă de rezolvare a unor probleme de proiectare tipice, în particular, proiectarea programelor pentru calculatoare. </a:t>
            </a:r>
            <a:endParaRPr lang="ro-MD" dirty="0" smtClean="0"/>
          </a:p>
          <a:p>
            <a:r>
              <a:rPr lang="ro-MD" dirty="0"/>
              <a:t>Pattern-</a:t>
            </a:r>
            <a:r>
              <a:rPr lang="ro-MD" dirty="0" err="1"/>
              <a:t>ul</a:t>
            </a:r>
            <a:r>
              <a:rPr lang="ro-MD" dirty="0"/>
              <a:t> nu reprezintă varianta finală a proiectului, care poate fi direct trecut în cod, ci, mai degrabă, un eșantion sau o descriere a metodei de rezolvare a prolemei, care ulterior poate fi utilizat în mai multe situații</a:t>
            </a:r>
            <a:r>
              <a:rPr lang="ro-MD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33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Patternul MVC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Model</a:t>
            </a:r>
            <a:r>
              <a:rPr lang="ro-MD" b="1" dirty="0" smtClean="0"/>
              <a:t> – </a:t>
            </a:r>
            <a:r>
              <a:rPr lang="en-US" b="1" dirty="0" smtClean="0"/>
              <a:t>View</a:t>
            </a:r>
            <a:r>
              <a:rPr lang="ro-MD" b="1" dirty="0" smtClean="0"/>
              <a:t> – </a:t>
            </a:r>
            <a:r>
              <a:rPr lang="en-US" b="1" dirty="0" smtClean="0"/>
              <a:t>Controller</a:t>
            </a:r>
            <a:r>
              <a:rPr lang="ro-MD" b="1" dirty="0" smtClean="0"/>
              <a:t> </a:t>
            </a:r>
            <a:endParaRPr lang="ro-MD" dirty="0"/>
          </a:p>
          <a:p>
            <a:r>
              <a:rPr lang="ro-MD" b="1" dirty="0" smtClean="0"/>
              <a:t>Model</a:t>
            </a:r>
            <a:r>
              <a:rPr lang="ro-MD" dirty="0" smtClean="0"/>
              <a:t> – codul de program </a:t>
            </a:r>
            <a:r>
              <a:rPr lang="en-US" dirty="0" smtClean="0"/>
              <a:t>care </a:t>
            </a:r>
            <a:r>
              <a:rPr lang="en-US" dirty="0"/>
              <a:t>face tot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ro-MD" dirty="0" smtClean="0"/>
              <a:t>de ce aplicația a fost elaborată</a:t>
            </a:r>
            <a:r>
              <a:rPr lang="en-US" dirty="0" smtClean="0"/>
              <a:t>.</a:t>
            </a:r>
            <a:r>
              <a:rPr lang="ro-MD" dirty="0" smtClean="0"/>
              <a:t> – </a:t>
            </a:r>
            <a:r>
              <a:rPr lang="ro-MD" b="1" dirty="0" smtClean="0"/>
              <a:t>logica de business;</a:t>
            </a:r>
          </a:p>
          <a:p>
            <a:r>
              <a:rPr lang="en-US" b="1" dirty="0" smtClean="0"/>
              <a:t>View</a:t>
            </a:r>
            <a:r>
              <a:rPr lang="ro-MD" b="1" dirty="0"/>
              <a:t> - </a:t>
            </a:r>
            <a:r>
              <a:rPr lang="ro-MD" dirty="0" smtClean="0"/>
              <a:t>conține </a:t>
            </a:r>
            <a:r>
              <a:rPr lang="ro-MD" dirty="0"/>
              <a:t>cod care controlează </a:t>
            </a:r>
            <a:r>
              <a:rPr lang="ro-MD" dirty="0" smtClean="0"/>
              <a:t>lucru cu interfața grafică de exemplu Windows</a:t>
            </a:r>
            <a:r>
              <a:rPr lang="ro-MD" dirty="0"/>
              <a:t>, pagini, mesaje etc</a:t>
            </a:r>
            <a:r>
              <a:rPr lang="ro-MD" dirty="0" smtClean="0"/>
              <a:t>. – </a:t>
            </a:r>
            <a:r>
              <a:rPr lang="ro-MD" b="1" dirty="0" smtClean="0"/>
              <a:t>interfața cu utilizatorul</a:t>
            </a:r>
            <a:r>
              <a:rPr lang="ro-MD" dirty="0" smtClean="0"/>
              <a:t>;</a:t>
            </a:r>
          </a:p>
          <a:p>
            <a:r>
              <a:rPr lang="en-US" b="1" dirty="0"/>
              <a:t>Controller</a:t>
            </a:r>
            <a:r>
              <a:rPr lang="ro-MD" b="1" dirty="0"/>
              <a:t> </a:t>
            </a:r>
            <a:r>
              <a:rPr lang="ro-MD" b="1" dirty="0" smtClean="0"/>
              <a:t>– </a:t>
            </a:r>
            <a:r>
              <a:rPr lang="it-IT" dirty="0" smtClean="0"/>
              <a:t>Orice </a:t>
            </a:r>
            <a:r>
              <a:rPr lang="it-IT" dirty="0"/>
              <a:t>acțiuni ale utilizatorilor vizând schimbarea modelului ar trebui procesate aici.</a:t>
            </a:r>
            <a:endParaRPr lang="ro-MD" dirty="0" smtClean="0"/>
          </a:p>
          <a:p>
            <a:endParaRPr lang="ro-MD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4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principiul</a:t>
            </a:r>
            <a:r>
              <a:rPr lang="en-US" dirty="0"/>
              <a:t> </a:t>
            </a:r>
            <a:r>
              <a:rPr lang="en-US" dirty="0" err="1"/>
              <a:t>construirii</a:t>
            </a:r>
            <a:r>
              <a:rPr lang="en-US" dirty="0"/>
              <a:t> </a:t>
            </a:r>
            <a:r>
              <a:rPr lang="en-US" dirty="0" err="1"/>
              <a:t>arhitecturii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împărțită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părți</a:t>
            </a:r>
            <a:r>
              <a:rPr lang="en-US" dirty="0"/>
              <a:t>.</a:t>
            </a:r>
          </a:p>
        </p:txBody>
      </p:sp>
      <p:sp>
        <p:nvSpPr>
          <p:cNvPr id="5" name="Subtitlu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0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Trei caracteristici ale MVC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logica</a:t>
            </a:r>
            <a:r>
              <a:rPr lang="en-US" b="1" dirty="0"/>
              <a:t> </a:t>
            </a:r>
            <a:r>
              <a:rPr lang="en-US" b="1" dirty="0" err="1"/>
              <a:t>programului</a:t>
            </a:r>
            <a:r>
              <a:rPr lang="en-US" b="1" dirty="0"/>
              <a:t> </a:t>
            </a:r>
            <a:r>
              <a:rPr lang="en-US" dirty="0"/>
              <a:t>(Model), </a:t>
            </a:r>
            <a:endParaRPr lang="ro-MD" dirty="0" smtClean="0"/>
          </a:p>
          <a:p>
            <a:r>
              <a:rPr lang="en-US" b="1" dirty="0" err="1" smtClean="0"/>
              <a:t>mecanism</a:t>
            </a:r>
            <a:r>
              <a:rPr lang="en-US" b="1" dirty="0" smtClean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afișarea</a:t>
            </a:r>
            <a:r>
              <a:rPr lang="en-US" b="1" dirty="0"/>
              <a:t> </a:t>
            </a:r>
            <a:r>
              <a:rPr lang="en-US" b="1" dirty="0" err="1"/>
              <a:t>tuturor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b="1" dirty="0"/>
              <a:t> </a:t>
            </a:r>
            <a:r>
              <a:rPr lang="en-US" b="1" dirty="0" err="1"/>
              <a:t>programului</a:t>
            </a:r>
            <a:r>
              <a:rPr lang="en-US" b="1" dirty="0"/>
              <a:t> </a:t>
            </a:r>
            <a:r>
              <a:rPr lang="en-US" b="1" dirty="0" err="1"/>
              <a:t>către</a:t>
            </a:r>
            <a:r>
              <a:rPr lang="en-US" b="1" dirty="0"/>
              <a:t> </a:t>
            </a:r>
            <a:r>
              <a:rPr lang="en-US" b="1" dirty="0" err="1"/>
              <a:t>utilizator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smtClean="0"/>
              <a:t>V</a:t>
            </a:r>
            <a:r>
              <a:rPr lang="ro-MD" dirty="0" err="1" smtClean="0"/>
              <a:t>iew</a:t>
            </a:r>
            <a:r>
              <a:rPr lang="en-US" dirty="0" smtClean="0"/>
              <a:t>),</a:t>
            </a:r>
            <a:endParaRPr lang="ro-MD" dirty="0" smtClean="0"/>
          </a:p>
          <a:p>
            <a:r>
              <a:rPr lang="en-US" b="1" dirty="0" err="1" smtClean="0"/>
              <a:t>procesarea</a:t>
            </a:r>
            <a:r>
              <a:rPr lang="en-US" b="1" dirty="0" smtClean="0"/>
              <a:t> </a:t>
            </a:r>
            <a:r>
              <a:rPr lang="en-US" b="1" dirty="0" err="1"/>
              <a:t>intrărilor</a:t>
            </a:r>
            <a:r>
              <a:rPr lang="en-US" b="1" dirty="0"/>
              <a:t> / </a:t>
            </a:r>
            <a:r>
              <a:rPr lang="en-US" b="1" dirty="0" err="1"/>
              <a:t>acțiunilor</a:t>
            </a:r>
            <a:r>
              <a:rPr lang="en-US" b="1" dirty="0"/>
              <a:t> </a:t>
            </a:r>
            <a:r>
              <a:rPr lang="en-US" b="1" dirty="0" err="1"/>
              <a:t>utilizatorului</a:t>
            </a:r>
            <a:r>
              <a:rPr lang="en-US" b="1" dirty="0"/>
              <a:t> </a:t>
            </a:r>
            <a:r>
              <a:rPr lang="en-US" dirty="0"/>
              <a:t>(Controller).</a:t>
            </a:r>
          </a:p>
        </p:txBody>
      </p:sp>
    </p:spTree>
    <p:extLst>
      <p:ext uri="{BB962C8B-B14F-4D97-AF65-F5344CB8AC3E}">
        <p14:creationId xmlns:p14="http://schemas.microsoft.com/office/powerpoint/2010/main" val="207388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dirty="0" smtClean="0"/>
              <a:t>MVC conține</a:t>
            </a:r>
            <a:r>
              <a:rPr lang="en-US" dirty="0" smtClean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grupuri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ro-MD" dirty="0" smtClean="0"/>
              <a:t/>
            </a:r>
            <a:br>
              <a:rPr lang="ro-MD" dirty="0" smtClean="0"/>
            </a:b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/>
              <a:t>care: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fiecare parte are </a:t>
            </a:r>
            <a:r>
              <a:rPr lang="it-IT" dirty="0" smtClean="0"/>
              <a:t>propri</a:t>
            </a:r>
            <a:r>
              <a:rPr lang="ro-MD" dirty="0" smtClean="0"/>
              <a:t>a destinație</a:t>
            </a:r>
            <a:r>
              <a:rPr lang="it-IT" dirty="0" smtClean="0"/>
              <a:t>;</a:t>
            </a:r>
            <a:endParaRPr lang="ro-MD" dirty="0" smtClean="0"/>
          </a:p>
          <a:p>
            <a:r>
              <a:rPr lang="en-US" dirty="0" err="1"/>
              <a:t>legăturile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destul</a:t>
            </a:r>
            <a:r>
              <a:rPr lang="en-US" dirty="0"/>
              <a:t> de </a:t>
            </a:r>
            <a:r>
              <a:rPr lang="en-US" dirty="0" err="1" smtClean="0"/>
              <a:t>puternice</a:t>
            </a:r>
            <a:r>
              <a:rPr lang="ro-MD" dirty="0" smtClean="0"/>
              <a:t>;</a:t>
            </a:r>
          </a:p>
          <a:p>
            <a:r>
              <a:rPr lang="en-US" dirty="0" err="1"/>
              <a:t>conexiunile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grupuri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destul</a:t>
            </a:r>
            <a:r>
              <a:rPr lang="en-US" dirty="0"/>
              <a:t> de </a:t>
            </a:r>
            <a:r>
              <a:rPr lang="en-US" dirty="0" err="1"/>
              <a:t>slabe</a:t>
            </a:r>
            <a:r>
              <a:rPr lang="en-US" dirty="0" smtClean="0"/>
              <a:t>;</a:t>
            </a:r>
            <a:endParaRPr lang="ro-MD" dirty="0" smtClean="0"/>
          </a:p>
          <a:p>
            <a:r>
              <a:rPr lang="en-US" dirty="0" err="1"/>
              <a:t>metodele</a:t>
            </a:r>
            <a:r>
              <a:rPr lang="en-US" dirty="0"/>
              <a:t> de </a:t>
            </a:r>
            <a:r>
              <a:rPr lang="en-US" dirty="0" err="1"/>
              <a:t>interacțiune</a:t>
            </a:r>
            <a:r>
              <a:rPr lang="en-US" dirty="0"/>
              <a:t> </a:t>
            </a:r>
            <a:r>
              <a:rPr lang="ro-MD" dirty="0" smtClean="0"/>
              <a:t>dintre grupuri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/>
              <a:t>destul</a:t>
            </a:r>
            <a:r>
              <a:rPr lang="en-US" dirty="0"/>
              <a:t> de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reglementate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787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Schema de lucru pentru MVC</a:t>
            </a:r>
            <a:endParaRPr lang="en-US" dirty="0"/>
          </a:p>
        </p:txBody>
      </p:sp>
      <p:pic>
        <p:nvPicPr>
          <p:cNvPr id="1026" name="Picture 2" descr="https://javarush.ru/images/article/4bc8c5a2-d140-4b72-8fa8-74f1bcb802ed/original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52" y="1916832"/>
            <a:ext cx="809625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34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err="1" smtClean="0"/>
              <a:t>Caracterisiticile</a:t>
            </a:r>
            <a:r>
              <a:rPr lang="ro-MD" dirty="0" smtClean="0"/>
              <a:t> grupului </a:t>
            </a:r>
            <a:r>
              <a:rPr lang="ro-MD" b="1" dirty="0" smtClean="0"/>
              <a:t>Model</a:t>
            </a:r>
            <a:endParaRPr lang="en-US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Model</a:t>
            </a:r>
            <a:r>
              <a:rPr lang="en-US" dirty="0" smtClean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independentă</a:t>
            </a:r>
            <a:r>
              <a:rPr lang="en-US" dirty="0"/>
              <a:t> parte a </a:t>
            </a:r>
            <a:r>
              <a:rPr lang="en-US" dirty="0" err="1"/>
              <a:t>sistemului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ro-MD" b="1" dirty="0" smtClean="0"/>
              <a:t>Model</a:t>
            </a:r>
            <a:r>
              <a:rPr lang="ro-MD" dirty="0" smtClean="0"/>
              <a:t> nu depinde de </a:t>
            </a:r>
            <a:r>
              <a:rPr lang="en-US" b="1" dirty="0"/>
              <a:t>View &amp; Controller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dirty="0" err="1"/>
              <a:t>Modelul</a:t>
            </a:r>
            <a:r>
              <a:rPr lang="en-US" dirty="0"/>
              <a:t> nu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din </a:t>
            </a:r>
            <a:r>
              <a:rPr lang="en-US" dirty="0" err="1" smtClean="0"/>
              <a:t>secțiuni</a:t>
            </a:r>
            <a:r>
              <a:rPr lang="ro-MD" dirty="0" smtClean="0"/>
              <a:t> </a:t>
            </a:r>
            <a:r>
              <a:rPr lang="en-US" b="1" dirty="0"/>
              <a:t>View &amp; </a:t>
            </a:r>
            <a:r>
              <a:rPr lang="en-US" b="1" dirty="0" smtClean="0"/>
              <a:t>Controller</a:t>
            </a:r>
            <a:endParaRPr lang="ro-MD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598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err="1" smtClean="0"/>
              <a:t>Caracterisiticile</a:t>
            </a:r>
            <a:r>
              <a:rPr lang="ro-MD" dirty="0" smtClean="0"/>
              <a:t> grupului </a:t>
            </a:r>
            <a:r>
              <a:rPr lang="ro-MD" b="1" dirty="0" err="1" smtClean="0"/>
              <a:t>View</a:t>
            </a:r>
            <a:endParaRPr lang="en-US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View </a:t>
            </a:r>
            <a:r>
              <a:rPr lang="it-IT" dirty="0" smtClean="0"/>
              <a:t>nu </a:t>
            </a:r>
            <a:r>
              <a:rPr lang="it-IT" dirty="0"/>
              <a:t>poate schimba modelul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ro-MD" dirty="0"/>
              <a:t>Clasele</a:t>
            </a:r>
            <a:r>
              <a:rPr lang="ro-MD" b="1" dirty="0"/>
              <a:t> </a:t>
            </a:r>
            <a:r>
              <a:rPr lang="en-US" b="1" dirty="0"/>
              <a:t>View </a:t>
            </a:r>
            <a:r>
              <a:rPr lang="ro-MD" dirty="0" smtClean="0"/>
              <a:t>pot </a:t>
            </a:r>
            <a:r>
              <a:rPr lang="ro-MD" dirty="0"/>
              <a:t>accesa modelul pentru date sau </a:t>
            </a:r>
            <a:r>
              <a:rPr lang="ro-MD" dirty="0" smtClean="0"/>
              <a:t>evenimente</a:t>
            </a:r>
          </a:p>
        </p:txBody>
      </p:sp>
    </p:spTree>
    <p:extLst>
      <p:ext uri="{BB962C8B-B14F-4D97-AF65-F5344CB8AC3E}">
        <p14:creationId xmlns:p14="http://schemas.microsoft.com/office/powerpoint/2010/main" val="236742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err="1" smtClean="0"/>
              <a:t>Caracterisiticile</a:t>
            </a:r>
            <a:r>
              <a:rPr lang="ro-MD" dirty="0" smtClean="0"/>
              <a:t> grupului </a:t>
            </a:r>
            <a:r>
              <a:rPr lang="ro-MD" b="1" dirty="0" smtClean="0"/>
              <a:t>Controler</a:t>
            </a:r>
            <a:endParaRPr lang="en-US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b="1" dirty="0"/>
              <a:t>Controler </a:t>
            </a:r>
            <a:r>
              <a:rPr lang="it-IT" dirty="0" smtClean="0"/>
              <a:t>nu </a:t>
            </a:r>
            <a:r>
              <a:rPr lang="ro-MD" dirty="0" smtClean="0"/>
              <a:t>se ocupă cu afișarea datelor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ro-MD" b="1" dirty="0" smtClean="0"/>
              <a:t>Controler-</a:t>
            </a:r>
            <a:r>
              <a:rPr lang="ro-MD" b="1" dirty="0" err="1" smtClean="0"/>
              <a:t>ul</a:t>
            </a:r>
            <a:r>
              <a:rPr lang="ro-MD" b="1" dirty="0" smtClean="0"/>
              <a:t> </a:t>
            </a:r>
            <a:r>
              <a:rPr lang="ro-MD" dirty="0" smtClean="0"/>
              <a:t>procesează </a:t>
            </a:r>
            <a:r>
              <a:rPr lang="ro-MD" dirty="0"/>
              <a:t>acțiunile utilizatorului și schimbă modelul în conformitate cu acestea.</a:t>
            </a:r>
            <a:endParaRPr lang="ro-MD" dirty="0" smtClean="0"/>
          </a:p>
        </p:txBody>
      </p:sp>
    </p:spTree>
    <p:extLst>
      <p:ext uri="{BB962C8B-B14F-4D97-AF65-F5344CB8AC3E}">
        <p14:creationId xmlns:p14="http://schemas.microsoft.com/office/powerpoint/2010/main" val="773594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MD" dirty="0" smtClean="0"/>
              <a:t>Exemplu simplu de program cu modelul MVC</a:t>
            </a:r>
            <a:endParaRPr lang="en-US" dirty="0"/>
          </a:p>
        </p:txBody>
      </p:sp>
      <p:sp>
        <p:nvSpPr>
          <p:cNvPr id="5" name="Subtitlu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7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Exemplu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i="1" dirty="0"/>
              <a:t>Student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acționeze</a:t>
            </a:r>
            <a:r>
              <a:rPr lang="en-US" dirty="0"/>
              <a:t> ca </a:t>
            </a:r>
            <a:r>
              <a:rPr lang="ro-MD" b="1" dirty="0" smtClean="0"/>
              <a:t>Model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i="1" dirty="0" err="1" smtClean="0"/>
              <a:t>StudentView</a:t>
            </a:r>
            <a:r>
              <a:rPr lang="en-US" dirty="0" smtClean="0"/>
              <a:t> </a:t>
            </a:r>
            <a:r>
              <a:rPr lang="en-US" dirty="0" err="1"/>
              <a:t>va</a:t>
            </a:r>
            <a:r>
              <a:rPr lang="en-US" dirty="0"/>
              <a:t> fi 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ro-MD" b="1" dirty="0" err="1" smtClean="0"/>
              <a:t>View</a:t>
            </a:r>
            <a:r>
              <a:rPr lang="ro-MD" dirty="0" smtClean="0"/>
              <a:t> </a:t>
            </a:r>
            <a:r>
              <a:rPr lang="en-US" dirty="0" smtClean="0"/>
              <a:t>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tipări</a:t>
            </a:r>
            <a:r>
              <a:rPr lang="en-US" dirty="0"/>
              <a:t> </a:t>
            </a:r>
            <a:r>
              <a:rPr lang="en-US" dirty="0" err="1"/>
              <a:t>detaliile</a:t>
            </a:r>
            <a:r>
              <a:rPr lang="en-US" dirty="0"/>
              <a:t> </a:t>
            </a:r>
            <a:r>
              <a:rPr lang="en-US" dirty="0" err="1"/>
              <a:t>studentului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consolă</a:t>
            </a:r>
            <a:r>
              <a:rPr lang="en-US" dirty="0"/>
              <a:t>, </a:t>
            </a:r>
            <a:endParaRPr lang="ro-MD" dirty="0"/>
          </a:p>
          <a:p>
            <a:r>
              <a:rPr lang="en-US" i="1" dirty="0" err="1" smtClean="0"/>
              <a:t>StudentController</a:t>
            </a:r>
            <a:r>
              <a:rPr lang="en-US" dirty="0" smtClean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ro-MD" b="1" dirty="0" smtClean="0"/>
              <a:t>Controller</a:t>
            </a:r>
            <a:r>
              <a:rPr lang="ro-MD" dirty="0" smtClean="0"/>
              <a:t> </a:t>
            </a:r>
            <a:r>
              <a:rPr lang="en-US" dirty="0" err="1" smtClean="0"/>
              <a:t>responsabilă</a:t>
            </a:r>
            <a:r>
              <a:rPr lang="en-US" dirty="0" smtClean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i="1" dirty="0"/>
              <a:t>Student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actualizarea</a:t>
            </a:r>
            <a:r>
              <a:rPr lang="en-US" dirty="0"/>
              <a:t> </a:t>
            </a:r>
            <a:r>
              <a:rPr lang="en-US" dirty="0" err="1"/>
              <a:t>vizualizării</a:t>
            </a:r>
            <a:r>
              <a:rPr lang="en-US" dirty="0"/>
              <a:t> </a:t>
            </a:r>
            <a:r>
              <a:rPr lang="en-US" i="1" dirty="0" err="1"/>
              <a:t>StudentView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consecință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3418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Diagrama UML a aplicației</a:t>
            </a:r>
            <a:endParaRPr lang="en-US" dirty="0"/>
          </a:p>
        </p:txBody>
      </p:sp>
      <p:pic>
        <p:nvPicPr>
          <p:cNvPr id="2050" name="Picture 2" descr="https://www.tutorialspoint.com/design_pattern/images/mvc_pattern_uml_diagr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7229892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890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Student.java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457200" y="1391163"/>
            <a:ext cx="8229600" cy="521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public class Student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private String </a:t>
            </a:r>
            <a:r>
              <a:rPr lang="en-US" sz="1400" dirty="0" err="1">
                <a:latin typeface="Consolas" panose="020B0609020204030204" pitchFamily="49" charset="0"/>
              </a:rPr>
              <a:t>rollNo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private String name;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public String </a:t>
            </a:r>
            <a:r>
              <a:rPr lang="en-US" sz="1400" dirty="0" err="1">
                <a:latin typeface="Consolas" panose="020B0609020204030204" pitchFamily="49" charset="0"/>
              </a:rPr>
              <a:t>getRollNo</a:t>
            </a:r>
            <a:r>
              <a:rPr lang="en-US" sz="1400" dirty="0"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return </a:t>
            </a:r>
            <a:r>
              <a:rPr lang="en-US" sz="1400" dirty="0" err="1">
                <a:latin typeface="Consolas" panose="020B0609020204030204" pitchFamily="49" charset="0"/>
              </a:rPr>
              <a:t>rollNo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public void </a:t>
            </a:r>
            <a:r>
              <a:rPr lang="en-US" sz="1400" dirty="0" err="1">
                <a:latin typeface="Consolas" panose="020B0609020204030204" pitchFamily="49" charset="0"/>
              </a:rPr>
              <a:t>setRollNo</a:t>
            </a:r>
            <a:r>
              <a:rPr lang="en-US" sz="1400" dirty="0">
                <a:latin typeface="Consolas" panose="020B0609020204030204" pitchFamily="49" charset="0"/>
              </a:rPr>
              <a:t>(String </a:t>
            </a:r>
            <a:r>
              <a:rPr lang="en-US" sz="1400" dirty="0" err="1">
                <a:latin typeface="Consolas" panose="020B0609020204030204" pitchFamily="49" charset="0"/>
              </a:rPr>
              <a:t>rollNo</a:t>
            </a:r>
            <a:r>
              <a:rPr lang="en-US" sz="14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</a:t>
            </a:r>
            <a:r>
              <a:rPr lang="en-US" sz="1400" dirty="0" err="1">
                <a:latin typeface="Consolas" panose="020B0609020204030204" pitchFamily="49" charset="0"/>
              </a:rPr>
              <a:t>this.rollNo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rollNo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public String </a:t>
            </a:r>
            <a:r>
              <a:rPr lang="en-US" sz="1400" dirty="0" err="1">
                <a:latin typeface="Consolas" panose="020B0609020204030204" pitchFamily="49" charset="0"/>
              </a:rPr>
              <a:t>getName</a:t>
            </a:r>
            <a:r>
              <a:rPr lang="en-US" sz="1400" dirty="0"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return name;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public void </a:t>
            </a:r>
            <a:r>
              <a:rPr lang="en-US" sz="1400" dirty="0" err="1">
                <a:latin typeface="Consolas" panose="020B0609020204030204" pitchFamily="49" charset="0"/>
              </a:rPr>
              <a:t>setName</a:t>
            </a:r>
            <a:r>
              <a:rPr lang="en-US" sz="1400" dirty="0">
                <a:latin typeface="Consolas" panose="020B0609020204030204" pitchFamily="49" charset="0"/>
              </a:rPr>
              <a:t>(String name)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this.name = name;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2131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anose="020B0609020204030204" pitchFamily="49" charset="0"/>
              </a:rPr>
              <a:t>StudentView</a:t>
            </a:r>
            <a:r>
              <a:rPr lang="ro-MD" dirty="0" smtClean="0">
                <a:latin typeface="Consolas" panose="020B0609020204030204" pitchFamily="49" charset="0"/>
              </a:rPr>
              <a:t>.</a:t>
            </a:r>
            <a:r>
              <a:rPr lang="ro-MD" dirty="0" err="1" smtClean="0">
                <a:latin typeface="Consolas" panose="020B0609020204030204" pitchFamily="49" charset="0"/>
              </a:rPr>
              <a:t>java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public class </a:t>
            </a:r>
            <a:r>
              <a:rPr lang="en-US" sz="2000" dirty="0" err="1">
                <a:latin typeface="Consolas" panose="020B0609020204030204" pitchFamily="49" charset="0"/>
              </a:rPr>
              <a:t>StudentView</a:t>
            </a:r>
            <a:r>
              <a:rPr lang="en-US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public void </a:t>
            </a:r>
            <a:r>
              <a:rPr lang="en-US" sz="2000" dirty="0" err="1">
                <a:latin typeface="Consolas" panose="020B0609020204030204" pitchFamily="49" charset="0"/>
              </a:rPr>
              <a:t>printStudentDetails</a:t>
            </a:r>
            <a:r>
              <a:rPr lang="en-US" sz="2000" dirty="0">
                <a:latin typeface="Consolas" panose="020B0609020204030204" pitchFamily="49" charset="0"/>
              </a:rPr>
              <a:t>(String </a:t>
            </a:r>
            <a:r>
              <a:rPr lang="en-US" sz="2000" dirty="0" err="1">
                <a:latin typeface="Consolas" panose="020B0609020204030204" pitchFamily="49" charset="0"/>
              </a:rPr>
              <a:t>studentName</a:t>
            </a:r>
            <a:r>
              <a:rPr lang="en-US" sz="2000" dirty="0">
                <a:latin typeface="Consolas" panose="020B0609020204030204" pitchFamily="49" charset="0"/>
              </a:rPr>
              <a:t>, String </a:t>
            </a:r>
            <a:r>
              <a:rPr lang="en-US" sz="2000" dirty="0" err="1">
                <a:latin typeface="Consolas" panose="020B0609020204030204" pitchFamily="49" charset="0"/>
              </a:rPr>
              <a:t>studentRollNo</a:t>
            </a:r>
            <a:r>
              <a:rPr lang="en-US" sz="20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latin typeface="Consolas" panose="020B0609020204030204" pitchFamily="49" charset="0"/>
              </a:rPr>
              <a:t>("Student: ");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latin typeface="Consolas" panose="020B0609020204030204" pitchFamily="49" charset="0"/>
              </a:rPr>
              <a:t>("Name: " + </a:t>
            </a:r>
            <a:r>
              <a:rPr lang="en-US" sz="2000" dirty="0" err="1">
                <a:latin typeface="Consolas" panose="020B0609020204030204" pitchFamily="49" charset="0"/>
              </a:rPr>
              <a:t>studentName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latin typeface="Consolas" panose="020B0609020204030204" pitchFamily="49" charset="0"/>
              </a:rPr>
              <a:t>("Roll No: " + </a:t>
            </a:r>
            <a:r>
              <a:rPr lang="en-US" sz="2000" dirty="0" err="1">
                <a:latin typeface="Consolas" panose="020B0609020204030204" pitchFamily="49" charset="0"/>
              </a:rPr>
              <a:t>studentRollNo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106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anose="020B0609020204030204" pitchFamily="49" charset="0"/>
              </a:rPr>
              <a:t>StudentController</a:t>
            </a:r>
            <a:r>
              <a:rPr lang="ro-MD" dirty="0" smtClean="0">
                <a:latin typeface="Consolas" panose="020B0609020204030204" pitchFamily="49" charset="0"/>
              </a:rPr>
              <a:t>.</a:t>
            </a:r>
            <a:r>
              <a:rPr lang="ro-MD" dirty="0" err="1" smtClean="0">
                <a:latin typeface="Consolas" panose="020B0609020204030204" pitchFamily="49" charset="0"/>
              </a:rPr>
              <a:t>java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StudentController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private Student model;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private </a:t>
            </a:r>
            <a:r>
              <a:rPr lang="en-US" dirty="0" err="1">
                <a:latin typeface="Consolas" panose="020B0609020204030204" pitchFamily="49" charset="0"/>
              </a:rPr>
              <a:t>StudentView</a:t>
            </a:r>
            <a:r>
              <a:rPr lang="en-US" dirty="0">
                <a:latin typeface="Consolas" panose="020B0609020204030204" pitchFamily="49" charset="0"/>
              </a:rPr>
              <a:t> view;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public </a:t>
            </a:r>
            <a:r>
              <a:rPr lang="en-US" dirty="0" err="1">
                <a:latin typeface="Consolas" panose="020B0609020204030204" pitchFamily="49" charset="0"/>
              </a:rPr>
              <a:t>StudentController</a:t>
            </a:r>
            <a:r>
              <a:rPr lang="en-US" dirty="0">
                <a:latin typeface="Consolas" panose="020B0609020204030204" pitchFamily="49" charset="0"/>
              </a:rPr>
              <a:t>(Student model, </a:t>
            </a:r>
            <a:r>
              <a:rPr lang="en-US" dirty="0" err="1">
                <a:latin typeface="Consolas" panose="020B0609020204030204" pitchFamily="49" charset="0"/>
              </a:rPr>
              <a:t>StudentView</a:t>
            </a:r>
            <a:r>
              <a:rPr lang="en-US" dirty="0">
                <a:latin typeface="Consolas" panose="020B0609020204030204" pitchFamily="49" charset="0"/>
              </a:rPr>
              <a:t> view){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this.model</a:t>
            </a:r>
            <a:r>
              <a:rPr lang="en-US" dirty="0">
                <a:latin typeface="Consolas" panose="020B0609020204030204" pitchFamily="49" charset="0"/>
              </a:rPr>
              <a:t> = model;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this.view</a:t>
            </a:r>
            <a:r>
              <a:rPr lang="en-US" dirty="0">
                <a:latin typeface="Consolas" panose="020B0609020204030204" pitchFamily="49" charset="0"/>
              </a:rPr>
              <a:t> = view;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public void </a:t>
            </a:r>
            <a:r>
              <a:rPr lang="en-US" dirty="0" err="1">
                <a:latin typeface="Consolas" panose="020B0609020204030204" pitchFamily="49" charset="0"/>
              </a:rPr>
              <a:t>setStudentName</a:t>
            </a:r>
            <a:r>
              <a:rPr lang="en-US" dirty="0">
                <a:latin typeface="Consolas" panose="020B0609020204030204" pitchFamily="49" charset="0"/>
              </a:rPr>
              <a:t>(String name){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model.setName</a:t>
            </a:r>
            <a:r>
              <a:rPr lang="en-US" dirty="0">
                <a:latin typeface="Consolas" panose="020B0609020204030204" pitchFamily="49" charset="0"/>
              </a:rPr>
              <a:t>(name);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public String </a:t>
            </a:r>
            <a:r>
              <a:rPr lang="en-US" dirty="0" err="1">
                <a:latin typeface="Consolas" panose="020B0609020204030204" pitchFamily="49" charset="0"/>
              </a:rPr>
              <a:t>getStudentName</a:t>
            </a:r>
            <a:r>
              <a:rPr lang="en-US" dirty="0"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return </a:t>
            </a:r>
            <a:r>
              <a:rPr lang="en-US" dirty="0" err="1">
                <a:latin typeface="Consolas" panose="020B0609020204030204" pitchFamily="49" charset="0"/>
              </a:rPr>
              <a:t>model.getName</a:t>
            </a:r>
            <a:r>
              <a:rPr lang="en-US" dirty="0">
                <a:latin typeface="Consolas" panose="020B0609020204030204" pitchFamily="49" charset="0"/>
              </a:rPr>
              <a:t>();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public void </a:t>
            </a:r>
            <a:r>
              <a:rPr lang="en-US" dirty="0" err="1">
                <a:latin typeface="Consolas" panose="020B0609020204030204" pitchFamily="49" charset="0"/>
              </a:rPr>
              <a:t>setStudentRollNo</a:t>
            </a:r>
            <a:r>
              <a:rPr lang="en-US" dirty="0">
                <a:latin typeface="Consolas" panose="020B0609020204030204" pitchFamily="49" charset="0"/>
              </a:rPr>
              <a:t>(String </a:t>
            </a:r>
            <a:r>
              <a:rPr lang="en-US" dirty="0" err="1">
                <a:latin typeface="Consolas" panose="020B0609020204030204" pitchFamily="49" charset="0"/>
              </a:rPr>
              <a:t>rollNo</a:t>
            </a:r>
            <a:r>
              <a:rPr lang="en-US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model.setRollNo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rollNo</a:t>
            </a:r>
            <a:r>
              <a:rPr lang="en-US" dirty="0">
                <a:latin typeface="Consolas" panose="020B0609020204030204" pitchFamily="49" charset="0"/>
              </a:rPr>
              <a:t>);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public String </a:t>
            </a:r>
            <a:r>
              <a:rPr lang="en-US" dirty="0" err="1">
                <a:latin typeface="Consolas" panose="020B0609020204030204" pitchFamily="49" charset="0"/>
              </a:rPr>
              <a:t>getStudentRollNo</a:t>
            </a:r>
            <a:r>
              <a:rPr lang="en-US" dirty="0"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return </a:t>
            </a:r>
            <a:r>
              <a:rPr lang="en-US" dirty="0" err="1">
                <a:latin typeface="Consolas" panose="020B0609020204030204" pitchFamily="49" charset="0"/>
              </a:rPr>
              <a:t>model.getRollNo</a:t>
            </a:r>
            <a:r>
              <a:rPr lang="en-US" dirty="0">
                <a:latin typeface="Consolas" panose="020B0609020204030204" pitchFamily="49" charset="0"/>
              </a:rPr>
              <a:t>();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public void </a:t>
            </a:r>
            <a:r>
              <a:rPr lang="en-US" dirty="0" err="1">
                <a:latin typeface="Consolas" panose="020B0609020204030204" pitchFamily="49" charset="0"/>
              </a:rPr>
              <a:t>updateView</a:t>
            </a:r>
            <a:r>
              <a:rPr lang="en-US" dirty="0">
                <a:latin typeface="Consolas" panose="020B0609020204030204" pitchFamily="49" charset="0"/>
              </a:rPr>
              <a:t>(){		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view.printStudentDetails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model.getName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model.getRollNo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}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635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anose="020B0609020204030204" pitchFamily="49" charset="0"/>
              </a:rPr>
              <a:t>MVCPatternDemo</a:t>
            </a:r>
            <a:r>
              <a:rPr lang="ro-MD" dirty="0" smtClean="0">
                <a:latin typeface="Consolas" panose="020B0609020204030204" pitchFamily="49" charset="0"/>
              </a:rPr>
              <a:t>.</a:t>
            </a:r>
            <a:r>
              <a:rPr lang="ro-MD" dirty="0" err="1" smtClean="0">
                <a:latin typeface="Consolas" panose="020B0609020204030204" pitchFamily="49" charset="0"/>
              </a:rPr>
              <a:t>java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461971" y="1484784"/>
            <a:ext cx="8229600" cy="4997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public class </a:t>
            </a:r>
            <a:r>
              <a:rPr lang="en-US" sz="1100" dirty="0" err="1">
                <a:latin typeface="Consolas" panose="020B0609020204030204" pitchFamily="49" charset="0"/>
              </a:rPr>
              <a:t>MVCPatternDemo</a:t>
            </a:r>
            <a:r>
              <a:rPr lang="en-US" sz="11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public static void main(String[] </a:t>
            </a:r>
            <a:r>
              <a:rPr lang="en-US" sz="1100" dirty="0" err="1">
                <a:latin typeface="Consolas" panose="020B0609020204030204" pitchFamily="49" charset="0"/>
              </a:rPr>
              <a:t>args</a:t>
            </a:r>
            <a:r>
              <a:rPr lang="en-US" sz="11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//fetch student record based on his roll no from the database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Student model  = </a:t>
            </a:r>
            <a:r>
              <a:rPr lang="en-US" sz="1100" dirty="0" err="1">
                <a:latin typeface="Consolas" panose="020B0609020204030204" pitchFamily="49" charset="0"/>
              </a:rPr>
              <a:t>retriveStudentFromDatabase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//Create a view : to write student details on console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StudentView</a:t>
            </a:r>
            <a:r>
              <a:rPr lang="en-US" sz="1100" dirty="0">
                <a:latin typeface="Consolas" panose="020B0609020204030204" pitchFamily="49" charset="0"/>
              </a:rPr>
              <a:t> view = new </a:t>
            </a:r>
            <a:r>
              <a:rPr lang="en-US" sz="1100" dirty="0" err="1">
                <a:latin typeface="Consolas" panose="020B0609020204030204" pitchFamily="49" charset="0"/>
              </a:rPr>
              <a:t>StudentView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StudentController</a:t>
            </a:r>
            <a:r>
              <a:rPr lang="en-US" sz="1100" dirty="0">
                <a:latin typeface="Consolas" panose="020B0609020204030204" pitchFamily="49" charset="0"/>
              </a:rPr>
              <a:t> controller = new </a:t>
            </a:r>
            <a:r>
              <a:rPr lang="en-US" sz="1100" dirty="0" err="1">
                <a:latin typeface="Consolas" panose="020B0609020204030204" pitchFamily="49" charset="0"/>
              </a:rPr>
              <a:t>StudentController</a:t>
            </a:r>
            <a:r>
              <a:rPr lang="en-US" sz="1100" dirty="0">
                <a:latin typeface="Consolas" panose="020B0609020204030204" pitchFamily="49" charset="0"/>
              </a:rPr>
              <a:t>(model, view);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controller.updateView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//update model data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controller.setStudentName</a:t>
            </a:r>
            <a:r>
              <a:rPr lang="en-US" sz="1100" dirty="0">
                <a:latin typeface="Consolas" panose="020B0609020204030204" pitchFamily="49" charset="0"/>
              </a:rPr>
              <a:t>("John");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controller.updateView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private static Student </a:t>
            </a:r>
            <a:r>
              <a:rPr lang="en-US" sz="1100" dirty="0" err="1">
                <a:latin typeface="Consolas" panose="020B0609020204030204" pitchFamily="49" charset="0"/>
              </a:rPr>
              <a:t>retriveStudentFromDatabase</a:t>
            </a:r>
            <a:r>
              <a:rPr lang="en-US" sz="1100" dirty="0"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Student </a:t>
            </a:r>
            <a:r>
              <a:rPr lang="en-US" sz="1100" dirty="0" err="1">
                <a:latin typeface="Consolas" panose="020B0609020204030204" pitchFamily="49" charset="0"/>
              </a:rPr>
              <a:t>student</a:t>
            </a:r>
            <a:r>
              <a:rPr lang="en-US" sz="1100" dirty="0">
                <a:latin typeface="Consolas" panose="020B0609020204030204" pitchFamily="49" charset="0"/>
              </a:rPr>
              <a:t> = new Student();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student.setName</a:t>
            </a:r>
            <a:r>
              <a:rPr lang="en-US" sz="1100" dirty="0">
                <a:latin typeface="Consolas" panose="020B0609020204030204" pitchFamily="49" charset="0"/>
              </a:rPr>
              <a:t>("Robert");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</a:t>
            </a:r>
            <a:r>
              <a:rPr lang="en-US" sz="1100" dirty="0" err="1">
                <a:latin typeface="Consolas" panose="020B0609020204030204" pitchFamily="49" charset="0"/>
              </a:rPr>
              <a:t>student.setRollNo</a:t>
            </a:r>
            <a:r>
              <a:rPr lang="en-US" sz="1100" dirty="0">
                <a:latin typeface="Consolas" panose="020B0609020204030204" pitchFamily="49" charset="0"/>
              </a:rPr>
              <a:t>("10");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  return student;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8104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Rezultatul execuției</a:t>
            </a:r>
            <a:endParaRPr lang="en-US" dirty="0"/>
          </a:p>
        </p:txBody>
      </p:sp>
      <p:pic>
        <p:nvPicPr>
          <p:cNvPr id="4" name="Imagine 3"/>
          <p:cNvPicPr>
            <a:picLocks noChangeAspect="1"/>
          </p:cNvPicPr>
          <p:nvPr/>
        </p:nvPicPr>
        <p:blipFill rotWithShape="1">
          <a:blip r:embed="rId2"/>
          <a:srcRect l="4326" t="45639" r="72048" b="26738"/>
          <a:stretch/>
        </p:blipFill>
        <p:spPr>
          <a:xfrm>
            <a:off x="1043608" y="1844824"/>
            <a:ext cx="6624736" cy="419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92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Linkuri utile: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www.tutorialspoint.com/design_pattern/mvc_pattern.htm</a:t>
            </a:r>
            <a:endParaRPr lang="ro-MD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javarush.ru/quests/lectures/questcollections.level06.lecture01</a:t>
            </a:r>
            <a:endParaRPr lang="ro-MD" dirty="0" smtClean="0"/>
          </a:p>
          <a:p>
            <a:r>
              <a:rPr lang="en-US">
                <a:hlinkClick r:id="rId4"/>
              </a:rPr>
              <a:t>https://www.youtube.com/watch?v=fBM78NJBS_A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1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653</Words>
  <Application>Microsoft Office PowerPoint</Application>
  <PresentationFormat>Expunere pe ecran (4:3)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Programarea orientată pe obiect 2</vt:lpstr>
      <vt:lpstr>Definiția patternului de programare</vt:lpstr>
      <vt:lpstr>Patternul MVC</vt:lpstr>
      <vt:lpstr>Acesta este principiul construirii arhitecturii unei aplicații mari în care este împărțită în trei părți.</vt:lpstr>
      <vt:lpstr>Trei caracteristici ale MVC</vt:lpstr>
      <vt:lpstr>MVC conține trei grupuri de clase  în care:</vt:lpstr>
      <vt:lpstr>Schema de lucru pentru MVC</vt:lpstr>
      <vt:lpstr>Caracterisiticile grupului Model</vt:lpstr>
      <vt:lpstr>Caracterisiticile grupului View</vt:lpstr>
      <vt:lpstr>Caracterisiticile grupului Controler</vt:lpstr>
      <vt:lpstr>Exemplu simplu de program cu modelul MVC</vt:lpstr>
      <vt:lpstr>Exemplu</vt:lpstr>
      <vt:lpstr>Diagrama UML a aplicației</vt:lpstr>
      <vt:lpstr>Student.java</vt:lpstr>
      <vt:lpstr>StudentView.java</vt:lpstr>
      <vt:lpstr>StudentController.java</vt:lpstr>
      <vt:lpstr>MVCPatternDemo.java</vt:lpstr>
      <vt:lpstr>Rezultatul execuției</vt:lpstr>
      <vt:lpstr>Linkuri utile: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Programarea Java</dc:title>
  <dc:creator>Bijou</dc:creator>
  <cp:lastModifiedBy>Parinti</cp:lastModifiedBy>
  <cp:revision>87</cp:revision>
  <dcterms:created xsi:type="dcterms:W3CDTF">2013-02-08T07:26:23Z</dcterms:created>
  <dcterms:modified xsi:type="dcterms:W3CDTF">2020-04-17T08:26:16Z</dcterms:modified>
</cp:coreProperties>
</file>