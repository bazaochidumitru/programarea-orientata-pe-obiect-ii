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4" r:id="rId3"/>
    <p:sldId id="274" r:id="rId4"/>
    <p:sldId id="265" r:id="rId5"/>
    <p:sldId id="266" r:id="rId6"/>
    <p:sldId id="267" r:id="rId7"/>
    <p:sldId id="268" r:id="rId8"/>
    <p:sldId id="269" r:id="rId9"/>
    <p:sldId id="271" r:id="rId10"/>
    <p:sldId id="272" r:id="rId11"/>
    <p:sldId id="270" r:id="rId12"/>
    <p:sldId id="273" r:id="rId13"/>
    <p:sldId id="275" r:id="rId14"/>
    <p:sldId id="282" r:id="rId15"/>
    <p:sldId id="283" r:id="rId16"/>
    <p:sldId id="284" r:id="rId17"/>
    <p:sldId id="285" r:id="rId18"/>
    <p:sldId id="286" r:id="rId19"/>
    <p:sldId id="281" r:id="rId20"/>
    <p:sldId id="276" r:id="rId21"/>
    <p:sldId id="277" r:id="rId22"/>
    <p:sldId id="278" r:id="rId23"/>
    <p:sldId id="280" r:id="rId24"/>
    <p:sldId id="287" r:id="rId25"/>
    <p:sldId id="288" r:id="rId26"/>
    <p:sldId id="292" r:id="rId27"/>
    <p:sldId id="289" r:id="rId28"/>
    <p:sldId id="290" r:id="rId29"/>
    <p:sldId id="291" r:id="rId3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30" autoAdjust="0"/>
  </p:normalViewPr>
  <p:slideViewPr>
    <p:cSldViewPr>
      <p:cViewPr varScale="1">
        <p:scale>
          <a:sx n="63" d="100"/>
          <a:sy n="63" d="100"/>
        </p:scale>
        <p:origin x="-151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16.09.2016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cpp-reference.ru/patterns/creational-patterns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 smtClean="0"/>
              <a:t>Creational Patterns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 smtClean="0"/>
              <a:t>	Crearea obiectelor este una din cele mai r</a:t>
            </a:r>
            <a:r>
              <a:rPr lang="ro-RO" dirty="0" err="1" smtClean="0"/>
              <a:t>ăspîndite</a:t>
            </a:r>
            <a:r>
              <a:rPr lang="ro-RO" dirty="0" smtClean="0"/>
              <a:t> sarcini a programatorului. Aceste tipuri de </a:t>
            </a:r>
            <a:r>
              <a:rPr lang="ro-RO" dirty="0" err="1" smtClean="0"/>
              <a:t>patternuri</a:t>
            </a:r>
            <a:r>
              <a:rPr lang="ro-RO" dirty="0" smtClean="0"/>
              <a:t> sunt destinate pentru crearea obiectelor, </a:t>
            </a:r>
            <a:r>
              <a:rPr lang="ro-RO" dirty="0" err="1" smtClean="0"/>
              <a:t>permițînd</a:t>
            </a:r>
            <a:r>
              <a:rPr lang="ro-RO" dirty="0" smtClean="0"/>
              <a:t> sistemului să </a:t>
            </a:r>
            <a:r>
              <a:rPr lang="ro-RO" dirty="0" err="1" smtClean="0"/>
              <a:t>rămînă</a:t>
            </a:r>
            <a:r>
              <a:rPr lang="ro-RO" dirty="0" smtClean="0"/>
              <a:t> independent </a:t>
            </a:r>
            <a:r>
              <a:rPr lang="ro-RO" dirty="0" err="1" smtClean="0"/>
              <a:t>atît</a:t>
            </a:r>
            <a:r>
              <a:rPr lang="ro-RO" dirty="0" smtClean="0"/>
              <a:t> de procesul de creare al obiectelor </a:t>
            </a:r>
            <a:r>
              <a:rPr lang="ro-RO" dirty="0" err="1" smtClean="0"/>
              <a:t>cît</a:t>
            </a:r>
            <a:r>
              <a:rPr lang="ro-RO" dirty="0" smtClean="0"/>
              <a:t> și de tipul obiectelor create.</a:t>
            </a:r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r>
              <a:rPr lang="ro-RO" dirty="0" smtClean="0">
                <a:hlinkClick r:id="rId2"/>
              </a:rPr>
              <a:t>EXEMPLU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924944"/>
            <a:ext cx="4536504" cy="1143000"/>
          </a:xfrm>
        </p:spPr>
        <p:txBody>
          <a:bodyPr/>
          <a:lstStyle/>
          <a:p>
            <a:r>
              <a:rPr lang="en-GB" b="1" dirty="0" smtClean="0"/>
              <a:t>Singleton Pattern</a:t>
            </a:r>
            <a:endParaRPr lang="en-GB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4048" y="1484784"/>
            <a:ext cx="3533775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Singleton Pattern</a:t>
            </a:r>
            <a:endParaRPr lang="en-GB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o-RO" dirty="0" smtClean="0"/>
              <a:t>	</a:t>
            </a:r>
            <a:r>
              <a:rPr lang="vi-VN" dirty="0" smtClean="0"/>
              <a:t>Pattern-ul Singleton este utilizat pentru a restricționa numărul de instanțieri ale unei clase la un singur obiect, deci reprezintă o metodă de a folosi o singură instanță a unui obiect în aplicație.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Utilizari</a:t>
            </a:r>
            <a:r>
              <a:rPr lang="ro-RO" b="1" dirty="0" smtClean="0"/>
              <a:t> ale </a:t>
            </a:r>
            <a:r>
              <a:rPr lang="ro-RO" b="1" dirty="0" err="1" smtClean="0"/>
              <a:t>Singleton</a:t>
            </a:r>
            <a:r>
              <a:rPr lang="ro-RO" b="1" dirty="0" smtClean="0"/>
              <a:t> Pattern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vi-VN" dirty="0" smtClean="0"/>
              <a:t>a un subansamblu al altor pattern-uri:</a:t>
            </a:r>
          </a:p>
          <a:p>
            <a:pPr lvl="1"/>
            <a:r>
              <a:rPr lang="vi-VN" dirty="0" smtClean="0"/>
              <a:t>impreună cu pattern-urile Abstract Factory, Builder, Prototype etc. De exemplu, în aplicație dorim un singur obiect factory pentru a crea obiecte de un anumit tip.</a:t>
            </a:r>
          </a:p>
          <a:p>
            <a:r>
              <a:rPr lang="vi-VN" dirty="0" smtClean="0"/>
              <a:t>obiectele care reprezintă stări</a:t>
            </a:r>
          </a:p>
          <a:p>
            <a:r>
              <a:rPr lang="vi-VN" dirty="0" smtClean="0"/>
              <a:t>în locul variabilelor globale. Singleton este preferat variabilelor globale deoarece, printre altele, nu poluează namespace-ul global cu variabile care nu sunt necesare.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 smtClean="0"/>
              <a:t>Utilizari</a:t>
            </a:r>
            <a:r>
              <a:rPr lang="ro-RO" b="1" dirty="0" smtClean="0"/>
              <a:t> ale </a:t>
            </a:r>
            <a:r>
              <a:rPr lang="ro-RO" b="1" dirty="0" err="1" smtClean="0"/>
              <a:t>Singleton</a:t>
            </a:r>
            <a:r>
              <a:rPr lang="ro-RO" b="1" dirty="0" smtClean="0"/>
              <a:t> Pattern</a:t>
            </a:r>
            <a:r>
              <a:rPr lang="en-GB" b="1" dirty="0" smtClean="0"/>
              <a:t/>
            </a:r>
            <a:br>
              <a:rPr lang="en-GB" b="1" dirty="0" smtClean="0"/>
            </a:b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ro-RO" dirty="0" smtClean="0"/>
              <a:t>	</a:t>
            </a:r>
            <a:r>
              <a:rPr lang="vi-VN" dirty="0" smtClean="0"/>
              <a:t>este utilizat des în situații în care avem</a:t>
            </a:r>
            <a:r>
              <a:rPr lang="ro-RO" dirty="0" smtClean="0"/>
              <a:t> </a:t>
            </a:r>
            <a:r>
              <a:rPr lang="vi-VN" dirty="0" smtClean="0"/>
              <a:t>obiecte care trebuie accesate din mai multe locuri ale aplicației:</a:t>
            </a:r>
          </a:p>
          <a:p>
            <a:r>
              <a:rPr lang="vi-VN" dirty="0" smtClean="0"/>
              <a:t>obiecte de tip logger</a:t>
            </a:r>
          </a:p>
          <a:p>
            <a:r>
              <a:rPr lang="vi-VN" dirty="0" smtClean="0"/>
              <a:t>obiecte care reprezintă resurse partajate (conexiuni, sockets etc.)</a:t>
            </a:r>
          </a:p>
          <a:p>
            <a:r>
              <a:rPr lang="vi-VN" dirty="0" smtClean="0"/>
              <a:t>obiecte ce conțin configurații pentru aplicație</a:t>
            </a:r>
          </a:p>
          <a:p>
            <a:r>
              <a:rPr lang="vi-VN" dirty="0" smtClean="0"/>
              <a:t>pentru obiecte de tip </a:t>
            </a:r>
            <a:r>
              <a:rPr lang="vi-VN" i="1" dirty="0" smtClean="0"/>
              <a:t>Factory</a:t>
            </a:r>
            <a:r>
              <a:rPr lang="vi-VN" dirty="0" smtClean="0"/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Utiliz</a:t>
            </a:r>
            <a:r>
              <a:rPr lang="ro-RO" dirty="0" err="1" smtClean="0"/>
              <a:t>ăm</a:t>
            </a:r>
            <a:r>
              <a:rPr lang="ro-RO" dirty="0" smtClean="0"/>
              <a:t> </a:t>
            </a:r>
            <a:r>
              <a:rPr lang="ro-RO" dirty="0" err="1" smtClean="0"/>
              <a:t>Singleton</a:t>
            </a:r>
            <a:r>
              <a:rPr lang="ro-RO" dirty="0" smtClean="0"/>
              <a:t>?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83568" y="1600200"/>
            <a:ext cx="7776864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		</a:t>
            </a:r>
            <a:r>
              <a:rPr lang="vi-VN" dirty="0" smtClean="0"/>
              <a:t>Din punct de vedere al design-ului și testarii unei aplicații de multe ori se evită folosirea acestui pattern, în test-driven development fiind considerat un </a:t>
            </a:r>
            <a:r>
              <a:rPr lang="vi-VN" b="1" i="1" dirty="0" smtClean="0"/>
              <a:t>anti-pattern</a:t>
            </a:r>
            <a:r>
              <a:rPr lang="vi-VN" dirty="0" smtClean="0"/>
              <a:t>.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vi-VN" sz="2600" i="1" dirty="0" smtClean="0"/>
              <a:t>A avea un obiect Singleton a carei referință o folosim peste tot prin aplicație introduce multe dependențe între clase și îngreunează testarea individuală a acestora.</a:t>
            </a:r>
            <a:endParaRPr lang="ru-RU" sz="26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buNone/>
            </a:pPr>
            <a:r>
              <a:rPr lang="ro-RO" dirty="0" smtClean="0"/>
              <a:t>		Î</a:t>
            </a:r>
            <a:r>
              <a:rPr lang="vi-VN" dirty="0" smtClean="0"/>
              <a:t>n general, codul care folosește stări globale este mai dificil de testat pentru că implică o cuplare mai strânsă a claselor, și împiedică izolarea unei componente și testarea ei individuală. Dacă o clasă testată folosește un obiect singleton, atunci trebuie testat și singleton-ul. Soluția este simularea </a:t>
            </a:r>
            <a:r>
              <a:rPr lang="vi-VN" i="1" dirty="0" smtClean="0"/>
              <a:t>mock-up</a:t>
            </a:r>
            <a:r>
              <a:rPr lang="vi-VN" dirty="0" smtClean="0"/>
              <a:t> a singleton-ului în teste. Încă o problemă a acestei cuplări mai strânse apare atunci când două teste depind unul de celălalt prin modificarea singleton-ului, deci trebuie impusă o anumită ordine a rulării testelor.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Implementare </a:t>
            </a:r>
            <a:r>
              <a:rPr lang="ro-RO" dirty="0" err="1" smtClean="0"/>
              <a:t>Singleton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o-RO" dirty="0" smtClean="0"/>
              <a:t>	</a:t>
            </a:r>
            <a:r>
              <a:rPr lang="vi-VN" dirty="0" smtClean="0"/>
              <a:t>Aplicarea pattern-ului Singleton constă în implementarea unei metode ce permite crearea unei noi instanțe a clasei dacă aceasta nu există, și întoarcerea unei referințe către aceasta dacă există deja</a:t>
            </a:r>
            <a:endParaRPr lang="en-GB" b="1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Implementare </a:t>
            </a:r>
            <a:r>
              <a:rPr lang="ro-RO" dirty="0" err="1" smtClean="0"/>
              <a:t>Singleton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o-RO" dirty="0" smtClean="0"/>
              <a:t>	În cazul </a:t>
            </a:r>
            <a:r>
              <a:rPr lang="ro-RO" dirty="0" err="1" smtClean="0"/>
              <a:t>Singeton</a:t>
            </a:r>
            <a:r>
              <a:rPr lang="ro-RO" dirty="0" smtClean="0"/>
              <a:t>, clasa este </a:t>
            </a:r>
            <a:r>
              <a:rPr lang="ro-RO" dirty="0" err="1" smtClean="0"/>
              <a:t>instanțiată</a:t>
            </a:r>
            <a:r>
              <a:rPr lang="ro-RO" dirty="0" smtClean="0"/>
              <a:t> </a:t>
            </a:r>
            <a:r>
              <a:rPr lang="ro-RO" dirty="0" err="1" smtClean="0"/>
              <a:t>lazy</a:t>
            </a:r>
            <a:r>
              <a:rPr lang="ro-RO" dirty="0" smtClean="0"/>
              <a:t>(</a:t>
            </a:r>
            <a:r>
              <a:rPr lang="ro-RO" dirty="0" err="1" smtClean="0"/>
              <a:t>lazy</a:t>
            </a:r>
            <a:r>
              <a:rPr lang="ro-RO" dirty="0" smtClean="0"/>
              <a:t> </a:t>
            </a:r>
            <a:r>
              <a:rPr lang="ro-RO" dirty="0" err="1" smtClean="0"/>
              <a:t>instantiation</a:t>
            </a:r>
            <a:r>
              <a:rPr lang="ro-RO" dirty="0" smtClean="0"/>
              <a:t>). Astfel, memoria este utilizată doar în caz de necesitate, fiind apelată metoda </a:t>
            </a:r>
            <a:r>
              <a:rPr lang="ro-RO" i="1" dirty="0" err="1" smtClean="0"/>
              <a:t>getInstance</a:t>
            </a:r>
            <a:endParaRPr lang="en-GB" b="1" i="1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Crearea </a:t>
            </a:r>
            <a:r>
              <a:rPr lang="ro-RO" dirty="0" err="1" smtClean="0"/>
              <a:t>Singleton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1340768"/>
            <a:ext cx="5087069" cy="4807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Important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Instanța instance este </a:t>
            </a:r>
            <a:r>
              <a:rPr lang="vi-VN" i="1" dirty="0" smtClean="0"/>
              <a:t>private</a:t>
            </a:r>
            <a:endParaRPr lang="vi-VN" dirty="0" smtClean="0"/>
          </a:p>
          <a:p>
            <a:r>
              <a:rPr lang="vi-VN" dirty="0" smtClean="0"/>
              <a:t>Constructorul este privat ca sa nu poata fi apelat decat din clasa respectivă</a:t>
            </a:r>
          </a:p>
          <a:p>
            <a:r>
              <a:rPr lang="vi-VN" dirty="0" smtClean="0"/>
              <a:t>Instanța este inițial nulă</a:t>
            </a:r>
          </a:p>
          <a:p>
            <a:r>
              <a:rPr lang="vi-VN" dirty="0" smtClean="0"/>
              <a:t>Instanța este creată la prima rulare a </a:t>
            </a:r>
            <a:r>
              <a:rPr lang="vi-VN" i="1" dirty="0" smtClean="0"/>
              <a:t>getInstance()</a:t>
            </a:r>
            <a:endParaRPr lang="vi-VN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69269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De ce Singleton și nu clase cu membri statici?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212976"/>
            <a:ext cx="8229600" cy="2913187"/>
          </a:xfrm>
        </p:spPr>
        <p:txBody>
          <a:bodyPr/>
          <a:lstStyle/>
          <a:p>
            <a:pPr>
              <a:buNone/>
            </a:pPr>
            <a:r>
              <a:rPr lang="ro-RO" dirty="0" smtClean="0"/>
              <a:t>	</a:t>
            </a:r>
            <a:r>
              <a:rPr lang="vi-VN" dirty="0" smtClean="0"/>
              <a:t>O clasă de tip Singleton poate fi extinsă, iar metodele ei suprascrise, însă într-o clasă cu metode statice acestea nu pot fi suprascrise (</a:t>
            </a:r>
            <a:r>
              <a:rPr lang="vi-VN" i="1" dirty="0" smtClean="0"/>
              <a:t>overriden</a:t>
            </a:r>
            <a:r>
              <a:rPr lang="vi-VN" dirty="0" smtClean="0"/>
              <a:t>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92494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Multiton </a:t>
            </a:r>
            <a:r>
              <a:rPr lang="en-GB" b="1" dirty="0" smtClean="0"/>
              <a:t>Pattern</a:t>
            </a:r>
            <a:br>
              <a:rPr lang="en-GB" b="1" dirty="0" smtClean="0"/>
            </a:br>
            <a:r>
              <a:rPr lang="en-GB" b="1" i="1" dirty="0" smtClean="0">
                <a:solidFill>
                  <a:schemeClr val="bg1">
                    <a:lumMod val="75000"/>
                  </a:schemeClr>
                </a:solidFill>
              </a:rPr>
              <a:t>Singleton Pull</a:t>
            </a:r>
            <a:endParaRPr lang="en-GB" b="1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Multiton </a:t>
            </a:r>
            <a:r>
              <a:rPr lang="en-GB" b="1" dirty="0" smtClean="0"/>
              <a:t>Pattern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o-RO" dirty="0" smtClean="0"/>
              <a:t>	</a:t>
            </a:r>
            <a:r>
              <a:rPr lang="en-US" dirty="0" smtClean="0"/>
              <a:t>Este asem</a:t>
            </a:r>
            <a:r>
              <a:rPr lang="ro-RO" dirty="0" err="1" smtClean="0"/>
              <a:t>ănător</a:t>
            </a:r>
            <a:r>
              <a:rPr lang="ro-RO" dirty="0" smtClean="0"/>
              <a:t> cu </a:t>
            </a:r>
            <a:r>
              <a:rPr lang="ro-RO" dirty="0" err="1" smtClean="0"/>
              <a:t>patternul</a:t>
            </a:r>
            <a:r>
              <a:rPr lang="ro-RO" dirty="0" smtClean="0"/>
              <a:t> </a:t>
            </a:r>
            <a:r>
              <a:rPr lang="ro-RO" dirty="0" err="1" smtClean="0"/>
              <a:t>Singleton</a:t>
            </a:r>
            <a:r>
              <a:rPr lang="ro-RO" dirty="0" smtClean="0"/>
              <a:t>, fiind un registru de </a:t>
            </a:r>
            <a:r>
              <a:rPr lang="ro-RO" dirty="0" err="1" smtClean="0"/>
              <a:t>singleton-uri</a:t>
            </a:r>
            <a:r>
              <a:rPr lang="ro-RO" dirty="0" smtClean="0"/>
              <a:t>, care oferă posibilitatea creării unui număr determinat de exemplare.</a:t>
            </a:r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Propriet</a:t>
            </a:r>
            <a:r>
              <a:rPr lang="ro-RO" b="1" dirty="0" err="1" smtClean="0"/>
              <a:t>ățile</a:t>
            </a:r>
            <a:r>
              <a:rPr lang="ro-RO" b="1" dirty="0" smtClean="0"/>
              <a:t> </a:t>
            </a:r>
            <a:r>
              <a:rPr lang="en-US" b="1" dirty="0" smtClean="0"/>
              <a:t>Multiton </a:t>
            </a:r>
            <a:r>
              <a:rPr lang="en-GB" b="1" dirty="0" smtClean="0"/>
              <a:t>Pattern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dirty="0" smtClean="0"/>
              <a:t>poate fi utilizat cu un număr fixat de exemplare sau create la cerere</a:t>
            </a:r>
          </a:p>
          <a:p>
            <a:r>
              <a:rPr lang="ro-RO" dirty="0" smtClean="0"/>
              <a:t>daca numărul este fixat, toate exemplarele pot fi inițializate la inițializarea aplicației</a:t>
            </a:r>
          </a:p>
          <a:p>
            <a:r>
              <a:rPr lang="ro-RO" dirty="0" smtClean="0"/>
              <a:t>în cazul accesării unui exemplar inexistent fie este generată o eroare fie este generat un nou exemplar cu identificatorul respectiv</a:t>
            </a:r>
          </a:p>
          <a:p>
            <a:r>
              <a:rPr lang="ro-RO" dirty="0" smtClean="0"/>
              <a:t>Dezavantajul principal este că pot apărea multe parți ale aplicații dependente de el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Multiton </a:t>
            </a:r>
            <a:r>
              <a:rPr lang="en-GB" b="1" dirty="0" smtClean="0"/>
              <a:t>Pattern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1124744"/>
            <a:ext cx="5184576" cy="5349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924944"/>
            <a:ext cx="8229600" cy="1143000"/>
          </a:xfrm>
        </p:spPr>
        <p:txBody>
          <a:bodyPr/>
          <a:lstStyle/>
          <a:p>
            <a:r>
              <a:rPr lang="ro-RO" b="1" dirty="0" err="1" smtClean="0"/>
              <a:t>Object</a:t>
            </a:r>
            <a:r>
              <a:rPr lang="ro-RO" b="1" dirty="0" smtClean="0"/>
              <a:t> </a:t>
            </a:r>
            <a:r>
              <a:rPr lang="ro-RO" b="1" dirty="0" err="1" smtClean="0"/>
              <a:t>Pull</a:t>
            </a:r>
            <a:r>
              <a:rPr lang="ro-RO" b="1" dirty="0" smtClean="0"/>
              <a:t> </a:t>
            </a:r>
            <a:r>
              <a:rPr lang="en-GB" b="1" dirty="0" smtClean="0"/>
              <a:t>Pattern</a:t>
            </a:r>
            <a:endParaRPr lang="en-GB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 err="1" smtClean="0"/>
              <a:t>Object</a:t>
            </a:r>
            <a:r>
              <a:rPr lang="ro-RO" b="1" dirty="0" smtClean="0"/>
              <a:t> </a:t>
            </a:r>
            <a:r>
              <a:rPr lang="ro-RO" b="1" dirty="0" err="1" smtClean="0"/>
              <a:t>Pull</a:t>
            </a:r>
            <a:r>
              <a:rPr lang="ro-RO" b="1" dirty="0" smtClean="0"/>
              <a:t> </a:t>
            </a:r>
            <a:r>
              <a:rPr lang="en-GB" b="1" dirty="0" smtClean="0"/>
              <a:t>Pattern</a:t>
            </a:r>
            <a:endParaRPr lang="en-GB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o-RO" dirty="0" smtClean="0"/>
              <a:t>	Este foarte asemănător cu </a:t>
            </a:r>
            <a:r>
              <a:rPr lang="ro-RO" dirty="0" err="1" smtClean="0"/>
              <a:t>patternul</a:t>
            </a:r>
            <a:r>
              <a:rPr lang="ro-RO" dirty="0" smtClean="0"/>
              <a:t> </a:t>
            </a:r>
            <a:r>
              <a:rPr lang="ro-RO" dirty="0" err="1" smtClean="0"/>
              <a:t>Multiton</a:t>
            </a:r>
            <a:r>
              <a:rPr lang="ro-RO" dirty="0" smtClean="0"/>
              <a:t>, doar că exemplarele create nu sunt </a:t>
            </a:r>
            <a:r>
              <a:rPr lang="ro-RO" dirty="0" err="1" smtClean="0"/>
              <a:t>multiton-uri</a:t>
            </a:r>
            <a:r>
              <a:rPr lang="ro-RO" dirty="0" smtClean="0"/>
              <a:t>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1560" y="548680"/>
            <a:ext cx="8229600" cy="1143000"/>
          </a:xfrm>
        </p:spPr>
        <p:txBody>
          <a:bodyPr/>
          <a:lstStyle/>
          <a:p>
            <a:r>
              <a:rPr lang="ro-RO" b="1" dirty="0" err="1" smtClean="0"/>
              <a:t>Factory</a:t>
            </a:r>
            <a:r>
              <a:rPr lang="ro-RO" b="1" dirty="0" smtClean="0"/>
              <a:t> </a:t>
            </a:r>
            <a:r>
              <a:rPr lang="en-GB" b="1" dirty="0" smtClean="0"/>
              <a:t>Pattern</a:t>
            </a:r>
            <a:endParaRPr lang="en-GB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19" y="1412776"/>
            <a:ext cx="8448049" cy="489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 err="1" smtClean="0"/>
              <a:t>Factory</a:t>
            </a:r>
            <a:r>
              <a:rPr lang="ro-RO" b="1" dirty="0" smtClean="0"/>
              <a:t> </a:t>
            </a:r>
            <a:r>
              <a:rPr lang="en-GB" b="1" dirty="0" smtClean="0"/>
              <a:t>Pattern</a:t>
            </a:r>
            <a:endParaRPr lang="en-GB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ro-RO" dirty="0" smtClean="0"/>
              <a:t>	</a:t>
            </a:r>
            <a:r>
              <a:rPr lang="vi-VN" dirty="0" smtClean="0"/>
              <a:t>Patternurile de tip Factory sunt folosite pentru obiecte care generează instanțe de clase înrudite</a:t>
            </a:r>
            <a:r>
              <a:rPr lang="ro-RO" dirty="0" smtClean="0"/>
              <a:t>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 err="1" smtClean="0"/>
              <a:t>Factory</a:t>
            </a:r>
            <a:r>
              <a:rPr lang="ro-RO" b="1" dirty="0" smtClean="0"/>
              <a:t> </a:t>
            </a:r>
            <a:r>
              <a:rPr lang="en-GB" b="1" dirty="0" smtClean="0"/>
              <a:t>Pattern</a:t>
            </a:r>
            <a:endParaRPr lang="en-GB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420888"/>
            <a:ext cx="4128745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2420888"/>
            <a:ext cx="4085333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763688" y="1700808"/>
            <a:ext cx="100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Interfe</a:t>
            </a:r>
            <a:r>
              <a:rPr lang="ro-RO" dirty="0" err="1" smtClean="0"/>
              <a:t>țe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724128" y="1700808"/>
            <a:ext cx="15987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 smtClean="0"/>
              <a:t>Clase abstracte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 err="1" smtClean="0"/>
              <a:t>Factory</a:t>
            </a:r>
            <a:r>
              <a:rPr lang="ro-RO" b="1" dirty="0" smtClean="0"/>
              <a:t> </a:t>
            </a:r>
            <a:r>
              <a:rPr lang="en-GB" b="1" dirty="0" smtClean="0"/>
              <a:t>Pattern</a:t>
            </a:r>
            <a:endParaRPr lang="en-GB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563888" y="1700808"/>
            <a:ext cx="1990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 smtClean="0"/>
              <a:t>Clasa </a:t>
            </a:r>
            <a:r>
              <a:rPr lang="ro-RO" dirty="0" err="1" smtClean="0"/>
              <a:t>ShapeFactory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2420888"/>
            <a:ext cx="6891457" cy="380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 err="1" smtClean="0"/>
              <a:t>Factory</a:t>
            </a:r>
            <a:r>
              <a:rPr lang="ro-RO" b="1" dirty="0" smtClean="0"/>
              <a:t> </a:t>
            </a:r>
            <a:r>
              <a:rPr lang="en-GB" b="1" dirty="0" smtClean="0"/>
              <a:t>Pattern</a:t>
            </a:r>
            <a:endParaRPr lang="en-GB" b="1" dirty="0"/>
          </a:p>
        </p:txBody>
      </p:sp>
      <p:sp>
        <p:nvSpPr>
          <p:cNvPr id="6" name="TextBox 5"/>
          <p:cNvSpPr txBox="1"/>
          <p:nvPr/>
        </p:nvSpPr>
        <p:spPr>
          <a:xfrm>
            <a:off x="3563888" y="1700808"/>
            <a:ext cx="1921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 smtClean="0"/>
              <a:t>Crearea obiectelor</a:t>
            </a:r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2060848"/>
            <a:ext cx="6379690" cy="1853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707904" y="4509120"/>
            <a:ext cx="1558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 smtClean="0"/>
              <a:t>Rezultatul va fi</a:t>
            </a:r>
            <a:endParaRPr lang="ru-RU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3768" y="5013176"/>
            <a:ext cx="3960440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352928" cy="1143000"/>
          </a:xfrm>
        </p:spPr>
        <p:txBody>
          <a:bodyPr/>
          <a:lstStyle/>
          <a:p>
            <a:r>
              <a:rPr lang="ro-RO" b="1" dirty="0" err="1" smtClean="0"/>
              <a:t>Builder</a:t>
            </a:r>
            <a:r>
              <a:rPr lang="ro-RO" b="1" dirty="0" smtClean="0"/>
              <a:t> </a:t>
            </a:r>
            <a:r>
              <a:rPr lang="en-GB" b="1" dirty="0" smtClean="0"/>
              <a:t>Pattern</a:t>
            </a:r>
            <a:endParaRPr lang="en-GB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1268760"/>
            <a:ext cx="6192688" cy="5277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 err="1" smtClean="0"/>
              <a:t>Builder</a:t>
            </a:r>
            <a:r>
              <a:rPr lang="ro-RO" b="1" dirty="0" smtClean="0"/>
              <a:t> </a:t>
            </a:r>
            <a:r>
              <a:rPr lang="en-GB" b="1" dirty="0" smtClean="0"/>
              <a:t>Pattern</a:t>
            </a:r>
            <a:endParaRPr lang="en-GB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buNone/>
            </a:pPr>
            <a:r>
              <a:rPr lang="ro-RO" dirty="0" smtClean="0"/>
              <a:t>	Este asemănător cu </a:t>
            </a:r>
            <a:r>
              <a:rPr lang="ro-RO" dirty="0" err="1" smtClean="0"/>
              <a:t>Factory</a:t>
            </a:r>
            <a:r>
              <a:rPr lang="ro-RO" dirty="0" smtClean="0"/>
              <a:t>, principala diferență fiind aceea că </a:t>
            </a:r>
            <a:r>
              <a:rPr lang="ro-RO" dirty="0" err="1" smtClean="0"/>
              <a:t>Builder</a:t>
            </a:r>
            <a:r>
              <a:rPr lang="ro-RO" dirty="0" smtClean="0"/>
              <a:t> conține în interior toate operațiile complexe pentru crearea obiectului. Programatorul îi dă comanda, doresc să construiesc un </a:t>
            </a:r>
            <a:r>
              <a:rPr lang="ro-RO" dirty="0" err="1" smtClean="0"/>
              <a:t>iPhone</a:t>
            </a:r>
            <a:r>
              <a:rPr lang="ro-RO" dirty="0" smtClean="0"/>
              <a:t>, iar constructorul(</a:t>
            </a:r>
            <a:r>
              <a:rPr lang="ro-RO" dirty="0" err="1" smtClean="0"/>
              <a:t>builder</a:t>
            </a:r>
            <a:r>
              <a:rPr lang="ro-RO" dirty="0" smtClean="0"/>
              <a:t>) execută toate operațiile pentru a construi un </a:t>
            </a:r>
            <a:r>
              <a:rPr lang="ro-RO" dirty="0" err="1" smtClean="0"/>
              <a:t>iPhone</a:t>
            </a:r>
            <a:r>
              <a:rPr lang="ro-RO" dirty="0" smtClean="0"/>
              <a:t>. Dacă este nevoie de un alt tip de telefon, este suficient să fie indicat tipul, iar constructorul va efectua toate operațiile necesare.</a:t>
            </a:r>
          </a:p>
          <a:p>
            <a:pPr algn="ctr">
              <a:buNone/>
            </a:pPr>
            <a:r>
              <a:rPr lang="ro-RO" u="sng" dirty="0" smtClean="0"/>
              <a:t>Exemplu în fișierul </a:t>
            </a:r>
            <a:r>
              <a:rPr lang="ro-RO" u="sng" dirty="0" err="1" smtClean="0"/>
              <a:t>Builder.php</a:t>
            </a:r>
            <a:endParaRPr lang="ro-RO" u="sng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708920"/>
            <a:ext cx="3322712" cy="1143000"/>
          </a:xfrm>
        </p:spPr>
        <p:txBody>
          <a:bodyPr>
            <a:normAutofit fontScale="90000"/>
          </a:bodyPr>
          <a:lstStyle/>
          <a:p>
            <a:r>
              <a:rPr lang="ro-RO" b="1" dirty="0" err="1" smtClean="0"/>
              <a:t>Builder</a:t>
            </a:r>
            <a:r>
              <a:rPr lang="ro-RO" b="1" dirty="0" smtClean="0"/>
              <a:t> </a:t>
            </a:r>
            <a:r>
              <a:rPr lang="en-GB" b="1" dirty="0" smtClean="0"/>
              <a:t>Pattern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9912" y="188640"/>
            <a:ext cx="4668763" cy="6412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Diferența dintre </a:t>
            </a:r>
            <a:r>
              <a:rPr lang="ro-RO" dirty="0" err="1" smtClean="0"/>
              <a:t>Factory</a:t>
            </a:r>
            <a:r>
              <a:rPr lang="ro-RO" dirty="0" smtClean="0"/>
              <a:t> și </a:t>
            </a:r>
            <a:r>
              <a:rPr lang="ro-RO" dirty="0" err="1" smtClean="0"/>
              <a:t>Builder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err="1" smtClean="0"/>
              <a:t>Factory</a:t>
            </a:r>
            <a:r>
              <a:rPr lang="ro-RO" dirty="0" smtClean="0"/>
              <a:t> – Telefonul este deja produs, iar programatorul îl utilizează</a:t>
            </a:r>
          </a:p>
          <a:p>
            <a:r>
              <a:rPr lang="ro-RO" dirty="0" err="1" smtClean="0"/>
              <a:t>Builder</a:t>
            </a:r>
            <a:r>
              <a:rPr lang="ro-RO" dirty="0" smtClean="0"/>
              <a:t> – telefonul este </a:t>
            </a:r>
            <a:r>
              <a:rPr lang="ro-RO" dirty="0" err="1" smtClean="0"/>
              <a:t>podus</a:t>
            </a:r>
            <a:r>
              <a:rPr lang="ro-RO" dirty="0" smtClean="0"/>
              <a:t> la cerere. El poate crea din mai multe obiecte simple(componente) un obiect complex(produsul final).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548680"/>
            <a:ext cx="8229600" cy="1143000"/>
          </a:xfrm>
        </p:spPr>
        <p:txBody>
          <a:bodyPr/>
          <a:lstStyle/>
          <a:p>
            <a:r>
              <a:rPr lang="ro-RO" b="1" dirty="0" err="1" smtClean="0"/>
              <a:t>Prototype</a:t>
            </a:r>
            <a:r>
              <a:rPr lang="ro-RO" b="1" dirty="0" smtClean="0"/>
              <a:t> </a:t>
            </a:r>
            <a:r>
              <a:rPr lang="en-GB" b="1" dirty="0" smtClean="0"/>
              <a:t>Pattern</a:t>
            </a:r>
            <a:endParaRPr lang="en-GB" b="1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72816"/>
            <a:ext cx="7855036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 dirty="0" err="1" smtClean="0"/>
              <a:t>Prototype</a:t>
            </a:r>
            <a:r>
              <a:rPr lang="ro-RO" b="1" dirty="0" smtClean="0"/>
              <a:t> </a:t>
            </a:r>
            <a:r>
              <a:rPr lang="en-GB" b="1" dirty="0" smtClean="0"/>
              <a:t>Pattern</a:t>
            </a:r>
            <a:endParaRPr lang="en-GB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ro-RO" dirty="0" smtClean="0"/>
              <a:t>	Permite crearea obiectelor noi în baza obiectelor deja existente. Nu este necesar de a cunoaște din ce este compus obiectul prototip. </a:t>
            </a:r>
          </a:p>
          <a:p>
            <a:pPr algn="just">
              <a:buNone/>
            </a:pPr>
            <a:endParaRPr lang="ro-RO" dirty="0" smtClean="0"/>
          </a:p>
          <a:p>
            <a:pPr algn="just">
              <a:buNone/>
            </a:pPr>
            <a:endParaRPr lang="ro-RO" dirty="0" smtClean="0"/>
          </a:p>
          <a:p>
            <a:pPr algn="ctr">
              <a:buNone/>
            </a:pPr>
            <a:r>
              <a:rPr lang="ro-RO" u="sng" dirty="0" smtClean="0"/>
              <a:t>Exemplu în fișierul </a:t>
            </a:r>
            <a:r>
              <a:rPr lang="ro-RO" u="sng" dirty="0" err="1" smtClean="0"/>
              <a:t>Prototype.php</a:t>
            </a:r>
            <a:endParaRPr lang="ro-RO" u="sng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247</Words>
  <Application>Microsoft Office PowerPoint</Application>
  <PresentationFormat>Экран (4:3)</PresentationFormat>
  <Paragraphs>72</Paragraphs>
  <Slides>29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0" baseType="lpstr">
      <vt:lpstr>Тема Office</vt:lpstr>
      <vt:lpstr>Creational Patterns</vt:lpstr>
      <vt:lpstr>Singleton Pattern</vt:lpstr>
      <vt:lpstr>Singleton Pattern</vt:lpstr>
      <vt:lpstr>Utilizari ale Singleton Pattern </vt:lpstr>
      <vt:lpstr>Utilizari ale Singleton Pattern </vt:lpstr>
      <vt:lpstr>Utilizăm Singleton?</vt:lpstr>
      <vt:lpstr>Слайд 7</vt:lpstr>
      <vt:lpstr>Implementare Singleton</vt:lpstr>
      <vt:lpstr>Implementare Singleton</vt:lpstr>
      <vt:lpstr>Crearea Singleton</vt:lpstr>
      <vt:lpstr>Important</vt:lpstr>
      <vt:lpstr>De ce Singleton și nu clase cu membri statici?</vt:lpstr>
      <vt:lpstr>Multiton Pattern Singleton Pull</vt:lpstr>
      <vt:lpstr>Multiton Pattern</vt:lpstr>
      <vt:lpstr>Proprietățile Multiton Pattern</vt:lpstr>
      <vt:lpstr>Multiton Pattern</vt:lpstr>
      <vt:lpstr>Object Pull Pattern</vt:lpstr>
      <vt:lpstr>Object Pull Pattern</vt:lpstr>
      <vt:lpstr>Factory Pattern</vt:lpstr>
      <vt:lpstr>Factory Pattern</vt:lpstr>
      <vt:lpstr>Factory Pattern</vt:lpstr>
      <vt:lpstr>Factory Pattern</vt:lpstr>
      <vt:lpstr>Factory Pattern</vt:lpstr>
      <vt:lpstr>Builder Pattern</vt:lpstr>
      <vt:lpstr>Builder Pattern</vt:lpstr>
      <vt:lpstr>Builder Pattern</vt:lpstr>
      <vt:lpstr>Diferența dintre Factory și Builder</vt:lpstr>
      <vt:lpstr>Prototype Pattern</vt:lpstr>
      <vt:lpstr>Prototype Pattern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patterns  </dc:title>
  <cp:lastModifiedBy>Sergiu</cp:lastModifiedBy>
  <cp:revision>69</cp:revision>
  <dcterms:modified xsi:type="dcterms:W3CDTF">2016-09-16T08:10:46Z</dcterms:modified>
</cp:coreProperties>
</file>