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98" r:id="rId4"/>
    <p:sldId id="29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300" r:id="rId25"/>
    <p:sldId id="277" r:id="rId26"/>
    <p:sldId id="276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930" autoAdjust="0"/>
  </p:normalViewPr>
  <p:slideViewPr>
    <p:cSldViewPr>
      <p:cViewPr varScale="1">
        <p:scale>
          <a:sx n="71" d="100"/>
          <a:sy n="71" d="100"/>
        </p:scale>
        <p:origin x="12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559CA-44B5-4E3B-98DF-E6ACCF9CB0DD}" type="datetimeFigureOut">
              <a:rPr lang="ro-RO" smtClean="0"/>
              <a:pPr/>
              <a:t>19.03.2020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93C72-F299-4DE2-8946-97B0C16D4AA7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H1EJuyHvrQ" TargetMode="External"/><Relationship Id="rId2" Type="http://schemas.openxmlformats.org/officeDocument/2006/relationships/hyperlink" Target="https://www.youtube.com/watch?v=tgfMAfI_1Z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TER05K_JGG8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BcqizwOWLg" TargetMode="External"/><Relationship Id="rId2" Type="http://schemas.openxmlformats.org/officeDocument/2006/relationships/hyperlink" Target="https://www.youtube.com/watch?v=vz6nyRXCUs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Kta6v6AqAWk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877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o-RO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Programarea orientată pe obiect 2</a:t>
            </a:r>
            <a:endParaRPr lang="ro-RO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505" y="2348880"/>
            <a:ext cx="7500990" cy="3857652"/>
          </a:xfrm>
        </p:spPr>
        <p:txBody>
          <a:bodyPr>
            <a:normAutofit/>
          </a:bodyPr>
          <a:lstStyle/>
          <a:p>
            <a:r>
              <a:rPr lang="ro-RO" dirty="0" smtClean="0"/>
              <a:t>Clonarea </a:t>
            </a:r>
            <a:r>
              <a:rPr lang="ro-RO" dirty="0" smtClean="0"/>
              <a:t>obiectelor. </a:t>
            </a:r>
            <a:r>
              <a:rPr lang="ro-RO" dirty="0" err="1" smtClean="0"/>
              <a:t>Serializarea</a:t>
            </a:r>
            <a:r>
              <a:rPr lang="ro-RO" dirty="0" smtClean="0"/>
              <a:t> </a:t>
            </a:r>
            <a:r>
              <a:rPr lang="ro-RO" dirty="0" smtClean="0"/>
              <a:t>obiectelor. </a:t>
            </a:r>
          </a:p>
          <a:p>
            <a:r>
              <a:rPr lang="ro-RO" dirty="0" smtClean="0"/>
              <a:t>Programarea în rețea.</a:t>
            </a:r>
          </a:p>
          <a:p>
            <a:endParaRPr lang="ro-RO" dirty="0" smtClean="0"/>
          </a:p>
          <a:p>
            <a:pPr algn="r"/>
            <a:r>
              <a:rPr lang="ro-RO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 Mircea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petic.mircea@yahoo.com</a:t>
            </a:r>
          </a:p>
          <a:p>
            <a:pPr algn="r"/>
            <a:r>
              <a:rPr lang="ro-RO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www.facebook.com/mircea.petic</a:t>
            </a:r>
            <a:endParaRPr lang="ro-RO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Clasa </a:t>
            </a:r>
            <a:r>
              <a:rPr lang="ro-MD" dirty="0" err="1" smtClean="0"/>
              <a:t>Object</a:t>
            </a:r>
            <a:endParaRPr lang="en-US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Clasa </a:t>
            </a:r>
            <a:r>
              <a:rPr lang="ro-MD" dirty="0" err="1" smtClean="0"/>
              <a:t>Object</a:t>
            </a:r>
            <a:r>
              <a:rPr lang="ro-MD" dirty="0" smtClean="0"/>
              <a:t> reprezintă implicit superclasa tuturor claselor în Java.</a:t>
            </a:r>
          </a:p>
          <a:p>
            <a:r>
              <a:rPr lang="ro-MD" dirty="0" smtClean="0"/>
              <a:t>Variabila de referință de tip </a:t>
            </a:r>
            <a:r>
              <a:rPr lang="ro-MD" dirty="0" err="1" smtClean="0"/>
              <a:t>Object</a:t>
            </a:r>
            <a:r>
              <a:rPr lang="ro-MD" dirty="0" smtClean="0"/>
              <a:t> poate să se refere la obiect al oricărei clase.</a:t>
            </a:r>
          </a:p>
          <a:p>
            <a:r>
              <a:rPr lang="ro-MD" dirty="0" smtClean="0"/>
              <a:t>Variabila de referință de tip </a:t>
            </a:r>
            <a:r>
              <a:rPr lang="ro-MD" dirty="0" err="1" smtClean="0"/>
              <a:t>Object</a:t>
            </a:r>
            <a:r>
              <a:rPr lang="ro-MD" dirty="0" smtClean="0"/>
              <a:t> poate să se refere la variabilele de tip tablou așa cum acestea sunt organizate în formă de clasă.</a:t>
            </a:r>
          </a:p>
          <a:p>
            <a:endParaRPr lang="ro-MD" dirty="0" smtClean="0"/>
          </a:p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403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Metodele clasei </a:t>
            </a:r>
            <a:r>
              <a:rPr lang="ro-MD" dirty="0" err="1" smtClean="0"/>
              <a:t>Object</a:t>
            </a:r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93C72-F299-4DE2-8946-97B0C16D4AA7}" type="slidenum">
              <a:rPr lang="ro-RO" smtClean="0"/>
              <a:pPr/>
              <a:t>3</a:t>
            </a:fld>
            <a:endParaRPr lang="ro-RO"/>
          </a:p>
        </p:txBody>
      </p:sp>
      <p:pic>
        <p:nvPicPr>
          <p:cNvPr id="5" name="Imagine 4"/>
          <p:cNvPicPr>
            <a:picLocks noChangeAspect="1"/>
          </p:cNvPicPr>
          <p:nvPr/>
        </p:nvPicPr>
        <p:blipFill rotWithShape="1">
          <a:blip r:embed="rId2"/>
          <a:srcRect l="18894" t="13655" r="19681" b="3477"/>
          <a:stretch/>
        </p:blipFill>
        <p:spPr>
          <a:xfrm>
            <a:off x="791580" y="1332771"/>
            <a:ext cx="7560840" cy="552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0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Clonarea obiectelor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Video material:</a:t>
            </a:r>
          </a:p>
          <a:p>
            <a:pPr marL="0" indent="0">
              <a:buNone/>
            </a:pPr>
            <a:endParaRPr lang="ro-MD" dirty="0" smtClean="0">
              <a:hlinkClick r:id="rId2"/>
            </a:endParaRP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www.youtube.com/watch?v=tgfMAfI_1Z4</a:t>
            </a:r>
            <a:endParaRPr lang="ro-MD" dirty="0" smtClean="0"/>
          </a:p>
          <a:p>
            <a:pPr marL="0" indent="0">
              <a:buNone/>
            </a:pP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www.youtube.com/watch?v=mH1EJuyHvrQ</a:t>
            </a:r>
            <a:endParaRPr lang="ro-MD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https://www.youtube.com/watch?v=TER05K_JGG8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9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715436" cy="1143000"/>
          </a:xfrm>
        </p:spPr>
        <p:txBody>
          <a:bodyPr>
            <a:normAutofit/>
          </a:bodyPr>
          <a:lstStyle/>
          <a:p>
            <a:r>
              <a:rPr lang="ro-RO" dirty="0" smtClean="0"/>
              <a:t>Serializare și Deserializare – definiții 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/>
          </a:bodyPr>
          <a:lstStyle/>
          <a:p>
            <a:r>
              <a:rPr lang="pt-BR" sz="2900" b="1" dirty="0" smtClean="0"/>
              <a:t>Serializarea</a:t>
            </a:r>
            <a:r>
              <a:rPr lang="pt-BR" sz="2900" dirty="0" smtClean="0"/>
              <a:t> este o metod</a:t>
            </a:r>
            <a:r>
              <a:rPr lang="ro-RO" sz="2900" dirty="0" smtClean="0"/>
              <a:t>ă</a:t>
            </a:r>
            <a:r>
              <a:rPr lang="pt-BR" sz="2900" dirty="0" smtClean="0"/>
              <a:t> ce permite transformarea unui obiect </a:t>
            </a:r>
            <a:r>
              <a:rPr lang="ro-RO" sz="2900" dirty="0" smtClean="0"/>
              <a:t>î</a:t>
            </a:r>
            <a:r>
              <a:rPr lang="pt-BR" sz="2900" dirty="0" smtClean="0"/>
              <a:t>ntr-o</a:t>
            </a:r>
            <a:r>
              <a:rPr lang="ro-RO" sz="2900" dirty="0" smtClean="0"/>
              <a:t> secvență de octeți sau caractere din care să poată fi refăcut ulterior obiectul original.</a:t>
            </a:r>
          </a:p>
          <a:p>
            <a:r>
              <a:rPr lang="ro-RO" sz="2900" dirty="0" smtClean="0"/>
              <a:t>Procesul invers, de citire a unui obiect serializat pentru a-i reface starea originală, se numește </a:t>
            </a:r>
            <a:r>
              <a:rPr lang="ro-RO" sz="2900" b="1" dirty="0" smtClean="0"/>
              <a:t>deserializare</a:t>
            </a:r>
            <a:r>
              <a:rPr lang="ro-RO" sz="2900" dirty="0" smtClean="0"/>
              <a:t>.</a:t>
            </a:r>
          </a:p>
          <a:p>
            <a:r>
              <a:rPr lang="ro-RO" sz="2900" dirty="0" smtClean="0"/>
              <a:t>Î</a:t>
            </a:r>
            <a:r>
              <a:rPr lang="it-IT" sz="2900" dirty="0" smtClean="0"/>
              <a:t>ntr-un cadru mai larg, prin serializare</a:t>
            </a:r>
            <a:r>
              <a:rPr lang="ro-RO" sz="2900" dirty="0" smtClean="0"/>
              <a:t> se întelege procesul de scriere/citire a obiectelor.</a:t>
            </a:r>
          </a:p>
          <a:p>
            <a:r>
              <a:rPr lang="ro-RO" sz="2900" dirty="0" smtClean="0"/>
              <a:t>Tipurile primitive pot fi de asemenea serializate.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Utilitatea serializării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Asigură un mecanism simplu de utilizat pentru salvarea și restaurarea a datelor.</a:t>
            </a:r>
          </a:p>
          <a:p>
            <a:r>
              <a:rPr lang="ro-RO" dirty="0" smtClean="0"/>
              <a:t>Permite </a:t>
            </a:r>
            <a:r>
              <a:rPr lang="ro-RO" b="1" dirty="0" smtClean="0"/>
              <a:t>persistența obiectelor</a:t>
            </a:r>
            <a:r>
              <a:rPr lang="ro-RO" dirty="0" smtClean="0"/>
              <a:t>, ceea ce înseamna că durata de viață a </a:t>
            </a:r>
            <a:r>
              <a:rPr lang="pt-BR" dirty="0" smtClean="0"/>
              <a:t>unui obiect nu este determinat</a:t>
            </a:r>
            <a:r>
              <a:rPr lang="ro-RO" dirty="0" smtClean="0"/>
              <a:t>ă</a:t>
            </a:r>
            <a:r>
              <a:rPr lang="pt-BR" dirty="0" smtClean="0"/>
              <a:t> de execu</a:t>
            </a:r>
            <a:r>
              <a:rPr lang="ro-RO" dirty="0" smtClean="0"/>
              <a:t>ț</a:t>
            </a:r>
            <a:r>
              <a:rPr lang="pt-BR" dirty="0" smtClean="0"/>
              <a:t>ia unui program</a:t>
            </a:r>
            <a:r>
              <a:rPr lang="ro-RO" dirty="0" smtClean="0"/>
              <a:t> î</a:t>
            </a:r>
            <a:r>
              <a:rPr lang="pt-BR" dirty="0" smtClean="0"/>
              <a:t>n care acesta</a:t>
            </a:r>
            <a:r>
              <a:rPr lang="ro-RO" dirty="0" smtClean="0"/>
              <a:t> este definit - obiectul poate exista și între apelurile programelor care îl folosesc.</a:t>
            </a:r>
            <a:endParaRPr lang="ro-R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Utilitatea serializării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 smtClean="0"/>
              <a:t>Compensarea diferențelor între sisteme de operare </a:t>
            </a:r>
            <a:r>
              <a:rPr lang="ro-RO" dirty="0" smtClean="0"/>
              <a:t>- transmiterea unor informații între platforme de lucru diferite se realizează unitar.</a:t>
            </a:r>
          </a:p>
          <a:p>
            <a:r>
              <a:rPr lang="ro-RO" b="1" dirty="0" smtClean="0"/>
              <a:t>Transmiterea datelor în rețea </a:t>
            </a:r>
            <a:r>
              <a:rPr lang="ro-RO" dirty="0" smtClean="0"/>
              <a:t>– Aplicațiile ce rulează în rețea pot comunica între ele folosind fluxuri pe care sunt trimise, respectiv recepționate obiecte serializate.</a:t>
            </a:r>
          </a:p>
          <a:p>
            <a:endParaRPr lang="ro-R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Utilitatea serializării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b="1" dirty="0" smtClean="0"/>
              <a:t>RMI (Remote Method Invocation) </a:t>
            </a:r>
            <a:r>
              <a:rPr lang="it-IT" dirty="0" smtClean="0"/>
              <a:t>- este o modalitate prin care metodele</a:t>
            </a:r>
            <a:r>
              <a:rPr lang="ro-RO" dirty="0" smtClean="0"/>
              <a:t> </a:t>
            </a:r>
            <a:r>
              <a:rPr lang="pt-BR" dirty="0" smtClean="0"/>
              <a:t>unor obiecte de pe o alt</a:t>
            </a:r>
            <a:r>
              <a:rPr lang="ro-RO" dirty="0" smtClean="0"/>
              <a:t>ă</a:t>
            </a:r>
            <a:r>
              <a:rPr lang="pt-BR" dirty="0" smtClean="0"/>
              <a:t> ma</a:t>
            </a:r>
            <a:r>
              <a:rPr lang="ro-RO" dirty="0" smtClean="0"/>
              <a:t>ș</a:t>
            </a:r>
            <a:r>
              <a:rPr lang="pt-BR" dirty="0" smtClean="0"/>
              <a:t>in</a:t>
            </a:r>
            <a:r>
              <a:rPr lang="ro-RO" dirty="0" smtClean="0"/>
              <a:t>ă</a:t>
            </a:r>
            <a:r>
              <a:rPr lang="pt-BR" dirty="0" smtClean="0"/>
              <a:t> pot fi apelate ca </a:t>
            </a:r>
            <a:r>
              <a:rPr lang="ro-RO" dirty="0" smtClean="0"/>
              <a:t>ș</a:t>
            </a:r>
            <a:r>
              <a:rPr lang="pt-BR" dirty="0" smtClean="0"/>
              <a:t>i cum acestea ar exista</a:t>
            </a:r>
            <a:r>
              <a:rPr lang="ro-RO" dirty="0" smtClean="0"/>
              <a:t> </a:t>
            </a:r>
            <a:r>
              <a:rPr lang="pt-BR" dirty="0" smtClean="0"/>
              <a:t>local pe ma</a:t>
            </a:r>
            <a:r>
              <a:rPr lang="ro-RO" dirty="0" smtClean="0"/>
              <a:t>ș</a:t>
            </a:r>
            <a:r>
              <a:rPr lang="pt-BR" dirty="0" smtClean="0"/>
              <a:t>ina pe care ruleaz</a:t>
            </a:r>
            <a:r>
              <a:rPr lang="ro-RO" dirty="0" smtClean="0"/>
              <a:t>ă</a:t>
            </a:r>
            <a:r>
              <a:rPr lang="pt-BR" dirty="0" smtClean="0"/>
              <a:t> aplica</a:t>
            </a:r>
            <a:r>
              <a:rPr lang="ro-RO" dirty="0" smtClean="0"/>
              <a:t>ț</a:t>
            </a:r>
            <a:r>
              <a:rPr lang="pt-BR" dirty="0" smtClean="0"/>
              <a:t>ia.</a:t>
            </a:r>
            <a:endParaRPr lang="ro-RO" dirty="0" smtClean="0"/>
          </a:p>
          <a:p>
            <a:r>
              <a:rPr lang="ro-RO" b="1" dirty="0" smtClean="0"/>
              <a:t>Java Beans </a:t>
            </a:r>
            <a:r>
              <a:rPr lang="ro-RO" dirty="0" smtClean="0"/>
              <a:t>- sînt componente reutilizabile, de sine stătătoare ce pot fi utilizate în medii vizuale de dezvoltare a aplicațiilor.</a:t>
            </a:r>
            <a:endParaRPr lang="ro-R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Serializarea tipurilor primitive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r>
              <a:rPr lang="ro-RO" dirty="0" smtClean="0"/>
              <a:t>Fluxurile care realizează:</a:t>
            </a:r>
          </a:p>
          <a:p>
            <a:pPr lvl="1"/>
            <a:r>
              <a:rPr lang="ro-RO" dirty="0" smtClean="0"/>
              <a:t>DataOutputStream și DataInputStream</a:t>
            </a:r>
          </a:p>
          <a:p>
            <a:pPr lvl="1"/>
            <a:r>
              <a:rPr lang="ro-RO" dirty="0" smtClean="0"/>
              <a:t>ObjectOutputStream și ObjectInputStream</a:t>
            </a:r>
          </a:p>
          <a:p>
            <a:pPr marL="285750" lvl="1">
              <a:buFont typeface="Arial" pitchFamily="34" charset="0"/>
              <a:buChar char="•"/>
            </a:pPr>
            <a:r>
              <a:rPr lang="ro-RO" sz="3200" dirty="0" smtClean="0"/>
              <a:t> Implementează interfețele DataInput și DataOutput.</a:t>
            </a:r>
          </a:p>
          <a:p>
            <a:pPr marL="285750" lvl="1">
              <a:buFont typeface="Arial" pitchFamily="34" charset="0"/>
              <a:buChar char="•"/>
            </a:pPr>
            <a:r>
              <a:rPr lang="ro-RO" sz="3200" dirty="0" smtClean="0"/>
              <a:t>Metodă pentru scrierea datelor primitive și șirului de caractere: </a:t>
            </a:r>
            <a:r>
              <a:rPr lang="ro-RO" sz="3200" b="1" dirty="0" smtClean="0">
                <a:latin typeface="Consolas" pitchFamily="49" charset="0"/>
                <a:cs typeface="Consolas" pitchFamily="49" charset="0"/>
              </a:rPr>
              <a:t>write</a:t>
            </a:r>
            <a:r>
              <a:rPr lang="ro-RO" sz="3200" i="1" dirty="0" smtClean="0">
                <a:latin typeface="Consolas" pitchFamily="49" charset="0"/>
                <a:cs typeface="Consolas" pitchFamily="49" charset="0"/>
              </a:rPr>
              <a:t>TipPrimitiv</a:t>
            </a:r>
            <a:r>
              <a:rPr lang="ro-RO" sz="3200" b="1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marL="285750" lvl="1">
              <a:buFont typeface="Arial" pitchFamily="34" charset="0"/>
              <a:buChar char="•"/>
            </a:pPr>
            <a:r>
              <a:rPr lang="ro-RO" sz="3200" dirty="0" smtClean="0"/>
              <a:t>Metodă pentru citirea datelor primitive și șirului de caractere: </a:t>
            </a:r>
            <a:r>
              <a:rPr lang="ro-RO" sz="3200" b="1" dirty="0" smtClean="0">
                <a:latin typeface="Consolas" pitchFamily="49" charset="0"/>
                <a:cs typeface="Consolas" pitchFamily="49" charset="0"/>
              </a:rPr>
              <a:t>read</a:t>
            </a:r>
            <a:r>
              <a:rPr lang="ro-RO" sz="3200" i="1" dirty="0" smtClean="0">
                <a:latin typeface="Consolas" pitchFamily="49" charset="0"/>
                <a:cs typeface="Consolas" pitchFamily="49" charset="0"/>
              </a:rPr>
              <a:t>TipPrimitiv</a:t>
            </a:r>
            <a:r>
              <a:rPr lang="ro-RO" sz="3200" b="1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marL="285750" lvl="1">
              <a:buFont typeface="Arial" pitchFamily="34" charset="0"/>
              <a:buChar char="•"/>
            </a:pPr>
            <a:endParaRPr lang="ro-RO" sz="32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 de serializare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22225">
              <a:buNone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FileOutputStream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fos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FileOutputStream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("test.dat");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DataOutputStream out = new DataOutputStream(fos);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out.writeInt(12345);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out.writeDouble(12.345);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out.writeBoolean(true);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out.writeUTF("Sir de caractere");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out.flush();</a:t>
            </a:r>
          </a:p>
          <a:p>
            <a:pPr indent="22225"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fos.close();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 de deserializare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FileInputStream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FileInputStream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("test.dat");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DataInputStream in = new DataInputStream(fis);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int i = in.readInt();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double d = in.readDouble();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boolean b = in.readBoolean();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String s = in.readUTF();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fis.close();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Serializarea obiectelor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Serializarea obiectelor se realizează prin intermediul fluxurilor definite de clasele </a:t>
            </a:r>
          </a:p>
          <a:p>
            <a:pPr lvl="1"/>
            <a:r>
              <a:rPr lang="ro-RO" b="1" dirty="0" smtClean="0">
                <a:latin typeface="Consolas" pitchFamily="49" charset="0"/>
                <a:cs typeface="Consolas" pitchFamily="49" charset="0"/>
              </a:rPr>
              <a:t>ObjectOutputStream</a:t>
            </a:r>
            <a:r>
              <a:rPr lang="ro-RO" dirty="0" smtClean="0"/>
              <a:t> (pentru salvare)</a:t>
            </a:r>
          </a:p>
          <a:p>
            <a:pPr lvl="1"/>
            <a:r>
              <a:rPr lang="ro-RO" b="1" dirty="0" smtClean="0">
                <a:latin typeface="Consolas" pitchFamily="49" charset="0"/>
                <a:cs typeface="Consolas" pitchFamily="49" charset="0"/>
              </a:rPr>
              <a:t>ObjectInputStream</a:t>
            </a:r>
            <a:r>
              <a:rPr lang="ro-RO" dirty="0" smtClean="0"/>
              <a:t> (pentru restaurare).</a:t>
            </a:r>
          </a:p>
          <a:p>
            <a:pPr lvl="1">
              <a:buNone/>
            </a:pPr>
            <a:endParaRPr lang="ro-RO" dirty="0" smtClean="0"/>
          </a:p>
          <a:p>
            <a:r>
              <a:rPr lang="pt-BR" dirty="0" smtClean="0"/>
              <a:t>Metodele pentru serializarea obiectelor s</a:t>
            </a:r>
            <a:r>
              <a:rPr lang="ro-RO" dirty="0" smtClean="0"/>
              <a:t>î</a:t>
            </a:r>
            <a:r>
              <a:rPr lang="pt-BR" dirty="0" smtClean="0"/>
              <a:t>nt:</a:t>
            </a:r>
          </a:p>
          <a:p>
            <a:pPr>
              <a:buNone/>
            </a:pPr>
            <a:r>
              <a:rPr lang="ro-RO" sz="2800" dirty="0" smtClean="0"/>
              <a:t>		- </a:t>
            </a:r>
            <a:r>
              <a:rPr lang="ro-RO" sz="2800" b="1" dirty="0" smtClean="0">
                <a:latin typeface="Consolas" pitchFamily="49" charset="0"/>
                <a:cs typeface="Consolas" pitchFamily="49" charset="0"/>
              </a:rPr>
              <a:t>writeObject</a:t>
            </a:r>
            <a:r>
              <a:rPr lang="ro-RO" sz="2800" dirty="0" smtClean="0"/>
              <a:t>, pentru scriere</a:t>
            </a:r>
          </a:p>
          <a:p>
            <a:pPr>
              <a:buNone/>
            </a:pPr>
            <a:r>
              <a:rPr lang="ro-RO" sz="2800" dirty="0" smtClean="0"/>
              <a:t>		- </a:t>
            </a:r>
            <a:r>
              <a:rPr lang="ro-RO" sz="2800" b="1" dirty="0" smtClean="0">
                <a:latin typeface="Consolas" pitchFamily="49" charset="0"/>
                <a:cs typeface="Consolas" pitchFamily="49" charset="0"/>
              </a:rPr>
              <a:t>readObject</a:t>
            </a:r>
            <a:r>
              <a:rPr lang="ro-RO" sz="2800" dirty="0" smtClean="0"/>
              <a:t>, pentru restaurare.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Clasa ObjectOutputStream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o-RO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ObjectOutputStream out = new ObjectOutputStream(fluxPrimitiv);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out.writeObject(referintaObiect);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out.flush();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fluxPrimitiv.close();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Exemplu: serializarea obiectelor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FileOutputStream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fos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FileOutputStream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("test.ser");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ObjectOutputStream out = new ObjectOutputStream(fos);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out.writeObject("Ora curenta:");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out.writeObject(new Date());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out.flush();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fos.close();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Clasa ObjectInputStream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ObjectInputStream in = new ObjectInputStream(fluxPrimitiv);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Object obj = in.readObject();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//sau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TipReferinta ref = (TipReferinta)in.readObject();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fluxPrimitiv.close();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Exemplu: deserializarea obiectelor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FileInputStream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FileInputStream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("test.ser");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ObjectInputStream in = new ObjectInputStream(fis);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String mesaj = (String)in.readObject();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Date data = (Date)in.readObject();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fis.close();</a:t>
            </a:r>
          </a:p>
          <a:p>
            <a:pPr>
              <a:buNone/>
            </a:pPr>
            <a:r>
              <a:rPr lang="it-IT" sz="2600" b="1" dirty="0" smtClean="0">
                <a:latin typeface="Consolas" pitchFamily="49" charset="0"/>
                <a:cs typeface="Consolas" pitchFamily="49" charset="0"/>
              </a:rPr>
              <a:t>Ora curenta:Mon Oct 27 23:01:49 EET 2014</a:t>
            </a:r>
            <a:endParaRPr lang="ro-RO" sz="2600" b="1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Atenție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solidFill>
                  <a:srgbClr val="FF0000"/>
                </a:solidFill>
              </a:rPr>
              <a:t>Date date = in.readObject(); // gresit</a:t>
            </a:r>
          </a:p>
          <a:p>
            <a:r>
              <a:rPr lang="ro-RO" dirty="0" smtClean="0"/>
              <a:t>Date date = (Date)in.readObject(); // corect</a:t>
            </a:r>
            <a:endParaRPr lang="ro-RO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Obiecte serializabile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Un obiect este serializabil dacă și numai dacă clasa din care face parte implementează interfața </a:t>
            </a:r>
            <a:r>
              <a:rPr lang="ro-RO" b="1" dirty="0" smtClean="0"/>
              <a:t>Serializable</a:t>
            </a:r>
            <a:r>
              <a:rPr lang="ro-RO" dirty="0" smtClean="0"/>
              <a:t>.</a:t>
            </a:r>
          </a:p>
          <a:p>
            <a:pPr>
              <a:buNone/>
            </a:pPr>
            <a:endParaRPr lang="ro-RO" dirty="0" smtClean="0"/>
          </a:p>
          <a:p>
            <a:r>
              <a:rPr lang="ro-RO" dirty="0" smtClean="0"/>
              <a:t>Interfața </a:t>
            </a:r>
            <a:r>
              <a:rPr lang="ro-RO" b="1" dirty="0" smtClean="0"/>
              <a:t>Serializable</a:t>
            </a:r>
            <a:r>
              <a:rPr lang="ro-RO" dirty="0" smtClean="0"/>
              <a:t> nu conține nici o declarație de metodă sau constantă, singurul ei scop fiind de a identifica clasele ale căror obiecte sînt serializabile.</a:t>
            </a:r>
            <a:endParaRPr lang="ro-RO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Declararea claselor ale căror instanțe trebuie să fie serializate este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o-RO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public class ClasaSerializabila implements Serializable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// Corpul clasei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ro-RO" dirty="0" smtClean="0"/>
              <a:t>Orice subclasă a unei clase serializabile este la rîndul ei serializabilă, întrucît implementează indirect interfața </a:t>
            </a:r>
            <a:r>
              <a:rPr lang="ro-RO" b="1" dirty="0" smtClean="0"/>
              <a:t>Serializable</a:t>
            </a:r>
            <a:r>
              <a:rPr lang="ro-RO" dirty="0" smtClean="0"/>
              <a:t>.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Controlul serializării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/>
          </a:bodyPr>
          <a:lstStyle/>
          <a:p>
            <a:r>
              <a:rPr lang="ro-RO" dirty="0" smtClean="0"/>
              <a:t>Există cazuri cînd dorim ca unele variabile membre ale unui obiect să nu fie salvate automat în procesul de serializare.</a:t>
            </a:r>
          </a:p>
          <a:p>
            <a:r>
              <a:rPr lang="ro-RO" dirty="0" smtClean="0"/>
              <a:t>Chiar declarate </a:t>
            </a:r>
            <a:r>
              <a:rPr lang="it-IT" dirty="0" smtClean="0"/>
              <a:t>private </a:t>
            </a:r>
            <a:r>
              <a:rPr lang="ro-RO" dirty="0" smtClean="0"/>
              <a:t>î</a:t>
            </a:r>
            <a:r>
              <a:rPr lang="it-IT" dirty="0" smtClean="0"/>
              <a:t>n cadrul clasei aceste c</a:t>
            </a:r>
            <a:r>
              <a:rPr lang="ro-RO" dirty="0" smtClean="0"/>
              <a:t>î</a:t>
            </a:r>
            <a:r>
              <a:rPr lang="it-IT" dirty="0" smtClean="0"/>
              <a:t>mpuri particip</a:t>
            </a:r>
            <a:r>
              <a:rPr lang="ro-RO" dirty="0" smtClean="0"/>
              <a:t>ă</a:t>
            </a:r>
            <a:r>
              <a:rPr lang="it-IT" dirty="0" smtClean="0"/>
              <a:t> la serializare.</a:t>
            </a:r>
            <a:endParaRPr lang="ro-RO" dirty="0" smtClean="0"/>
          </a:p>
          <a:p>
            <a:r>
              <a:rPr lang="ro-RO" dirty="0" smtClean="0"/>
              <a:t>Pentru ca un cîmp să nu fie salvat în procesul de serializare el trebuie declarat cu modificatorul </a:t>
            </a:r>
            <a:r>
              <a:rPr lang="ro-RO" b="1" dirty="0" smtClean="0"/>
              <a:t>transient</a:t>
            </a:r>
            <a:r>
              <a:rPr lang="ro-RO" dirty="0" smtClean="0"/>
              <a:t> și trebuie să fie ne-static.</a:t>
            </a:r>
            <a:endParaRPr lang="ro-RO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transient private double temp;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// Ignorata la serializare</a:t>
            </a:r>
          </a:p>
          <a:p>
            <a:pPr>
              <a:buNone/>
            </a:pPr>
            <a:r>
              <a:rPr lang="it-IT" dirty="0" smtClean="0"/>
              <a:t>Modificatorul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static</a:t>
            </a:r>
            <a:r>
              <a:rPr lang="it-IT" dirty="0" smtClean="0"/>
              <a:t> anuleaz</a:t>
            </a:r>
            <a:r>
              <a:rPr lang="ro-RO" dirty="0" smtClean="0"/>
              <a:t>ă</a:t>
            </a:r>
            <a:r>
              <a:rPr lang="it-IT" dirty="0" smtClean="0"/>
              <a:t> efectul modificatorului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transient</a:t>
            </a:r>
            <a:r>
              <a:rPr lang="it-IT" dirty="0" smtClean="0"/>
              <a:t>.</a:t>
            </a:r>
            <a:endParaRPr lang="ro-RO" dirty="0" smtClean="0"/>
          </a:p>
          <a:p>
            <a:pPr>
              <a:buNone/>
            </a:pPr>
            <a:endParaRPr lang="ro-RO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static transient int N;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// Participa la serializare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71501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import java .io .*;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class A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int x=1;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class B implements </a:t>
            </a:r>
            <a:r>
              <a:rPr lang="ro-RO" b="1" dirty="0" smtClean="0">
                <a:latin typeface="Consolas" pitchFamily="49" charset="0"/>
                <a:cs typeface="Consolas" pitchFamily="49" charset="0"/>
              </a:rPr>
              <a:t>Serializable</a:t>
            </a:r>
            <a:r>
              <a:rPr lang="ro-RO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int y=2;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public class Test2 implements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Serializable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A a = new A(); // Exceptie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de-DE" dirty="0" smtClean="0">
                <a:latin typeface="Consolas" pitchFamily="49" charset="0"/>
                <a:cs typeface="Consolas" pitchFamily="49" charset="0"/>
              </a:rPr>
              <a:t>B b = new B(); // DA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public String toString ()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	return a.x + ", " + b.y;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}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50083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import java .io .*;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class C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int x=0;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// Obligatoriu constructor fara argumente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class D extends C implements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Serializable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int y=0;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public class Test3 extends D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public Test3 ()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	x = 1; // NU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	y = 2; // DA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}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public String toString () {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	return x + ", " + y;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	}</a:t>
            </a:r>
          </a:p>
          <a:p>
            <a:pPr>
              <a:buNone/>
            </a:pPr>
            <a:r>
              <a:rPr lang="ro-RO" dirty="0" smtClean="0">
                <a:latin typeface="Consolas" pitchFamily="49" charset="0"/>
                <a:cs typeface="Consolas" pitchFamily="49" charset="0"/>
              </a:rPr>
              <a:t>}</a:t>
            </a:r>
            <a:endParaRPr lang="ro-RO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Video materiale </a:t>
            </a:r>
            <a:r>
              <a:rPr lang="ro-MD" dirty="0" err="1" smtClean="0"/>
              <a:t>serializare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D" dirty="0" smtClean="0"/>
              <a:t>Materiale video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www.youtube.com/watch?v=vz6nyRXCUs0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www.youtube.com/watch?v=dBcqizwOWLg</a:t>
            </a:r>
            <a:endParaRPr lang="ru-RU" dirty="0" smtClean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https://www.youtube.com/watch?v=Kta6v6AqAWk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785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500174"/>
            <a:ext cx="7772400" cy="2357453"/>
          </a:xfrm>
        </p:spPr>
        <p:txBody>
          <a:bodyPr>
            <a:noAutofit/>
          </a:bodyPr>
          <a:lstStyle/>
          <a:p>
            <a:r>
              <a:rPr lang="ro-MD" sz="7000" dirty="0" smtClean="0"/>
              <a:t>Programarea în rețea</a:t>
            </a:r>
            <a:endParaRPr lang="en-US" sz="7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Introducere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Programarea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re</a:t>
            </a:r>
            <a:r>
              <a:rPr lang="ro-MD" dirty="0" smtClean="0"/>
              <a:t>ț</a:t>
            </a:r>
            <a:r>
              <a:rPr lang="en-US" dirty="0" smtClean="0"/>
              <a:t>ea </a:t>
            </a:r>
            <a:r>
              <a:rPr lang="en-US" dirty="0" err="1" smtClean="0"/>
              <a:t>implic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trimiterea</a:t>
            </a:r>
            <a:r>
              <a:rPr lang="en-US" dirty="0" smtClean="0"/>
              <a:t> de </a:t>
            </a:r>
            <a:r>
              <a:rPr lang="en-US" dirty="0" err="1" smtClean="0"/>
              <a:t>mesaje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date </a:t>
            </a:r>
            <a:r>
              <a:rPr lang="ro-MD" dirty="0" smtClean="0"/>
              <a:t>î</a:t>
            </a:r>
            <a:r>
              <a:rPr lang="en-US" dirty="0" err="1" smtClean="0"/>
              <a:t>ntre</a:t>
            </a:r>
            <a:r>
              <a:rPr lang="en-US" dirty="0" smtClean="0"/>
              <a:t> </a:t>
            </a:r>
            <a:r>
              <a:rPr lang="en-US" dirty="0" err="1" smtClean="0"/>
              <a:t>aplica</a:t>
            </a:r>
            <a:r>
              <a:rPr lang="ro-MD" dirty="0" smtClean="0"/>
              <a:t>ț</a:t>
            </a:r>
            <a:r>
              <a:rPr lang="en-US" dirty="0" smtClean="0"/>
              <a:t>ii </a:t>
            </a:r>
            <a:r>
              <a:rPr lang="en-US" dirty="0" err="1" smtClean="0"/>
              <a:t>ce</a:t>
            </a:r>
            <a:r>
              <a:rPr lang="ro-MD" dirty="0" smtClean="0"/>
              <a:t> </a:t>
            </a:r>
            <a:r>
              <a:rPr lang="en-US" dirty="0" err="1" smtClean="0"/>
              <a:t>ruleaz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calculatoare</a:t>
            </a:r>
            <a:r>
              <a:rPr lang="en-US" dirty="0" smtClean="0"/>
              <a:t> </a:t>
            </a:r>
            <a:r>
              <a:rPr lang="en-US" dirty="0" err="1" smtClean="0"/>
              <a:t>aflate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ntr</a:t>
            </a:r>
            <a:r>
              <a:rPr lang="en-US" dirty="0" smtClean="0"/>
              <a:t>-o re</a:t>
            </a:r>
            <a:r>
              <a:rPr lang="ro-MD" dirty="0" smtClean="0"/>
              <a:t>ț</a:t>
            </a:r>
            <a:r>
              <a:rPr lang="en-US" dirty="0" smtClean="0"/>
              <a:t>ea local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conectate</a:t>
            </a:r>
            <a:r>
              <a:rPr lang="en-US" dirty="0" smtClean="0"/>
              <a:t> la Internet.</a:t>
            </a:r>
            <a:endParaRPr lang="ro-MD" dirty="0" smtClean="0"/>
          </a:p>
          <a:p>
            <a:r>
              <a:rPr lang="en-US" dirty="0" err="1" smtClean="0"/>
              <a:t>Pachetul</a:t>
            </a:r>
            <a:r>
              <a:rPr lang="en-US" dirty="0" smtClean="0"/>
              <a:t> care </a:t>
            </a:r>
            <a:r>
              <a:rPr lang="en-US" dirty="0" err="1" smtClean="0"/>
              <a:t>ofer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suport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scrierea</a:t>
            </a:r>
            <a:r>
              <a:rPr lang="en-US" dirty="0" smtClean="0"/>
              <a:t> </a:t>
            </a:r>
            <a:r>
              <a:rPr lang="en-US" dirty="0" err="1" smtClean="0"/>
              <a:t>aplicatiilor</a:t>
            </a:r>
            <a:r>
              <a:rPr lang="en-US" dirty="0" smtClean="0"/>
              <a:t> de re</a:t>
            </a:r>
            <a:r>
              <a:rPr lang="ro-MD" dirty="0" smtClean="0"/>
              <a:t>ț</a:t>
            </a:r>
            <a:r>
              <a:rPr lang="en-US" dirty="0" smtClean="0"/>
              <a:t>ea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java.net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dirty="0" smtClean="0"/>
              <a:t>Noțiuni fundamentale: </a:t>
            </a:r>
            <a:r>
              <a:rPr lang="ro-MD" i="1" dirty="0" smtClean="0"/>
              <a:t>protocol</a:t>
            </a:r>
            <a:r>
              <a:rPr lang="ro-MD" dirty="0" smtClean="0"/>
              <a:t>, </a:t>
            </a:r>
            <a:r>
              <a:rPr lang="ro-MD" i="1" dirty="0" smtClean="0"/>
              <a:t>adresă IP</a:t>
            </a:r>
            <a:r>
              <a:rPr lang="ro-MD" dirty="0" smtClean="0"/>
              <a:t>, </a:t>
            </a:r>
            <a:r>
              <a:rPr lang="ro-MD" i="1" dirty="0" smtClean="0"/>
              <a:t>port</a:t>
            </a:r>
            <a:r>
              <a:rPr lang="ro-MD" dirty="0" smtClean="0"/>
              <a:t>, </a:t>
            </a:r>
            <a:r>
              <a:rPr lang="ro-MD" i="1" dirty="0" smtClean="0"/>
              <a:t>socket</a:t>
            </a:r>
            <a:r>
              <a:rPr lang="ro-MD" dirty="0" smtClean="0"/>
              <a:t>.</a:t>
            </a:r>
            <a:endParaRPr lang="ro-RO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Un protocol </a:t>
            </a:r>
            <a:r>
              <a:rPr lang="en-US" dirty="0" err="1" smtClean="0"/>
              <a:t>reprezint</a:t>
            </a:r>
            <a:r>
              <a:rPr lang="ro-MD" dirty="0" smtClean="0"/>
              <a:t>ă</a:t>
            </a:r>
            <a:r>
              <a:rPr lang="en-US" dirty="0" smtClean="0"/>
              <a:t> o </a:t>
            </a:r>
            <a:r>
              <a:rPr lang="en-US" dirty="0" err="1" smtClean="0"/>
              <a:t>conven</a:t>
            </a:r>
            <a:r>
              <a:rPr lang="ro-MD" dirty="0" smtClean="0"/>
              <a:t>ț</a:t>
            </a:r>
            <a:r>
              <a:rPr lang="en-US" dirty="0" err="1" smtClean="0"/>
              <a:t>ie</a:t>
            </a:r>
            <a:r>
              <a:rPr lang="en-US" dirty="0" smtClean="0"/>
              <a:t> de </a:t>
            </a:r>
            <a:r>
              <a:rPr lang="en-US" dirty="0" err="1" smtClean="0"/>
              <a:t>reprezentare</a:t>
            </a:r>
            <a:r>
              <a:rPr lang="en-US" dirty="0" smtClean="0"/>
              <a:t> a </a:t>
            </a:r>
            <a:r>
              <a:rPr lang="en-US" dirty="0" err="1" smtClean="0"/>
              <a:t>datelor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comunicarea</a:t>
            </a:r>
            <a:r>
              <a:rPr lang="ro-MD" dirty="0" smtClean="0"/>
              <a:t> î</a:t>
            </a:r>
            <a:r>
              <a:rPr lang="en-US" dirty="0" err="1" smtClean="0"/>
              <a:t>ntre</a:t>
            </a:r>
            <a:r>
              <a:rPr lang="en-US" dirty="0" smtClean="0"/>
              <a:t> </a:t>
            </a:r>
            <a:r>
              <a:rPr lang="en-US" dirty="0" err="1" smtClean="0"/>
              <a:t>dou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calculatoare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it-IT" dirty="0" smtClean="0"/>
              <a:t>Dou</a:t>
            </a:r>
            <a:r>
              <a:rPr lang="ro-MD" dirty="0" smtClean="0"/>
              <a:t>ă</a:t>
            </a:r>
            <a:r>
              <a:rPr lang="it-IT" dirty="0" smtClean="0"/>
              <a:t> dintre cele mai utilizate protocoale s</a:t>
            </a:r>
            <a:r>
              <a:rPr lang="ro-MD" dirty="0" smtClean="0"/>
              <a:t>înt:</a:t>
            </a:r>
          </a:p>
          <a:p>
            <a:pPr lvl="1"/>
            <a:r>
              <a:rPr lang="ro-MD" b="1" dirty="0" smtClean="0"/>
              <a:t>TCP</a:t>
            </a:r>
            <a:r>
              <a:rPr lang="ro-MD" dirty="0" smtClean="0"/>
              <a:t> (</a:t>
            </a:r>
            <a:r>
              <a:rPr lang="ro-MD" i="1" dirty="0" smtClean="0"/>
              <a:t>Transport Control Protocol</a:t>
            </a:r>
            <a:r>
              <a:rPr lang="ro-MD" dirty="0" smtClean="0"/>
              <a:t>) - </a:t>
            </a:r>
            <a:r>
              <a:rPr lang="it-IT" dirty="0" smtClean="0"/>
              <a:t>este un protocol ce furnizeaz</a:t>
            </a:r>
            <a:r>
              <a:rPr lang="ro-MD" dirty="0" smtClean="0"/>
              <a:t>ă</a:t>
            </a:r>
            <a:r>
              <a:rPr lang="it-IT" dirty="0" smtClean="0"/>
              <a:t> un</a:t>
            </a:r>
            <a:r>
              <a:rPr lang="ro-MD" dirty="0" smtClean="0"/>
              <a:t> </a:t>
            </a:r>
            <a:r>
              <a:rPr lang="en-US" dirty="0" smtClean="0"/>
              <a:t>flux </a:t>
            </a:r>
            <a:r>
              <a:rPr lang="en-US" dirty="0" err="1" smtClean="0"/>
              <a:t>sigur</a:t>
            </a:r>
            <a:r>
              <a:rPr lang="en-US" dirty="0" smtClean="0"/>
              <a:t> de date </a:t>
            </a:r>
            <a:r>
              <a:rPr lang="ro-MD" dirty="0" smtClean="0"/>
              <a:t>î</a:t>
            </a:r>
            <a:r>
              <a:rPr lang="en-US" dirty="0" err="1" smtClean="0"/>
              <a:t>ntre</a:t>
            </a:r>
            <a:r>
              <a:rPr lang="en-US" dirty="0" smtClean="0"/>
              <a:t> </a:t>
            </a:r>
            <a:r>
              <a:rPr lang="en-US" dirty="0" err="1" smtClean="0"/>
              <a:t>dou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calculatoare</a:t>
            </a:r>
            <a:r>
              <a:rPr lang="en-US" dirty="0" smtClean="0"/>
              <a:t> </a:t>
            </a:r>
            <a:r>
              <a:rPr lang="en-US" dirty="0" err="1" smtClean="0"/>
              <a:t>aflate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re</a:t>
            </a:r>
            <a:r>
              <a:rPr lang="ro-MD" dirty="0" smtClean="0"/>
              <a:t>ț</a:t>
            </a:r>
            <a:r>
              <a:rPr lang="en-US" dirty="0" smtClean="0"/>
              <a:t>ea.</a:t>
            </a:r>
            <a:endParaRPr lang="ro-MD" dirty="0" smtClean="0"/>
          </a:p>
          <a:p>
            <a:pPr lvl="1"/>
            <a:r>
              <a:rPr lang="ro-MD" b="1" dirty="0" smtClean="0"/>
              <a:t>UDP</a:t>
            </a:r>
            <a:r>
              <a:rPr lang="ro-MD" dirty="0" smtClean="0"/>
              <a:t> (</a:t>
            </a:r>
            <a:r>
              <a:rPr lang="en-US" i="1" dirty="0" smtClean="0"/>
              <a:t>User Datagram Protocol</a:t>
            </a:r>
            <a:r>
              <a:rPr lang="en-US" dirty="0" smtClean="0"/>
              <a:t>) </a:t>
            </a:r>
            <a:r>
              <a:rPr lang="ro-MD" dirty="0" smtClean="0"/>
              <a:t>- </a:t>
            </a:r>
            <a:r>
              <a:rPr lang="en-US" dirty="0" err="1" smtClean="0"/>
              <a:t>este</a:t>
            </a:r>
            <a:r>
              <a:rPr lang="en-US" dirty="0" smtClean="0"/>
              <a:t> un protocol </a:t>
            </a:r>
            <a:r>
              <a:rPr lang="en-US" dirty="0" err="1" smtClean="0"/>
              <a:t>bazat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pachete</a:t>
            </a:r>
            <a:r>
              <a:rPr lang="en-US" dirty="0" smtClean="0"/>
              <a:t> </a:t>
            </a:r>
            <a:r>
              <a:rPr lang="en-US" dirty="0" err="1" smtClean="0"/>
              <a:t>independente</a:t>
            </a:r>
            <a:r>
              <a:rPr lang="en-US" dirty="0" smtClean="0"/>
              <a:t> de date, </a:t>
            </a:r>
            <a:r>
              <a:rPr lang="en-US" dirty="0" err="1" smtClean="0"/>
              <a:t>numite</a:t>
            </a:r>
            <a:r>
              <a:rPr lang="en-US" dirty="0" smtClean="0"/>
              <a:t> </a:t>
            </a:r>
            <a:r>
              <a:rPr lang="en-US" dirty="0" err="1" smtClean="0"/>
              <a:t>datagrame</a:t>
            </a:r>
            <a:r>
              <a:rPr lang="en-US" dirty="0" smtClean="0"/>
              <a:t>, </a:t>
            </a:r>
            <a:r>
              <a:rPr lang="en-US" dirty="0" err="1" smtClean="0"/>
              <a:t>trimise</a:t>
            </a:r>
            <a:r>
              <a:rPr lang="en-US" dirty="0" smtClean="0"/>
              <a:t> de la un calculator c</a:t>
            </a:r>
            <a:r>
              <a:rPr lang="ro-MD" dirty="0" smtClean="0"/>
              <a:t>ă</a:t>
            </a:r>
            <a:r>
              <a:rPr lang="en-US" dirty="0" err="1" smtClean="0"/>
              <a:t>tre</a:t>
            </a:r>
            <a:r>
              <a:rPr lang="ro-MD" dirty="0" smtClean="0"/>
              <a:t> </a:t>
            </a:r>
            <a:r>
              <a:rPr lang="en-US" dirty="0" err="1" smtClean="0"/>
              <a:t>altul</a:t>
            </a:r>
            <a:r>
              <a:rPr lang="en-US" dirty="0" smtClean="0"/>
              <a:t> f</a:t>
            </a:r>
            <a:r>
              <a:rPr lang="ro-MD" dirty="0" smtClean="0"/>
              <a:t>ă</a:t>
            </a:r>
            <a:r>
              <a:rPr lang="en-US" dirty="0" smtClean="0"/>
              <a:t>r</a:t>
            </a:r>
            <a:r>
              <a:rPr lang="ro-MD" dirty="0" smtClean="0"/>
              <a:t>ă</a:t>
            </a:r>
            <a:r>
              <a:rPr lang="en-US" dirty="0" smtClean="0"/>
              <a:t> a se </a:t>
            </a:r>
            <a:r>
              <a:rPr lang="en-US" dirty="0" err="1" smtClean="0"/>
              <a:t>garanta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vreun</a:t>
            </a:r>
            <a:r>
              <a:rPr lang="en-US" dirty="0" smtClean="0"/>
              <a:t> </a:t>
            </a:r>
            <a:r>
              <a:rPr lang="en-US" dirty="0" err="1" smtClean="0"/>
              <a:t>fel</a:t>
            </a:r>
            <a:r>
              <a:rPr lang="en-US" dirty="0" smtClean="0"/>
              <a:t> </a:t>
            </a:r>
            <a:r>
              <a:rPr lang="en-US" dirty="0" err="1" smtClean="0"/>
              <a:t>ajungerea</a:t>
            </a:r>
            <a:r>
              <a:rPr lang="en-US" dirty="0" smtClean="0"/>
              <a:t> </a:t>
            </a:r>
            <a:r>
              <a:rPr lang="en-US" dirty="0" err="1" smtClean="0"/>
              <a:t>acestora</a:t>
            </a:r>
            <a:r>
              <a:rPr lang="en-US" dirty="0" smtClean="0"/>
              <a:t> la </a:t>
            </a:r>
            <a:r>
              <a:rPr lang="en-US" dirty="0" err="1" smtClean="0"/>
              <a:t>destina</a:t>
            </a:r>
            <a:r>
              <a:rPr lang="ro-MD" dirty="0" smtClean="0"/>
              <a:t>ț</a:t>
            </a:r>
            <a:r>
              <a:rPr lang="en-US" dirty="0" err="1" smtClean="0"/>
              <a:t>ie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ro-MD" dirty="0" smtClean="0"/>
              <a:t> </a:t>
            </a:r>
            <a:r>
              <a:rPr lang="en-US" dirty="0" err="1" smtClean="0"/>
              <a:t>ordinea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care </a:t>
            </a:r>
            <a:r>
              <a:rPr lang="en-US" dirty="0" err="1" smtClean="0"/>
              <a:t>acestea</a:t>
            </a:r>
            <a:r>
              <a:rPr lang="en-US" dirty="0" smtClean="0"/>
              <a:t> </a:t>
            </a:r>
            <a:r>
              <a:rPr lang="en-US" dirty="0" err="1" smtClean="0"/>
              <a:t>ajung</a:t>
            </a:r>
            <a:r>
              <a:rPr lang="en-US" dirty="0" smtClean="0"/>
              <a:t>.</a:t>
            </a:r>
            <a:endParaRPr lang="ro-MD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Adresă 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Orice</a:t>
            </a:r>
            <a:r>
              <a:rPr lang="en-US" dirty="0" smtClean="0"/>
              <a:t> calculator </a:t>
            </a:r>
            <a:r>
              <a:rPr lang="en-US" dirty="0" err="1" smtClean="0"/>
              <a:t>conectat</a:t>
            </a:r>
            <a:r>
              <a:rPr lang="en-US" dirty="0" smtClean="0"/>
              <a:t> la Internet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identificat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mod </a:t>
            </a:r>
            <a:r>
              <a:rPr lang="en-US" dirty="0" err="1" smtClean="0"/>
              <a:t>unic</a:t>
            </a:r>
            <a:r>
              <a:rPr lang="en-US" dirty="0" smtClean="0"/>
              <a:t> de </a:t>
            </a:r>
            <a:r>
              <a:rPr lang="en-US" dirty="0" err="1" smtClean="0"/>
              <a:t>adresa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ro-MD" dirty="0" smtClean="0"/>
              <a:t> </a:t>
            </a:r>
            <a:r>
              <a:rPr lang="en-US" b="1" dirty="0" smtClean="0"/>
              <a:t>IP</a:t>
            </a:r>
            <a:r>
              <a:rPr lang="en-US" dirty="0" smtClean="0"/>
              <a:t> (</a:t>
            </a:r>
            <a:r>
              <a:rPr lang="en-US" b="1" dirty="0" smtClean="0"/>
              <a:t>IP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acronimul</a:t>
            </a:r>
            <a:r>
              <a:rPr lang="en-US" dirty="0" smtClean="0"/>
              <a:t> de la </a:t>
            </a:r>
            <a:r>
              <a:rPr lang="en-US" i="1" dirty="0" smtClean="0"/>
              <a:t>Internet Protocol</a:t>
            </a:r>
            <a:r>
              <a:rPr lang="en-US" dirty="0" smtClean="0"/>
              <a:t>).</a:t>
            </a:r>
            <a:endParaRPr lang="ro-MD" dirty="0" smtClean="0"/>
          </a:p>
          <a:p>
            <a:r>
              <a:rPr lang="ro-MD" dirty="0" smtClean="0"/>
              <a:t>U</a:t>
            </a:r>
            <a:r>
              <a:rPr lang="en-US" dirty="0" smtClean="0"/>
              <a:t>n num</a:t>
            </a:r>
            <a:r>
              <a:rPr lang="ro-MD" dirty="0" smtClean="0"/>
              <a:t>ă</a:t>
            </a:r>
            <a:r>
              <a:rPr lang="en-US" dirty="0" smtClean="0"/>
              <a:t>r</a:t>
            </a:r>
            <a:r>
              <a:rPr lang="ro-MD" dirty="0" smtClean="0"/>
              <a:t> </a:t>
            </a:r>
            <a:r>
              <a:rPr lang="pt-BR" dirty="0" smtClean="0"/>
              <a:t>reprezentat pe 32 de bi</a:t>
            </a:r>
            <a:r>
              <a:rPr lang="ro-MD" dirty="0" smtClean="0"/>
              <a:t>ț</a:t>
            </a:r>
            <a:r>
              <a:rPr lang="pt-BR" dirty="0" smtClean="0"/>
              <a:t>i</a:t>
            </a:r>
            <a:r>
              <a:rPr lang="ro-MD" dirty="0" smtClean="0"/>
              <a:t> (4 octeți) -  </a:t>
            </a:r>
            <a:r>
              <a:rPr lang="en-US" dirty="0" smtClean="0"/>
              <a:t>193.231.30.131 </a:t>
            </a:r>
            <a:r>
              <a:rPr lang="ro-MD" dirty="0" smtClean="0"/>
              <a:t> -  </a:t>
            </a:r>
            <a:r>
              <a:rPr lang="en-US" i="1" dirty="0" err="1" smtClean="0"/>
              <a:t>adresa</a:t>
            </a:r>
            <a:r>
              <a:rPr lang="en-US" i="1" dirty="0" smtClean="0"/>
              <a:t> IP numeric</a:t>
            </a:r>
            <a:r>
              <a:rPr lang="ro-MD" i="1" dirty="0" smtClean="0"/>
              <a:t>ă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pt-BR" dirty="0" smtClean="0"/>
              <a:t>o adresa </a:t>
            </a:r>
            <a:r>
              <a:rPr lang="pt-BR" i="1" dirty="0" smtClean="0"/>
              <a:t>IP simbolic</a:t>
            </a:r>
            <a:r>
              <a:rPr lang="ro-MD" i="1" dirty="0" smtClean="0"/>
              <a:t>ă</a:t>
            </a:r>
            <a:r>
              <a:rPr lang="ro-MD" dirty="0" smtClean="0"/>
              <a:t> -</a:t>
            </a:r>
            <a:r>
              <a:rPr lang="pt-BR" dirty="0" smtClean="0"/>
              <a:t> </a:t>
            </a:r>
            <a:r>
              <a:rPr lang="pt-BR" dirty="0" smtClean="0">
                <a:latin typeface="Consolas" pitchFamily="49" charset="0"/>
                <a:cs typeface="Consolas" pitchFamily="49" charset="0"/>
              </a:rPr>
              <a:t>thor.infoiasi.ro</a:t>
            </a:r>
            <a:endParaRPr lang="ro-MD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dirty="0" err="1" smtClean="0"/>
              <a:t>Clasa</a:t>
            </a:r>
            <a:r>
              <a:rPr lang="en-US" dirty="0" smtClean="0"/>
              <a:t> Java care </a:t>
            </a:r>
            <a:r>
              <a:rPr lang="en-US" dirty="0" err="1" smtClean="0"/>
              <a:t>reprezint</a:t>
            </a:r>
            <a:r>
              <a:rPr lang="ro-MD" dirty="0" smtClean="0"/>
              <a:t>ă</a:t>
            </a:r>
            <a:r>
              <a:rPr lang="en-US" dirty="0" smtClean="0"/>
              <a:t> no</a:t>
            </a:r>
            <a:r>
              <a:rPr lang="ro-MD" dirty="0" smtClean="0"/>
              <a:t>ț</a:t>
            </a:r>
            <a:r>
              <a:rPr lang="en-US" dirty="0" err="1" smtClean="0"/>
              <a:t>iunea</a:t>
            </a:r>
            <a:r>
              <a:rPr lang="en-US" dirty="0" smtClean="0"/>
              <a:t> de </a:t>
            </a:r>
            <a:r>
              <a:rPr lang="en-US" dirty="0" err="1" smtClean="0"/>
              <a:t>adres</a:t>
            </a:r>
            <a:r>
              <a:rPr lang="ro-MD" dirty="0" smtClean="0"/>
              <a:t>ă</a:t>
            </a:r>
            <a:r>
              <a:rPr lang="en-US" dirty="0" smtClean="0"/>
              <a:t> IP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InetAddress</a:t>
            </a:r>
            <a:r>
              <a:rPr lang="en-US" dirty="0" smtClean="0"/>
              <a:t>.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b="1" dirty="0" smtClean="0"/>
              <a:t>port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Un calculator are</a:t>
            </a:r>
            <a:r>
              <a:rPr lang="ro-MD" dirty="0" smtClean="0"/>
              <a:t> î</a:t>
            </a:r>
            <a:r>
              <a:rPr lang="en-US" dirty="0" smtClean="0"/>
              <a:t>n general o </a:t>
            </a:r>
            <a:r>
              <a:rPr lang="en-US" dirty="0" err="1" smtClean="0"/>
              <a:t>singur</a:t>
            </a:r>
            <a:r>
              <a:rPr lang="ro-MD" dirty="0" smtClean="0"/>
              <a:t>ă</a:t>
            </a:r>
            <a:r>
              <a:rPr lang="en-US" dirty="0" smtClean="0"/>
              <a:t> leg</a:t>
            </a:r>
            <a:r>
              <a:rPr lang="ro-MD" dirty="0" smtClean="0"/>
              <a:t>ă</a:t>
            </a:r>
            <a:r>
              <a:rPr lang="en-US" dirty="0" err="1" smtClean="0"/>
              <a:t>tur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fizic</a:t>
            </a:r>
            <a:r>
              <a:rPr lang="ro-MD" dirty="0" smtClean="0"/>
              <a:t>ă</a:t>
            </a:r>
            <a:r>
              <a:rPr lang="en-US" dirty="0" smtClean="0"/>
              <a:t> la re</a:t>
            </a:r>
            <a:r>
              <a:rPr lang="ro-MD" dirty="0" smtClean="0"/>
              <a:t>ț</a:t>
            </a:r>
            <a:r>
              <a:rPr lang="en-US" dirty="0" smtClean="0"/>
              <a:t>ea.</a:t>
            </a:r>
            <a:endParaRPr lang="ro-MD" dirty="0" smtClean="0"/>
          </a:p>
          <a:p>
            <a:r>
              <a:rPr lang="ro-MD" dirty="0" err="1" smtClean="0"/>
              <a:t>P</a:t>
            </a:r>
            <a:r>
              <a:rPr lang="en-US" dirty="0" smtClean="0"/>
              <a:t>e un calculator pot </a:t>
            </a:r>
            <a:r>
              <a:rPr lang="en-US" dirty="0" err="1" smtClean="0"/>
              <a:t>exista</a:t>
            </a:r>
            <a:r>
              <a:rPr lang="en-US" dirty="0" smtClean="0"/>
              <a:t> </a:t>
            </a:r>
            <a:r>
              <a:rPr lang="en-US" dirty="0" err="1" smtClean="0"/>
              <a:t>concurent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multe</a:t>
            </a:r>
            <a:r>
              <a:rPr lang="ro-MD" dirty="0" smtClean="0"/>
              <a:t> </a:t>
            </a:r>
            <a:r>
              <a:rPr lang="en-US" dirty="0" err="1" smtClean="0"/>
              <a:t>procese</a:t>
            </a:r>
            <a:r>
              <a:rPr lang="en-US" dirty="0" smtClean="0"/>
              <a:t> care au </a:t>
            </a:r>
            <a:r>
              <a:rPr lang="en-US" dirty="0" err="1" smtClean="0"/>
              <a:t>stabilite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re</a:t>
            </a:r>
            <a:r>
              <a:rPr lang="ro-MD" dirty="0" smtClean="0"/>
              <a:t>ț</a:t>
            </a:r>
            <a:r>
              <a:rPr lang="en-US" dirty="0" smtClean="0"/>
              <a:t>ea, </a:t>
            </a:r>
            <a:r>
              <a:rPr lang="en-US" dirty="0" err="1" smtClean="0"/>
              <a:t>astept</a:t>
            </a:r>
            <a:r>
              <a:rPr lang="ro-MD" dirty="0" smtClean="0"/>
              <a:t>î</a:t>
            </a:r>
            <a:r>
              <a:rPr lang="en-US" dirty="0" err="1" smtClean="0"/>
              <a:t>nd</a:t>
            </a:r>
            <a:r>
              <a:rPr lang="en-US" dirty="0" smtClean="0"/>
              <a:t> diverse </a:t>
            </a:r>
            <a:r>
              <a:rPr lang="en-US" dirty="0" err="1" smtClean="0"/>
              <a:t>informa</a:t>
            </a:r>
            <a:r>
              <a:rPr lang="ro-MD" dirty="0" smtClean="0"/>
              <a:t>ț</a:t>
            </a:r>
            <a:r>
              <a:rPr lang="en-US" dirty="0" smtClean="0"/>
              <a:t>ii.</a:t>
            </a:r>
            <a:endParaRPr lang="ro-MD" dirty="0" smtClean="0"/>
          </a:p>
          <a:p>
            <a:r>
              <a:rPr lang="en-US" dirty="0" err="1" smtClean="0"/>
              <a:t>Identificarea</a:t>
            </a:r>
            <a:r>
              <a:rPr lang="en-US" dirty="0" smtClean="0"/>
              <a:t> </a:t>
            </a:r>
            <a:r>
              <a:rPr lang="en-US" dirty="0" err="1" smtClean="0"/>
              <a:t>proceselor</a:t>
            </a:r>
            <a:r>
              <a:rPr lang="en-US" dirty="0" smtClean="0"/>
              <a:t> se </a:t>
            </a:r>
            <a:r>
              <a:rPr lang="en-US" dirty="0" err="1" smtClean="0"/>
              <a:t>realizeaz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</a:t>
            </a:r>
            <a:r>
              <a:rPr lang="ro-MD" dirty="0" smtClean="0"/>
              <a:t>e</a:t>
            </a:r>
            <a:r>
              <a:rPr lang="en-US" dirty="0" err="1" smtClean="0"/>
              <a:t>diul</a:t>
            </a:r>
            <a:r>
              <a:rPr lang="en-US" dirty="0" smtClean="0"/>
              <a:t> </a:t>
            </a:r>
            <a:r>
              <a:rPr lang="en-US" b="1" dirty="0" err="1" smtClean="0"/>
              <a:t>porturilor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smtClean="0"/>
              <a:t>Un port </a:t>
            </a:r>
            <a:r>
              <a:rPr lang="en-US" dirty="0" err="1" smtClean="0"/>
              <a:t>este</a:t>
            </a:r>
            <a:r>
              <a:rPr lang="en-US" dirty="0" smtClean="0"/>
              <a:t> un num</a:t>
            </a:r>
            <a:r>
              <a:rPr lang="ro-MD" dirty="0" smtClean="0"/>
              <a:t>ă</a:t>
            </a:r>
            <a:r>
              <a:rPr lang="en-US" dirty="0" smtClean="0"/>
              <a:t>r </a:t>
            </a:r>
            <a:r>
              <a:rPr lang="en-US" dirty="0" err="1" smtClean="0"/>
              <a:t>pe</a:t>
            </a:r>
            <a:r>
              <a:rPr lang="en-US" dirty="0" smtClean="0"/>
              <a:t> 16 bi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ro-MD" dirty="0" smtClean="0"/>
              <a:t>(între </a:t>
            </a:r>
            <a:r>
              <a:rPr lang="en-US" dirty="0" smtClean="0"/>
              <a:t>0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65535</a:t>
            </a:r>
            <a:r>
              <a:rPr lang="ro-MD" dirty="0" smtClean="0"/>
              <a:t>) </a:t>
            </a:r>
            <a:r>
              <a:rPr lang="en-US" dirty="0" smtClean="0"/>
              <a:t>care </a:t>
            </a:r>
            <a:r>
              <a:rPr lang="en-US" dirty="0" err="1" smtClean="0"/>
              <a:t>identific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mod </a:t>
            </a:r>
            <a:r>
              <a:rPr lang="en-US" dirty="0" err="1" smtClean="0"/>
              <a:t>unic</a:t>
            </a:r>
            <a:r>
              <a:rPr lang="en-US" dirty="0" smtClean="0"/>
              <a:t> </a:t>
            </a:r>
            <a:r>
              <a:rPr lang="en-US" dirty="0" err="1" smtClean="0"/>
              <a:t>procesele</a:t>
            </a:r>
            <a:r>
              <a:rPr lang="ro-MD" dirty="0" smtClean="0"/>
              <a:t> </a:t>
            </a:r>
            <a:r>
              <a:rPr lang="en-US" dirty="0" smtClean="0"/>
              <a:t>care </a:t>
            </a:r>
            <a:r>
              <a:rPr lang="en-US" dirty="0" err="1" smtClean="0"/>
              <a:t>ruleaz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o </a:t>
            </a:r>
            <a:r>
              <a:rPr lang="en-US" dirty="0" err="1" smtClean="0"/>
              <a:t>anumit</a:t>
            </a:r>
            <a:r>
              <a:rPr lang="ro-MD" dirty="0" smtClean="0"/>
              <a:t>ă</a:t>
            </a:r>
            <a:r>
              <a:rPr lang="en-US" dirty="0" smtClean="0"/>
              <a:t> ma</a:t>
            </a:r>
            <a:r>
              <a:rPr lang="ro-MD" dirty="0" smtClean="0"/>
              <a:t>ș</a:t>
            </a:r>
            <a:r>
              <a:rPr lang="en-US" dirty="0" smtClean="0"/>
              <a:t>in</a:t>
            </a:r>
            <a:r>
              <a:rPr lang="ro-MD" dirty="0" smtClean="0"/>
              <a:t>ă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it-IT" dirty="0" smtClean="0"/>
              <a:t>numerele cuprinse </a:t>
            </a:r>
            <a:r>
              <a:rPr lang="ro-MD" dirty="0" smtClean="0"/>
              <a:t>î</a:t>
            </a:r>
            <a:r>
              <a:rPr lang="it-IT" dirty="0" smtClean="0"/>
              <a:t>ntre 0 </a:t>
            </a:r>
            <a:r>
              <a:rPr lang="ro-MD" dirty="0" smtClean="0"/>
              <a:t>ș</a:t>
            </a:r>
            <a:r>
              <a:rPr lang="it-IT" dirty="0" smtClean="0"/>
              <a:t>i 1023 fiind</a:t>
            </a:r>
            <a:r>
              <a:rPr lang="ro-MD" dirty="0" smtClean="0"/>
              <a:t> î</a:t>
            </a:r>
            <a:r>
              <a:rPr lang="en-US" dirty="0" smtClean="0"/>
              <a:t>ns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rezervate</a:t>
            </a:r>
            <a:r>
              <a:rPr lang="en-US" dirty="0" smtClean="0"/>
              <a:t> </a:t>
            </a:r>
            <a:r>
              <a:rPr lang="en-US" dirty="0" err="1" smtClean="0"/>
              <a:t>unor</a:t>
            </a:r>
            <a:r>
              <a:rPr lang="en-US" dirty="0" smtClean="0"/>
              <a:t> </a:t>
            </a:r>
            <a:r>
              <a:rPr lang="en-US" dirty="0" err="1" smtClean="0"/>
              <a:t>servicii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ro-MD" dirty="0" smtClean="0"/>
              <a:t>, de aceea nu se folosesc.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654164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Clasele</a:t>
            </a:r>
            <a:r>
              <a:rPr lang="en-US" dirty="0" smtClean="0"/>
              <a:t> din </a:t>
            </a:r>
            <a:r>
              <a:rPr lang="en-US" b="1" dirty="0" smtClean="0"/>
              <a:t>java.net</a:t>
            </a:r>
            <a:r>
              <a:rPr lang="en-US" dirty="0" smtClean="0"/>
              <a:t> permit </a:t>
            </a:r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ntre</a:t>
            </a:r>
            <a:r>
              <a:rPr lang="en-US" dirty="0" smtClean="0"/>
              <a:t> </a:t>
            </a:r>
            <a:r>
              <a:rPr lang="en-US" dirty="0" err="1" smtClean="0"/>
              <a:t>procese</a:t>
            </a:r>
            <a:r>
              <a:rPr lang="en-US" dirty="0" smtClean="0"/>
              <a:t> 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protocoalele</a:t>
            </a:r>
            <a:r>
              <a:rPr lang="ro-MD" dirty="0" smtClean="0"/>
              <a:t> </a:t>
            </a:r>
            <a:r>
              <a:rPr lang="it-IT" i="1" dirty="0" smtClean="0"/>
              <a:t>TCP</a:t>
            </a:r>
            <a:r>
              <a:rPr lang="it-IT" dirty="0" smtClean="0"/>
              <a:t> </a:t>
            </a:r>
            <a:r>
              <a:rPr lang="ro-MD" dirty="0" smtClean="0"/>
              <a:t>ș</a:t>
            </a:r>
            <a:r>
              <a:rPr lang="it-IT" dirty="0" smtClean="0"/>
              <a:t>i </a:t>
            </a:r>
            <a:r>
              <a:rPr lang="it-IT" i="1" dirty="0" smtClean="0"/>
              <a:t>UDP</a:t>
            </a:r>
            <a:r>
              <a:rPr lang="it-IT" dirty="0" smtClean="0"/>
              <a:t> </a:t>
            </a:r>
            <a:r>
              <a:rPr lang="ro-MD" dirty="0" smtClean="0"/>
              <a:t>ș</a:t>
            </a:r>
            <a:r>
              <a:rPr lang="it-IT" dirty="0" smtClean="0"/>
              <a:t>i s</a:t>
            </a:r>
            <a:r>
              <a:rPr lang="ro-MD" dirty="0" smtClean="0"/>
              <a:t>î</a:t>
            </a:r>
            <a:r>
              <a:rPr lang="it-IT" dirty="0" smtClean="0"/>
              <a:t>nt prezentate </a:t>
            </a:r>
            <a:r>
              <a:rPr lang="ro-MD" dirty="0" smtClean="0"/>
              <a:t>î</a:t>
            </a:r>
            <a:r>
              <a:rPr lang="it-IT" dirty="0" smtClean="0"/>
              <a:t>n tabelul de mai jos</a:t>
            </a:r>
            <a:r>
              <a:rPr lang="ro-MD" dirty="0" smtClean="0"/>
              <a:t>: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0981" t="28846" r="22035" b="21703"/>
          <a:stretch>
            <a:fillRect/>
          </a:stretch>
        </p:blipFill>
        <p:spPr bwMode="auto">
          <a:xfrm>
            <a:off x="214282" y="2571744"/>
            <a:ext cx="871543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Termenul</a:t>
            </a:r>
            <a:r>
              <a:rPr lang="en-US" dirty="0" smtClean="0"/>
              <a:t> </a:t>
            </a:r>
            <a:r>
              <a:rPr lang="en-US" b="1" dirty="0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acronimul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i="1" dirty="0" smtClean="0"/>
              <a:t>Uniform Resource Locator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reprezint</a:t>
            </a:r>
            <a:r>
              <a:rPr lang="ro-MD" dirty="0" smtClean="0"/>
              <a:t>ă </a:t>
            </a:r>
            <a:r>
              <a:rPr lang="en-US" dirty="0" smtClean="0"/>
              <a:t>o </a:t>
            </a:r>
            <a:r>
              <a:rPr lang="en-US" dirty="0" err="1" smtClean="0"/>
              <a:t>referin</a:t>
            </a:r>
            <a:r>
              <a:rPr lang="ro-MD" dirty="0" smtClean="0"/>
              <a:t>ță</a:t>
            </a:r>
            <a:r>
              <a:rPr lang="en-US" dirty="0" smtClean="0"/>
              <a:t> (</a:t>
            </a:r>
            <a:r>
              <a:rPr lang="en-US" dirty="0" err="1" smtClean="0"/>
              <a:t>adres</a:t>
            </a:r>
            <a:r>
              <a:rPr lang="ro-MD" dirty="0" smtClean="0"/>
              <a:t>ă</a:t>
            </a:r>
            <a:r>
              <a:rPr lang="en-US" dirty="0" smtClean="0"/>
              <a:t>) la o </a:t>
            </a:r>
            <a:r>
              <a:rPr lang="en-US" dirty="0" err="1" smtClean="0"/>
              <a:t>resurs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aflat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Internet.</a:t>
            </a:r>
            <a:endParaRPr lang="ro-MD" dirty="0" smtClean="0"/>
          </a:p>
          <a:p>
            <a:r>
              <a:rPr lang="ro-MD" dirty="0" smtClean="0"/>
              <a:t>U</a:t>
            </a:r>
            <a:r>
              <a:rPr lang="it-IT" dirty="0" smtClean="0"/>
              <a:t>n URL are dou</a:t>
            </a:r>
            <a:r>
              <a:rPr lang="ro-MD" dirty="0" smtClean="0"/>
              <a:t>ă</a:t>
            </a:r>
            <a:r>
              <a:rPr lang="it-IT" dirty="0" smtClean="0"/>
              <a:t> componente</a:t>
            </a:r>
            <a:r>
              <a:rPr lang="ro-MD" dirty="0" smtClean="0"/>
              <a:t> </a:t>
            </a:r>
            <a:r>
              <a:rPr lang="en-US" dirty="0" err="1" smtClean="0"/>
              <a:t>principale</a:t>
            </a:r>
            <a:r>
              <a:rPr lang="en-US" dirty="0" smtClean="0"/>
              <a:t>:</a:t>
            </a:r>
            <a:endParaRPr lang="ro-MD" dirty="0" smtClean="0"/>
          </a:p>
          <a:p>
            <a:pPr lvl="1"/>
            <a:r>
              <a:rPr lang="en-US" i="1" dirty="0" err="1" smtClean="0"/>
              <a:t>Identificatorul</a:t>
            </a:r>
            <a:r>
              <a:rPr lang="en-US" i="1" dirty="0" smtClean="0"/>
              <a:t> </a:t>
            </a:r>
            <a:r>
              <a:rPr lang="en-US" i="1" dirty="0" err="1" smtClean="0"/>
              <a:t>protocolului</a:t>
            </a:r>
            <a:r>
              <a:rPr lang="en-US" i="1" dirty="0" smtClean="0"/>
              <a:t> </a:t>
            </a:r>
            <a:r>
              <a:rPr lang="en-US" i="1" dirty="0" err="1" smtClean="0"/>
              <a:t>folosit</a:t>
            </a:r>
            <a:r>
              <a:rPr lang="en-US" dirty="0" smtClean="0"/>
              <a:t> (http, ftp, etc);</a:t>
            </a:r>
            <a:endParaRPr lang="ro-MD" dirty="0" smtClean="0"/>
          </a:p>
          <a:p>
            <a:pPr lvl="1"/>
            <a:r>
              <a:rPr lang="en-US" i="1" dirty="0" err="1" smtClean="0"/>
              <a:t>Numele</a:t>
            </a:r>
            <a:r>
              <a:rPr lang="en-US" i="1" dirty="0" smtClean="0"/>
              <a:t> </a:t>
            </a:r>
            <a:r>
              <a:rPr lang="en-US" i="1" dirty="0" err="1" smtClean="0"/>
              <a:t>resursei</a:t>
            </a:r>
            <a:r>
              <a:rPr lang="en-US" i="1" dirty="0" smtClean="0"/>
              <a:t> </a:t>
            </a:r>
            <a:r>
              <a:rPr lang="en-US" i="1" dirty="0" err="1" smtClean="0"/>
              <a:t>referite</a:t>
            </a:r>
            <a:r>
              <a:rPr lang="en-US" dirty="0" smtClean="0"/>
              <a:t>. </a:t>
            </a:r>
            <a:endParaRPr lang="ro-MD" dirty="0" smtClean="0"/>
          </a:p>
          <a:p>
            <a:r>
              <a:rPr lang="en-US" dirty="0" err="1" smtClean="0"/>
              <a:t>Clasa</a:t>
            </a:r>
            <a:r>
              <a:rPr lang="en-US" dirty="0" smtClean="0"/>
              <a:t> care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lucrul</a:t>
            </a:r>
            <a:r>
              <a:rPr lang="en-US" dirty="0" smtClean="0"/>
              <a:t> cu </a:t>
            </a:r>
            <a:r>
              <a:rPr lang="en-US" b="1" dirty="0" smtClean="0"/>
              <a:t>URL</a:t>
            </a:r>
            <a:r>
              <a:rPr lang="en-US" dirty="0" smtClean="0"/>
              <a:t>-</a:t>
            </a:r>
            <a:r>
              <a:rPr lang="en-US" dirty="0" err="1" smtClean="0"/>
              <a:t>uri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i="1" dirty="0" err="1" smtClean="0"/>
              <a:t>java.net.URL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3900" dirty="0" smtClean="0"/>
              <a:t>Un </a:t>
            </a:r>
            <a:r>
              <a:rPr lang="en-US" sz="3900" dirty="0" err="1" smtClean="0"/>
              <a:t>obiect</a:t>
            </a:r>
            <a:r>
              <a:rPr lang="en-US" sz="3900" dirty="0" smtClean="0"/>
              <a:t> de tip </a:t>
            </a:r>
            <a:r>
              <a:rPr lang="en-US" sz="3900" b="1" dirty="0" smtClean="0"/>
              <a:t>URL</a:t>
            </a:r>
            <a:r>
              <a:rPr lang="en-US" sz="3900" dirty="0" smtClean="0"/>
              <a:t> </a:t>
            </a:r>
            <a:r>
              <a:rPr lang="en-US" sz="3900" dirty="0" err="1" smtClean="0"/>
              <a:t>poate</a:t>
            </a:r>
            <a:r>
              <a:rPr lang="en-US" sz="3900" dirty="0" smtClean="0"/>
              <a:t> </a:t>
            </a:r>
            <a:r>
              <a:rPr lang="en-US" sz="3900" dirty="0" err="1" smtClean="0"/>
              <a:t>fi</a:t>
            </a:r>
            <a:r>
              <a:rPr lang="en-US" sz="3900" dirty="0" smtClean="0"/>
              <a:t> </a:t>
            </a:r>
            <a:r>
              <a:rPr lang="en-US" sz="3900" dirty="0" err="1" smtClean="0"/>
              <a:t>folosit</a:t>
            </a:r>
            <a:r>
              <a:rPr lang="en-US" sz="3900" dirty="0" smtClean="0"/>
              <a:t> </a:t>
            </a:r>
            <a:r>
              <a:rPr lang="en-US" sz="3900" dirty="0" err="1" smtClean="0"/>
              <a:t>pentru</a:t>
            </a:r>
            <a:r>
              <a:rPr lang="en-US" sz="3900" dirty="0" smtClean="0"/>
              <a:t>:</a:t>
            </a: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Aflarea</a:t>
            </a:r>
            <a:r>
              <a:rPr lang="en-US" dirty="0" smtClean="0"/>
              <a:t> </a:t>
            </a:r>
            <a:r>
              <a:rPr lang="en-US" dirty="0" err="1" smtClean="0"/>
              <a:t>informa</a:t>
            </a:r>
            <a:r>
              <a:rPr lang="ro-MD" dirty="0" smtClean="0"/>
              <a:t>ț</a:t>
            </a:r>
            <a:r>
              <a:rPr lang="en-US" dirty="0" err="1" smtClean="0"/>
              <a:t>iilor</a:t>
            </a:r>
            <a:r>
              <a:rPr lang="en-US" dirty="0" smtClean="0"/>
              <a:t> </a:t>
            </a:r>
            <a:r>
              <a:rPr lang="en-US" dirty="0" err="1" smtClean="0"/>
              <a:t>despre</a:t>
            </a:r>
            <a:r>
              <a:rPr lang="en-US" dirty="0" smtClean="0"/>
              <a:t> </a:t>
            </a:r>
            <a:r>
              <a:rPr lang="en-US" dirty="0" err="1" smtClean="0"/>
              <a:t>resursa</a:t>
            </a:r>
            <a:r>
              <a:rPr lang="en-US" dirty="0" smtClean="0"/>
              <a:t> </a:t>
            </a:r>
            <a:r>
              <a:rPr lang="en-US" dirty="0" err="1" smtClean="0"/>
              <a:t>referit</a:t>
            </a:r>
            <a:r>
              <a:rPr lang="ro-MD" dirty="0" smtClean="0"/>
              <a:t>ă</a:t>
            </a:r>
            <a:r>
              <a:rPr lang="en-US" dirty="0" smtClean="0"/>
              <a:t> (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calculatorului</a:t>
            </a:r>
            <a:r>
              <a:rPr lang="en-US" dirty="0" smtClean="0"/>
              <a:t> </a:t>
            </a:r>
            <a:r>
              <a:rPr lang="en-US" dirty="0" err="1" smtClean="0"/>
              <a:t>gazd</a:t>
            </a:r>
            <a:r>
              <a:rPr lang="ro-MD" dirty="0" smtClean="0"/>
              <a:t>ă</a:t>
            </a:r>
            <a:r>
              <a:rPr lang="en-US" dirty="0" smtClean="0"/>
              <a:t>,</a:t>
            </a:r>
            <a:r>
              <a:rPr lang="ro-MD" dirty="0" smtClean="0"/>
              <a:t> </a:t>
            </a:r>
            <a:r>
              <a:rPr lang="en-US" dirty="0" err="1" smtClean="0"/>
              <a:t>numele</a:t>
            </a:r>
            <a:r>
              <a:rPr lang="en-US" dirty="0" smtClean="0"/>
              <a:t> </a:t>
            </a:r>
            <a:r>
              <a:rPr lang="en-US" dirty="0" err="1" smtClean="0"/>
              <a:t>fi</a:t>
            </a:r>
            <a:r>
              <a:rPr lang="ro-MD" dirty="0" smtClean="0"/>
              <a:t>ș</a:t>
            </a:r>
            <a:r>
              <a:rPr lang="en-US" dirty="0" err="1" smtClean="0"/>
              <a:t>ierului</a:t>
            </a:r>
            <a:r>
              <a:rPr lang="en-US" dirty="0" smtClean="0"/>
              <a:t>, </a:t>
            </a:r>
            <a:r>
              <a:rPr lang="en-US" dirty="0" err="1" smtClean="0"/>
              <a:t>protocolul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en-US" dirty="0" smtClean="0"/>
              <a:t>. etc).</a:t>
            </a:r>
            <a:endParaRPr lang="ro-MD" dirty="0" smtClean="0"/>
          </a:p>
          <a:p>
            <a:pPr>
              <a:buNone/>
            </a:pPr>
            <a:endParaRPr lang="en-US" sz="1600" dirty="0" smtClean="0"/>
          </a:p>
          <a:p>
            <a:r>
              <a:rPr lang="en-US" dirty="0" err="1" smtClean="0"/>
              <a:t>Citirea</a:t>
            </a:r>
            <a:r>
              <a:rPr lang="en-US" dirty="0" smtClean="0"/>
              <a:t> </a:t>
            </a:r>
            <a:r>
              <a:rPr lang="en-US" dirty="0" err="1" smtClean="0"/>
              <a:t>printr</a:t>
            </a:r>
            <a:r>
              <a:rPr lang="en-US" dirty="0" smtClean="0"/>
              <a:t>-un flux a </a:t>
            </a:r>
            <a:r>
              <a:rPr lang="en-US" dirty="0" err="1" smtClean="0"/>
              <a:t>continutului</a:t>
            </a:r>
            <a:r>
              <a:rPr lang="en-US" dirty="0" smtClean="0"/>
              <a:t> </a:t>
            </a:r>
            <a:r>
              <a:rPr lang="en-US" dirty="0" err="1" smtClean="0"/>
              <a:t>fi</a:t>
            </a:r>
            <a:r>
              <a:rPr lang="ro-MD" dirty="0" smtClean="0"/>
              <a:t>ș</a:t>
            </a:r>
            <a:r>
              <a:rPr lang="en-US" dirty="0" err="1" smtClean="0"/>
              <a:t>ierului</a:t>
            </a:r>
            <a:r>
              <a:rPr lang="en-US" dirty="0" smtClean="0"/>
              <a:t> </a:t>
            </a:r>
            <a:r>
              <a:rPr lang="en-US" dirty="0" err="1" smtClean="0"/>
              <a:t>respectiv</a:t>
            </a:r>
            <a:r>
              <a:rPr lang="en-US" dirty="0" smtClean="0"/>
              <a:t>.</a:t>
            </a:r>
            <a:endParaRPr lang="ro-MD" dirty="0" smtClean="0"/>
          </a:p>
          <a:p>
            <a:pPr>
              <a:buNone/>
            </a:pPr>
            <a:endParaRPr lang="en-US" sz="1600" dirty="0" smtClean="0"/>
          </a:p>
          <a:p>
            <a:r>
              <a:rPr lang="en-US" dirty="0" err="1" smtClean="0"/>
              <a:t>Conectarea</a:t>
            </a:r>
            <a:r>
              <a:rPr lang="en-US" dirty="0" smtClean="0"/>
              <a:t> la </a:t>
            </a:r>
            <a:r>
              <a:rPr lang="en-US" dirty="0" err="1" smtClean="0"/>
              <a:t>acel</a:t>
            </a:r>
            <a:r>
              <a:rPr lang="en-US" dirty="0" smtClean="0"/>
              <a:t> URL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citirea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scrierea</a:t>
            </a:r>
            <a:r>
              <a:rPr lang="en-US" dirty="0" smtClean="0"/>
              <a:t> de </a:t>
            </a:r>
            <a:r>
              <a:rPr lang="en-US" dirty="0" err="1" smtClean="0"/>
              <a:t>informa</a:t>
            </a:r>
            <a:r>
              <a:rPr lang="ro-MD" dirty="0" smtClean="0"/>
              <a:t>ț</a:t>
            </a:r>
            <a:r>
              <a:rPr lang="en-US" dirty="0" smtClean="0"/>
              <a:t>ii.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Crearea obiectului de tip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900" dirty="0" smtClean="0">
                <a:latin typeface="Consolas" pitchFamily="49" charset="0"/>
                <a:cs typeface="Consolas" pitchFamily="49" charset="0"/>
              </a:rPr>
              <a:t>try {</a:t>
            </a:r>
            <a:endParaRPr lang="ro-MD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endParaRPr lang="en-US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MD" sz="29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nn-NO" sz="2900" dirty="0" smtClean="0">
                <a:latin typeface="Consolas" pitchFamily="49" charset="0"/>
                <a:cs typeface="Consolas" pitchFamily="49" charset="0"/>
              </a:rPr>
              <a:t>URL adresa = new URL("http://xyz.abc");</a:t>
            </a:r>
          </a:p>
          <a:p>
            <a:pPr>
              <a:buNone/>
            </a:pPr>
            <a:endParaRPr lang="ro-MD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sz="2900" dirty="0" smtClean="0">
                <a:latin typeface="Consolas" pitchFamily="49" charset="0"/>
                <a:cs typeface="Consolas" pitchFamily="49" charset="0"/>
              </a:rPr>
              <a:t>} catch (</a:t>
            </a:r>
            <a:r>
              <a:rPr lang="en-US" sz="2900" dirty="0" err="1" smtClean="0">
                <a:latin typeface="Consolas" pitchFamily="49" charset="0"/>
                <a:cs typeface="Consolas" pitchFamily="49" charset="0"/>
              </a:rPr>
              <a:t>MalformedURLException</a:t>
            </a:r>
            <a:r>
              <a:rPr lang="en-US" sz="2900" dirty="0" smtClean="0">
                <a:latin typeface="Consolas" pitchFamily="49" charset="0"/>
                <a:cs typeface="Consolas" pitchFamily="49" charset="0"/>
              </a:rPr>
              <a:t> e) {</a:t>
            </a:r>
            <a:endParaRPr lang="ro-MD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endParaRPr lang="en-US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MD" sz="2900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pt-BR" sz="2900" dirty="0" smtClean="0">
                <a:latin typeface="Consolas" pitchFamily="49" charset="0"/>
                <a:cs typeface="Consolas" pitchFamily="49" charset="0"/>
              </a:rPr>
              <a:t>System.err.println("URL invalid!\n“+e);</a:t>
            </a:r>
          </a:p>
          <a:p>
            <a:pPr>
              <a:buNone/>
            </a:pPr>
            <a:endParaRPr lang="ro-MD" sz="2900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US" sz="2900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sz="2900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Citirea</a:t>
            </a:r>
            <a:r>
              <a:rPr lang="en-US" dirty="0" smtClean="0"/>
              <a:t> con</a:t>
            </a:r>
            <a:r>
              <a:rPr lang="ro-MD" dirty="0" smtClean="0"/>
              <a:t>ț</a:t>
            </a:r>
            <a:r>
              <a:rPr lang="en-US" dirty="0" err="1" smtClean="0"/>
              <a:t>inutului</a:t>
            </a:r>
            <a:r>
              <a:rPr lang="en-US" dirty="0" smtClean="0"/>
              <a:t> </a:t>
            </a:r>
            <a:r>
              <a:rPr lang="en-US" dirty="0" err="1" smtClean="0"/>
              <a:t>unui</a:t>
            </a:r>
            <a:r>
              <a:rPr lang="en-US" dirty="0" smtClean="0"/>
              <a:t>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>
                <a:latin typeface="Consolas" pitchFamily="49" charset="0"/>
                <a:cs typeface="Consolas" pitchFamily="49" charset="0"/>
              </a:rPr>
              <a:t>String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adresa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"http://meteo.md";</a:t>
            </a:r>
          </a:p>
          <a:p>
            <a:pPr>
              <a:buNone/>
            </a:pPr>
            <a:r>
              <a:rPr lang="en-US" dirty="0" err="1" smtClean="0">
                <a:latin typeface="Consolas" pitchFamily="49" charset="0"/>
                <a:cs typeface="Consolas" pitchFamily="49" charset="0"/>
              </a:rPr>
              <a:t>BufferedReader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br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null ;</a:t>
            </a:r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try {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URL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url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new URL(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adresa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InputStream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in =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url.openStream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br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new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BufferedReader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 new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InputStreamReader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(in));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String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linie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</a:t>
            </a:r>
          </a:p>
          <a:p>
            <a:pPr>
              <a:buNone/>
            </a:pPr>
            <a:r>
              <a:rPr lang="ro-MD" b="1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while ((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linie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br.readLine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()) != null ) {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//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Afisam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linia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citita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</a:t>
            </a:r>
            <a:r>
              <a:rPr lang="en-US" b="1" i="1" dirty="0" err="1" smtClean="0">
                <a:latin typeface="Consolas" pitchFamily="49" charset="0"/>
                <a:cs typeface="Consolas" pitchFamily="49" charset="0"/>
              </a:rPr>
              <a:t>out.println</a:t>
            </a:r>
            <a:r>
              <a:rPr lang="en-US" b="1" i="1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US" b="1" i="1" dirty="0" err="1" smtClean="0">
                <a:latin typeface="Consolas" pitchFamily="49" charset="0"/>
                <a:cs typeface="Consolas" pitchFamily="49" charset="0"/>
              </a:rPr>
              <a:t>linie</a:t>
            </a:r>
            <a:r>
              <a:rPr lang="en-US" b="1" i="1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catch (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MalformedURLException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e) {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pt-BR" dirty="0" smtClean="0">
                <a:latin typeface="Consolas" pitchFamily="49" charset="0"/>
                <a:cs typeface="Consolas" pitchFamily="49" charset="0"/>
              </a:rPr>
              <a:t>System.</a:t>
            </a:r>
            <a:r>
              <a:rPr lang="pt-BR" b="1" i="1" dirty="0" smtClean="0">
                <a:latin typeface="Consolas" pitchFamily="49" charset="0"/>
                <a:cs typeface="Consolas" pitchFamily="49" charset="0"/>
              </a:rPr>
              <a:t>err.println("URL invalid !\n" + e);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finally {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br.close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>
              <a:buNone/>
            </a:pPr>
            <a:r>
              <a:rPr lang="ro-MD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Socket-uri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Un socket (</a:t>
            </a:r>
            <a:r>
              <a:rPr lang="en-US" dirty="0" err="1" smtClean="0"/>
              <a:t>soclu</a:t>
            </a:r>
            <a:r>
              <a:rPr lang="en-US" dirty="0" smtClean="0"/>
              <a:t>) </a:t>
            </a:r>
            <a:r>
              <a:rPr lang="en-US" dirty="0" err="1" smtClean="0"/>
              <a:t>este</a:t>
            </a:r>
            <a:r>
              <a:rPr lang="en-US" dirty="0" smtClean="0"/>
              <a:t> o </a:t>
            </a:r>
            <a:r>
              <a:rPr lang="en-US" dirty="0" err="1" smtClean="0"/>
              <a:t>abstrac</a:t>
            </a:r>
            <a:r>
              <a:rPr lang="ro-MD" dirty="0" smtClean="0"/>
              <a:t>ț</a:t>
            </a:r>
            <a:r>
              <a:rPr lang="en-US" dirty="0" err="1" smtClean="0"/>
              <a:t>iune</a:t>
            </a:r>
            <a:r>
              <a:rPr lang="en-US" dirty="0" smtClean="0"/>
              <a:t> software </a:t>
            </a:r>
            <a:r>
              <a:rPr lang="en-US" dirty="0" err="1" smtClean="0"/>
              <a:t>folosit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reprezenta</a:t>
            </a:r>
            <a:r>
              <a:rPr lang="ro-MD" dirty="0" smtClean="0"/>
              <a:t> </a:t>
            </a:r>
            <a:r>
              <a:rPr lang="en-US" dirty="0" err="1" smtClean="0"/>
              <a:t>fiecare</a:t>
            </a:r>
            <a:r>
              <a:rPr lang="en-US" dirty="0" smtClean="0"/>
              <a:t> din </a:t>
            </a:r>
            <a:r>
              <a:rPr lang="en-US" dirty="0" err="1" smtClean="0"/>
              <a:t>cele</a:t>
            </a:r>
            <a:r>
              <a:rPr lang="en-US" dirty="0" smtClean="0"/>
              <a:t> </a:t>
            </a:r>
            <a:r>
              <a:rPr lang="en-US" dirty="0" err="1" smtClean="0"/>
              <a:t>dou</a:t>
            </a:r>
            <a:r>
              <a:rPr lang="ro-MD" dirty="0" smtClean="0"/>
              <a:t>ă </a:t>
            </a:r>
            <a:r>
              <a:rPr lang="en-US" dirty="0" smtClean="0"/>
              <a:t>”</a:t>
            </a:r>
            <a:r>
              <a:rPr lang="en-US" dirty="0" err="1" smtClean="0"/>
              <a:t>capete</a:t>
            </a:r>
            <a:r>
              <a:rPr lang="en-US" dirty="0" smtClean="0"/>
              <a:t>” ale </a:t>
            </a:r>
            <a:r>
              <a:rPr lang="en-US" dirty="0" err="1" smtClean="0"/>
              <a:t>unei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ntre</a:t>
            </a:r>
            <a:r>
              <a:rPr lang="en-US" dirty="0" smtClean="0"/>
              <a:t> </a:t>
            </a:r>
            <a:r>
              <a:rPr lang="en-US" dirty="0" err="1" smtClean="0"/>
              <a:t>dou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procese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ruleaz</a:t>
            </a:r>
            <a:r>
              <a:rPr lang="ro-MD" dirty="0" smtClean="0"/>
              <a:t>ă î</a:t>
            </a:r>
            <a:r>
              <a:rPr lang="en-US" dirty="0" err="1" smtClean="0"/>
              <a:t>ntr</a:t>
            </a:r>
            <a:r>
              <a:rPr lang="en-US" dirty="0" smtClean="0"/>
              <a:t>-o re</a:t>
            </a:r>
            <a:r>
              <a:rPr lang="ro-MD" dirty="0" smtClean="0"/>
              <a:t>ț</a:t>
            </a:r>
            <a:r>
              <a:rPr lang="en-US" dirty="0" smtClean="0"/>
              <a:t>ea.</a:t>
            </a:r>
            <a:endParaRPr lang="ro-MD" dirty="0" smtClean="0"/>
          </a:p>
          <a:p>
            <a:r>
              <a:rPr lang="en-US" dirty="0" err="1" smtClean="0"/>
              <a:t>Fiecare</a:t>
            </a:r>
            <a:r>
              <a:rPr lang="en-US" dirty="0" smtClean="0"/>
              <a:t> socket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ata</a:t>
            </a:r>
            <a:r>
              <a:rPr lang="ro-MD" dirty="0" smtClean="0"/>
              <a:t>ș</a:t>
            </a:r>
            <a:r>
              <a:rPr lang="en-US" dirty="0" smtClean="0"/>
              <a:t>at </a:t>
            </a:r>
            <a:r>
              <a:rPr lang="en-US" dirty="0" err="1" smtClean="0"/>
              <a:t>unui</a:t>
            </a:r>
            <a:r>
              <a:rPr lang="en-US" dirty="0" smtClean="0"/>
              <a:t> port </a:t>
            </a:r>
            <a:r>
              <a:rPr lang="en-US" dirty="0" err="1" smtClean="0"/>
              <a:t>astfel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nc</a:t>
            </a:r>
            <a:r>
              <a:rPr lang="ro-MD" dirty="0" smtClean="0"/>
              <a:t>î</a:t>
            </a:r>
            <a:r>
              <a:rPr lang="en-US" dirty="0" smtClean="0"/>
              <a:t>t s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poat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identifica</a:t>
            </a:r>
            <a:r>
              <a:rPr lang="ro-MD" dirty="0" smtClean="0"/>
              <a:t> </a:t>
            </a:r>
            <a:r>
              <a:rPr lang="en-US" dirty="0" err="1" smtClean="0"/>
              <a:t>unic</a:t>
            </a:r>
            <a:r>
              <a:rPr lang="en-US" dirty="0" smtClean="0"/>
              <a:t> </a:t>
            </a:r>
            <a:r>
              <a:rPr lang="en-US" dirty="0" err="1" smtClean="0"/>
              <a:t>programul</a:t>
            </a:r>
            <a:r>
              <a:rPr lang="en-US" dirty="0" smtClean="0"/>
              <a:t> c</a:t>
            </a:r>
            <a:r>
              <a:rPr lang="ro-MD" dirty="0" smtClean="0"/>
              <a:t>ă</a:t>
            </a:r>
            <a:r>
              <a:rPr lang="en-US" dirty="0" err="1" smtClean="0"/>
              <a:t>ruia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i</a:t>
            </a:r>
            <a:r>
              <a:rPr lang="en-US" dirty="0" smtClean="0"/>
              <a:t> s</a:t>
            </a:r>
            <a:r>
              <a:rPr lang="ro-MD" dirty="0" smtClean="0"/>
              <a:t>î</a:t>
            </a:r>
            <a:r>
              <a:rPr lang="en-US" dirty="0" err="1" smtClean="0"/>
              <a:t>nt</a:t>
            </a:r>
            <a:r>
              <a:rPr lang="en-US" dirty="0" smtClean="0"/>
              <a:t> </a:t>
            </a:r>
            <a:r>
              <a:rPr lang="en-US" dirty="0" err="1" smtClean="0"/>
              <a:t>destinate</a:t>
            </a:r>
            <a:r>
              <a:rPr lang="en-US" dirty="0" smtClean="0"/>
              <a:t> </a:t>
            </a:r>
            <a:r>
              <a:rPr lang="en-US" dirty="0" err="1" smtClean="0"/>
              <a:t>datele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sv-SE" dirty="0" smtClean="0"/>
              <a:t>Socket-urile sunt de dou</a:t>
            </a:r>
            <a:r>
              <a:rPr lang="ro-MD" dirty="0" smtClean="0"/>
              <a:t>ă</a:t>
            </a:r>
            <a:r>
              <a:rPr lang="sv-SE" dirty="0" smtClean="0"/>
              <a:t> tipuri:</a:t>
            </a:r>
            <a:endParaRPr lang="ro-MD" dirty="0" smtClean="0"/>
          </a:p>
          <a:p>
            <a:pPr lvl="1"/>
            <a:r>
              <a:rPr lang="en-US" b="1" dirty="0" smtClean="0"/>
              <a:t>TCP</a:t>
            </a:r>
            <a:r>
              <a:rPr lang="en-US" dirty="0" smtClean="0"/>
              <a:t>, </a:t>
            </a:r>
            <a:r>
              <a:rPr lang="en-US" dirty="0" err="1" smtClean="0"/>
              <a:t>implementate</a:t>
            </a:r>
            <a:r>
              <a:rPr lang="en-US" dirty="0" smtClean="0"/>
              <a:t> de </a:t>
            </a:r>
            <a:r>
              <a:rPr lang="en-US" dirty="0" err="1" smtClean="0"/>
              <a:t>clasele</a:t>
            </a:r>
            <a:r>
              <a:rPr lang="en-US" dirty="0" smtClean="0"/>
              <a:t> </a:t>
            </a:r>
            <a:r>
              <a:rPr lang="en-US" i="1" dirty="0" smtClean="0"/>
              <a:t>Socket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i="1" dirty="0" err="1" smtClean="0"/>
              <a:t>ServerSocket</a:t>
            </a:r>
            <a:r>
              <a:rPr lang="en-US" dirty="0" smtClean="0"/>
              <a:t>;</a:t>
            </a:r>
            <a:endParaRPr lang="ro-MD" dirty="0" smtClean="0"/>
          </a:p>
          <a:p>
            <a:pPr lvl="1"/>
            <a:r>
              <a:rPr lang="en-US" b="1" dirty="0" smtClean="0"/>
              <a:t>UDP</a:t>
            </a:r>
            <a:r>
              <a:rPr lang="en-US" dirty="0" smtClean="0"/>
              <a:t>, </a:t>
            </a:r>
            <a:r>
              <a:rPr lang="en-US" dirty="0" err="1" smtClean="0"/>
              <a:t>implementate</a:t>
            </a:r>
            <a:r>
              <a:rPr lang="en-US" dirty="0" smtClean="0"/>
              <a:t> de </a:t>
            </a:r>
            <a:r>
              <a:rPr lang="en-US" dirty="0" err="1" smtClean="0"/>
              <a:t>clasa</a:t>
            </a:r>
            <a:r>
              <a:rPr lang="en-US" dirty="0" smtClean="0"/>
              <a:t> </a:t>
            </a:r>
            <a:r>
              <a:rPr lang="en-US" i="1" dirty="0" err="1" smtClean="0"/>
              <a:t>DatagramSocket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D" dirty="0" smtClean="0"/>
              <a:t>Aplicații client-server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acest</a:t>
            </a:r>
            <a:r>
              <a:rPr lang="en-US" dirty="0" smtClean="0"/>
              <a:t> model </a:t>
            </a:r>
            <a:r>
              <a:rPr lang="en-US" dirty="0" err="1" smtClean="0"/>
              <a:t>aplica</a:t>
            </a:r>
            <a:r>
              <a:rPr lang="ro-MD" dirty="0" smtClean="0"/>
              <a:t>ț</a:t>
            </a:r>
            <a:r>
              <a:rPr lang="en-US" dirty="0" err="1" smtClean="0"/>
              <a:t>ia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format</a:t>
            </a:r>
            <a:r>
              <a:rPr lang="ro-MD" dirty="0" smtClean="0"/>
              <a:t>ă </a:t>
            </a:r>
            <a:r>
              <a:rPr lang="en-US" dirty="0" smtClean="0"/>
              <a:t>din </a:t>
            </a:r>
            <a:r>
              <a:rPr lang="en-US" dirty="0" err="1" smtClean="0"/>
              <a:t>dou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categorii</a:t>
            </a:r>
            <a:r>
              <a:rPr lang="en-US" dirty="0" smtClean="0"/>
              <a:t> </a:t>
            </a:r>
            <a:r>
              <a:rPr lang="en-US" dirty="0" err="1" smtClean="0"/>
              <a:t>distincte</a:t>
            </a:r>
            <a:r>
              <a:rPr lang="en-US" dirty="0" smtClean="0"/>
              <a:t> de </a:t>
            </a:r>
            <a:r>
              <a:rPr lang="en-US" dirty="0" err="1" smtClean="0"/>
              <a:t>programe</a:t>
            </a:r>
            <a:r>
              <a:rPr lang="en-US" dirty="0" smtClean="0"/>
              <a:t> </a:t>
            </a:r>
            <a:r>
              <a:rPr lang="en-US" dirty="0" err="1" smtClean="0"/>
              <a:t>numite</a:t>
            </a:r>
            <a:r>
              <a:rPr lang="en-US" dirty="0" smtClean="0"/>
              <a:t> </a:t>
            </a:r>
            <a:r>
              <a:rPr lang="en-US" dirty="0" err="1" smtClean="0"/>
              <a:t>servere</a:t>
            </a:r>
            <a:r>
              <a:rPr lang="en-US" dirty="0" smtClean="0"/>
              <a:t>, </a:t>
            </a:r>
            <a:r>
              <a:rPr lang="en-US" dirty="0" err="1" smtClean="0"/>
              <a:t>respectiv</a:t>
            </a:r>
            <a:r>
              <a:rPr lang="en-US" dirty="0" smtClean="0"/>
              <a:t> </a:t>
            </a:r>
            <a:r>
              <a:rPr lang="en-US" dirty="0" err="1" smtClean="0"/>
              <a:t>clien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b="1" dirty="0" err="1" smtClean="0"/>
              <a:t>Programele</a:t>
            </a:r>
            <a:r>
              <a:rPr lang="en-US" b="1" dirty="0" smtClean="0"/>
              <a:t> de tip server</a:t>
            </a:r>
            <a:r>
              <a:rPr lang="en-US" dirty="0" smtClean="0"/>
              <a:t> s</a:t>
            </a:r>
            <a:r>
              <a:rPr lang="ro-MD" dirty="0" smtClean="0"/>
              <a:t>î</a:t>
            </a:r>
            <a:r>
              <a:rPr lang="en-US" dirty="0" err="1" smtClean="0"/>
              <a:t>nt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care </a:t>
            </a:r>
            <a:r>
              <a:rPr lang="en-US" dirty="0" err="1" smtClean="0"/>
              <a:t>ofer</a:t>
            </a:r>
            <a:r>
              <a:rPr lang="ro-MD" dirty="0" smtClean="0"/>
              <a:t>ă</a:t>
            </a:r>
            <a:r>
              <a:rPr lang="en-US" dirty="0" smtClean="0"/>
              <a:t> diverse </a:t>
            </a:r>
            <a:r>
              <a:rPr lang="en-US" dirty="0" err="1" smtClean="0"/>
              <a:t>servicii</a:t>
            </a:r>
            <a:r>
              <a:rPr lang="en-US" dirty="0" smtClean="0"/>
              <a:t> </a:t>
            </a:r>
            <a:r>
              <a:rPr lang="en-US" dirty="0" err="1" smtClean="0"/>
              <a:t>eventualilor</a:t>
            </a:r>
            <a:r>
              <a:rPr lang="ro-MD" dirty="0" smtClean="0"/>
              <a:t> </a:t>
            </a:r>
            <a:r>
              <a:rPr lang="en-US" dirty="0" err="1" smtClean="0"/>
              <a:t>clien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fiind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stare de a</a:t>
            </a:r>
            <a:r>
              <a:rPr lang="ro-MD" dirty="0" smtClean="0"/>
              <a:t>ș</a:t>
            </a:r>
            <a:r>
              <a:rPr lang="en-US" dirty="0" err="1" smtClean="0"/>
              <a:t>teptare</a:t>
            </a:r>
            <a:r>
              <a:rPr lang="en-US" dirty="0" smtClean="0"/>
              <a:t> at</a:t>
            </a:r>
            <a:r>
              <a:rPr lang="ro-MD" dirty="0" smtClean="0"/>
              <a:t>î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vreme</a:t>
            </a:r>
            <a:r>
              <a:rPr lang="en-US" dirty="0" smtClean="0"/>
              <a:t> c</a:t>
            </a:r>
            <a:r>
              <a:rPr lang="ro-MD" dirty="0" smtClean="0"/>
              <a:t>î</a:t>
            </a:r>
            <a:r>
              <a:rPr lang="en-US" dirty="0" smtClean="0"/>
              <a:t>t </a:t>
            </a:r>
            <a:r>
              <a:rPr lang="en-US" dirty="0" err="1" smtClean="0"/>
              <a:t>nici</a:t>
            </a:r>
            <a:r>
              <a:rPr lang="en-US" dirty="0" smtClean="0"/>
              <a:t> un client nu le solicit</a:t>
            </a:r>
            <a:r>
              <a:rPr lang="ro-MD" dirty="0" smtClean="0"/>
              <a:t>ă </a:t>
            </a:r>
            <a:r>
              <a:rPr lang="en-US" dirty="0" err="1" smtClean="0"/>
              <a:t>serviciile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b="1" dirty="0" err="1" smtClean="0"/>
              <a:t>Programele</a:t>
            </a:r>
            <a:r>
              <a:rPr lang="en-US" b="1" dirty="0" smtClean="0"/>
              <a:t> de tip client</a:t>
            </a:r>
            <a:r>
              <a:rPr lang="en-US" dirty="0" smtClean="0"/>
              <a:t> s</a:t>
            </a:r>
            <a:r>
              <a:rPr lang="ro-MD" dirty="0" smtClean="0"/>
              <a:t>î</a:t>
            </a:r>
            <a:r>
              <a:rPr lang="en-US" dirty="0" err="1" smtClean="0"/>
              <a:t>nt</a:t>
            </a:r>
            <a:r>
              <a:rPr lang="en-US" dirty="0" smtClean="0"/>
              <a:t> </a:t>
            </a:r>
            <a:r>
              <a:rPr lang="en-US" dirty="0" err="1" smtClean="0"/>
              <a:t>cele</a:t>
            </a:r>
            <a:r>
              <a:rPr lang="en-US" dirty="0" smtClean="0"/>
              <a:t> care </a:t>
            </a:r>
            <a:r>
              <a:rPr lang="en-US" dirty="0" err="1" smtClean="0"/>
              <a:t>ini</a:t>
            </a:r>
            <a:r>
              <a:rPr lang="ro-MD" dirty="0" smtClean="0"/>
              <a:t>ț</a:t>
            </a:r>
            <a:r>
              <a:rPr lang="en-US" dirty="0" err="1" smtClean="0"/>
              <a:t>iaz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conversa</a:t>
            </a:r>
            <a:r>
              <a:rPr lang="ro-MD" dirty="0" smtClean="0"/>
              <a:t>ț</a:t>
            </a:r>
            <a:r>
              <a:rPr lang="en-US" dirty="0" err="1" smtClean="0"/>
              <a:t>ia</a:t>
            </a:r>
            <a:r>
              <a:rPr lang="en-US" dirty="0" smtClean="0"/>
              <a:t> cu un</a:t>
            </a:r>
            <a:r>
              <a:rPr lang="ro-MD" dirty="0" smtClean="0"/>
              <a:t> </a:t>
            </a:r>
            <a:r>
              <a:rPr lang="en-US" dirty="0" smtClean="0"/>
              <a:t>server, solicit</a:t>
            </a:r>
            <a:r>
              <a:rPr lang="ro-MD" dirty="0" smtClean="0"/>
              <a:t>î</a:t>
            </a:r>
            <a:r>
              <a:rPr lang="en-US" dirty="0" err="1" smtClean="0"/>
              <a:t>nd</a:t>
            </a:r>
            <a:r>
              <a:rPr lang="en-US" dirty="0" smtClean="0"/>
              <a:t> un </a:t>
            </a:r>
            <a:r>
              <a:rPr lang="en-US" dirty="0" err="1" smtClean="0"/>
              <a:t>anumit</a:t>
            </a:r>
            <a:r>
              <a:rPr lang="en-US" dirty="0" smtClean="0"/>
              <a:t> </a:t>
            </a:r>
            <a:r>
              <a:rPr lang="en-US" dirty="0" err="1" smtClean="0"/>
              <a:t>serviciu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i="1" dirty="0" smtClean="0"/>
              <a:t>U</a:t>
            </a:r>
            <a:r>
              <a:rPr lang="en-US" i="1" dirty="0" smtClean="0"/>
              <a:t>n server </a:t>
            </a:r>
            <a:r>
              <a:rPr lang="en-US" i="1" dirty="0" err="1" smtClean="0"/>
              <a:t>trebuie</a:t>
            </a:r>
            <a:r>
              <a:rPr lang="en-US" i="1" dirty="0" smtClean="0"/>
              <a:t> s</a:t>
            </a:r>
            <a:r>
              <a:rPr lang="ro-MD" i="1" dirty="0" smtClean="0"/>
              <a:t>ă</a:t>
            </a:r>
            <a:r>
              <a:rPr lang="en-US" i="1" dirty="0" smtClean="0"/>
              <a:t> fie </a:t>
            </a:r>
            <a:r>
              <a:rPr lang="en-US" i="1" dirty="0" err="1" smtClean="0"/>
              <a:t>capabil</a:t>
            </a:r>
            <a:r>
              <a:rPr lang="en-US" i="1" dirty="0" smtClean="0"/>
              <a:t> s</a:t>
            </a:r>
            <a:r>
              <a:rPr lang="ro-MD" i="1" dirty="0" smtClean="0"/>
              <a:t>ă </a:t>
            </a:r>
            <a:r>
              <a:rPr lang="it-IT" i="1" dirty="0" smtClean="0"/>
              <a:t>trateze mai mul</a:t>
            </a:r>
            <a:r>
              <a:rPr lang="ro-MD" i="1" dirty="0" smtClean="0"/>
              <a:t>ț</a:t>
            </a:r>
            <a:r>
              <a:rPr lang="it-IT" i="1" dirty="0" smtClean="0"/>
              <a:t>i clien</a:t>
            </a:r>
            <a:r>
              <a:rPr lang="ro-MD" i="1" dirty="0" smtClean="0"/>
              <a:t>ț</a:t>
            </a:r>
            <a:r>
              <a:rPr lang="it-IT" i="1" dirty="0" smtClean="0"/>
              <a:t>i simultan </a:t>
            </a:r>
            <a:r>
              <a:rPr lang="ro-MD" i="1" dirty="0" smtClean="0"/>
              <a:t>ș</a:t>
            </a:r>
            <a:r>
              <a:rPr lang="it-IT" i="1" dirty="0" smtClean="0"/>
              <a:t>i, din acest motiv, fiecare cerere adresat</a:t>
            </a:r>
            <a:r>
              <a:rPr lang="ro-MD" i="1" dirty="0" smtClean="0"/>
              <a:t>ă </a:t>
            </a:r>
            <a:r>
              <a:rPr lang="en-US" i="1" dirty="0" err="1" smtClean="0"/>
              <a:t>serverului</a:t>
            </a:r>
            <a:r>
              <a:rPr lang="en-US" i="1" dirty="0" smtClean="0"/>
              <a:t> </a:t>
            </a:r>
            <a:r>
              <a:rPr lang="en-US" i="1" dirty="0" err="1" smtClean="0"/>
              <a:t>va</a:t>
            </a:r>
            <a:r>
              <a:rPr lang="en-US" i="1" dirty="0" smtClean="0"/>
              <a:t> </a:t>
            </a:r>
            <a:r>
              <a:rPr lang="en-US" i="1" dirty="0" err="1" smtClean="0"/>
              <a:t>fi</a:t>
            </a:r>
            <a:r>
              <a:rPr lang="en-US" i="1" dirty="0" smtClean="0"/>
              <a:t> </a:t>
            </a:r>
            <a:r>
              <a:rPr lang="en-US" i="1" dirty="0" err="1" smtClean="0"/>
              <a:t>tratat</a:t>
            </a:r>
            <a:r>
              <a:rPr lang="ro-MD" i="1" dirty="0" smtClean="0"/>
              <a:t>ă</a:t>
            </a:r>
            <a:r>
              <a:rPr lang="en-US" i="1" dirty="0" smtClean="0"/>
              <a:t> </a:t>
            </a:r>
            <a:r>
              <a:rPr lang="ro-MD" i="1" dirty="0" smtClean="0"/>
              <a:t>î</a:t>
            </a:r>
            <a:r>
              <a:rPr lang="en-US" i="1" dirty="0" err="1" smtClean="0"/>
              <a:t>ntr</a:t>
            </a:r>
            <a:r>
              <a:rPr lang="en-US" i="1" dirty="0" smtClean="0"/>
              <a:t>-un fir de </a:t>
            </a:r>
            <a:r>
              <a:rPr lang="en-US" i="1" dirty="0" err="1" smtClean="0"/>
              <a:t>execu</a:t>
            </a:r>
            <a:r>
              <a:rPr lang="ro-MD" i="1" dirty="0" smtClean="0"/>
              <a:t>ț</a:t>
            </a:r>
            <a:r>
              <a:rPr lang="en-US" i="1" dirty="0" err="1" smtClean="0"/>
              <a:t>ie</a:t>
            </a:r>
            <a:r>
              <a:rPr lang="en-US" i="1" dirty="0" smtClean="0"/>
              <a:t> </a:t>
            </a:r>
            <a:r>
              <a:rPr lang="en-US" i="1" dirty="0" err="1" smtClean="0"/>
              <a:t>separat</a:t>
            </a:r>
            <a:r>
              <a:rPr lang="en-US" i="1" dirty="0" smtClean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ro-MD" dirty="0" smtClean="0"/>
              <a:t> (TCP/IP)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 smtClean="0"/>
              <a:t>Leg</a:t>
            </a:r>
            <a:r>
              <a:rPr lang="ro-MD" dirty="0" smtClean="0"/>
              <a:t>ă</a:t>
            </a:r>
            <a:r>
              <a:rPr lang="it-IT" dirty="0" smtClean="0"/>
              <a:t>tura </a:t>
            </a:r>
            <a:r>
              <a:rPr lang="ro-MD" dirty="0" smtClean="0"/>
              <a:t>î</a:t>
            </a:r>
            <a:r>
              <a:rPr lang="it-IT" dirty="0" smtClean="0"/>
              <a:t>ntre un client </a:t>
            </a:r>
            <a:r>
              <a:rPr lang="ro-MD" dirty="0" smtClean="0"/>
              <a:t>ș</a:t>
            </a:r>
            <a:r>
              <a:rPr lang="it-IT" dirty="0" smtClean="0"/>
              <a:t>i un server se realizeaz</a:t>
            </a:r>
            <a:r>
              <a:rPr lang="ro-MD" dirty="0" smtClean="0"/>
              <a:t>ă</a:t>
            </a:r>
            <a:r>
              <a:rPr lang="it-IT" dirty="0" smtClean="0"/>
              <a:t> prin intermediul a</a:t>
            </a:r>
            <a:r>
              <a:rPr lang="ro-MD" dirty="0" smtClean="0"/>
              <a:t> </a:t>
            </a:r>
            <a:r>
              <a:rPr lang="en-US" dirty="0" err="1" smtClean="0"/>
              <a:t>dou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obiecte</a:t>
            </a:r>
            <a:r>
              <a:rPr lang="en-US" dirty="0" smtClean="0"/>
              <a:t> de tip Socket, c</a:t>
            </a:r>
            <a:r>
              <a:rPr lang="ro-MD" dirty="0" smtClean="0"/>
              <a:t>î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fiecare</a:t>
            </a:r>
            <a:r>
              <a:rPr lang="en-US" dirty="0" smtClean="0"/>
              <a:t> cap</a:t>
            </a:r>
            <a:r>
              <a:rPr lang="ro-MD" dirty="0" smtClean="0"/>
              <a:t>ă</a:t>
            </a:r>
            <a:r>
              <a:rPr lang="en-US" dirty="0" smtClean="0"/>
              <a:t>t al ”</a:t>
            </a:r>
            <a:r>
              <a:rPr lang="en-US" dirty="0" err="1" smtClean="0"/>
              <a:t>canalului</a:t>
            </a:r>
            <a:r>
              <a:rPr lang="en-US" dirty="0" smtClean="0"/>
              <a:t>”</a:t>
            </a:r>
            <a:r>
              <a:rPr lang="ro-MD" dirty="0" smtClean="0"/>
              <a:t> </a:t>
            </a:r>
            <a:r>
              <a:rPr lang="pt-BR" dirty="0" smtClean="0"/>
              <a:t>de comunica</a:t>
            </a:r>
            <a:r>
              <a:rPr lang="ro-MD" dirty="0" smtClean="0"/>
              <a:t>ț</a:t>
            </a:r>
            <a:r>
              <a:rPr lang="pt-BR" dirty="0" smtClean="0"/>
              <a:t>ie dintre cei doi.</a:t>
            </a:r>
            <a:endParaRPr lang="ro-MD" dirty="0" smtClean="0"/>
          </a:p>
          <a:p>
            <a:r>
              <a:rPr lang="it-IT" dirty="0" smtClean="0"/>
              <a:t>La nivelul clientului crearea socketului se realizeaz</a:t>
            </a:r>
            <a:r>
              <a:rPr lang="ro-MD" dirty="0" smtClean="0"/>
              <a:t>ă</a:t>
            </a:r>
            <a:r>
              <a:rPr lang="it-IT" dirty="0" smtClean="0"/>
              <a:t> specific</a:t>
            </a:r>
            <a:r>
              <a:rPr lang="ro-MD" dirty="0" smtClean="0"/>
              <a:t>î</a:t>
            </a:r>
            <a:r>
              <a:rPr lang="it-IT" dirty="0" smtClean="0"/>
              <a:t>nd adresa IP a serverului </a:t>
            </a:r>
            <a:r>
              <a:rPr lang="ro-MD" dirty="0" smtClean="0"/>
              <a:t>ș</a:t>
            </a:r>
            <a:r>
              <a:rPr lang="it-IT" dirty="0" smtClean="0"/>
              <a:t>i portul la care ruleaz</a:t>
            </a:r>
            <a:r>
              <a:rPr lang="ro-MD" dirty="0" smtClean="0"/>
              <a:t>ă</a:t>
            </a:r>
            <a:r>
              <a:rPr lang="it-IT" dirty="0" smtClean="0"/>
              <a:t> acesta,</a:t>
            </a:r>
            <a:r>
              <a:rPr lang="ro-MD" dirty="0" smtClean="0"/>
              <a:t> </a:t>
            </a:r>
            <a:r>
              <a:rPr lang="en-US" dirty="0" err="1" smtClean="0"/>
              <a:t>constructorul</a:t>
            </a:r>
            <a:r>
              <a:rPr lang="en-US" dirty="0" smtClean="0"/>
              <a:t> </a:t>
            </a:r>
            <a:r>
              <a:rPr lang="en-US" dirty="0" err="1" smtClean="0"/>
              <a:t>uzual</a:t>
            </a:r>
            <a:r>
              <a:rPr lang="en-US" dirty="0" smtClean="0"/>
              <a:t> </a:t>
            </a:r>
            <a:r>
              <a:rPr lang="en-US" dirty="0" err="1" smtClean="0"/>
              <a:t>folosit</a:t>
            </a:r>
            <a:r>
              <a:rPr lang="en-US" dirty="0" smtClean="0"/>
              <a:t> </a:t>
            </a:r>
            <a:r>
              <a:rPr lang="en-US" dirty="0" err="1" smtClean="0"/>
              <a:t>fiind</a:t>
            </a:r>
            <a:r>
              <a:rPr lang="en-US" dirty="0" smtClean="0"/>
              <a:t>:</a:t>
            </a:r>
          </a:p>
          <a:p>
            <a:pPr algn="ctr">
              <a:buNone/>
            </a:pPr>
            <a:r>
              <a:rPr lang="en-US" b="1" dirty="0" smtClean="0">
                <a:latin typeface="Consolas" pitchFamily="49" charset="0"/>
                <a:cs typeface="Consolas" pitchFamily="49" charset="0"/>
              </a:rPr>
              <a:t>Socket(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InetAddress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address,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int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port)</a:t>
            </a:r>
            <a:endParaRPr lang="ro-MD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/>
              <a:t>La </a:t>
            </a:r>
            <a:r>
              <a:rPr lang="en-US" dirty="0" err="1" smtClean="0"/>
              <a:t>nivelul</a:t>
            </a:r>
            <a:r>
              <a:rPr lang="en-US" dirty="0" smtClean="0"/>
              <a:t> </a:t>
            </a:r>
            <a:r>
              <a:rPr lang="en-US" dirty="0" err="1" smtClean="0"/>
              <a:t>serverului</a:t>
            </a:r>
            <a:r>
              <a:rPr lang="en-US" dirty="0" smtClean="0"/>
              <a:t>, </a:t>
            </a:r>
            <a:r>
              <a:rPr lang="en-US" dirty="0" err="1" smtClean="0"/>
              <a:t>acesta</a:t>
            </a:r>
            <a:r>
              <a:rPr lang="en-US" dirty="0" smtClean="0"/>
              <a:t> </a:t>
            </a:r>
            <a:r>
              <a:rPr lang="en-US" dirty="0" err="1" smtClean="0"/>
              <a:t>trebuie</a:t>
            </a:r>
            <a:r>
              <a:rPr lang="en-US" dirty="0" smtClean="0"/>
              <a:t> s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creeze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nt</a:t>
            </a:r>
            <a:r>
              <a:rPr lang="ro-MD" dirty="0" smtClean="0"/>
              <a:t>î</a:t>
            </a:r>
            <a:r>
              <a:rPr lang="en-US" dirty="0" err="1" smtClean="0"/>
              <a:t>i</a:t>
            </a:r>
            <a:r>
              <a:rPr lang="en-US" dirty="0" smtClean="0"/>
              <a:t> un </a:t>
            </a:r>
            <a:r>
              <a:rPr lang="en-US" dirty="0" err="1" smtClean="0"/>
              <a:t>obiect</a:t>
            </a:r>
            <a:r>
              <a:rPr lang="en-US" dirty="0" smtClean="0"/>
              <a:t> de tip</a:t>
            </a:r>
            <a:r>
              <a:rPr lang="ro-MD" dirty="0" smtClean="0"/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ServerSocket</a:t>
            </a:r>
            <a:r>
              <a:rPr lang="ro-MD" b="1" dirty="0" smtClean="0">
                <a:latin typeface="Consolas" pitchFamily="49" charset="0"/>
                <a:cs typeface="Consolas" pitchFamily="49" charset="0"/>
              </a:rPr>
              <a:t> (int port)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err="1" smtClean="0"/>
              <a:t>Metoda</a:t>
            </a:r>
            <a:r>
              <a:rPr lang="en-US" dirty="0" smtClean="0"/>
              <a:t> </a:t>
            </a:r>
            <a:r>
              <a:rPr lang="en-US" dirty="0" err="1" smtClean="0"/>
              <a:t>clasei</a:t>
            </a:r>
            <a:r>
              <a:rPr lang="en-US" dirty="0" smtClean="0"/>
              <a:t> </a:t>
            </a:r>
            <a:r>
              <a:rPr lang="en-US" b="1" dirty="0" err="1" smtClean="0"/>
              <a:t>ServerSocket</a:t>
            </a:r>
            <a:r>
              <a:rPr lang="en-US" dirty="0" smtClean="0"/>
              <a:t> care a</a:t>
            </a:r>
            <a:r>
              <a:rPr lang="ro-MD" dirty="0" smtClean="0"/>
              <a:t>ș</a:t>
            </a:r>
            <a:r>
              <a:rPr lang="en-US" dirty="0" err="1" smtClean="0"/>
              <a:t>teapt</a:t>
            </a:r>
            <a:r>
              <a:rPr lang="ro-MD" dirty="0" smtClean="0"/>
              <a:t>ă</a:t>
            </a:r>
            <a:r>
              <a:rPr lang="en-US" dirty="0" smtClean="0"/>
              <a:t> ”</a:t>
            </a:r>
            <a:r>
              <a:rPr lang="en-US" dirty="0" err="1" smtClean="0"/>
              <a:t>ascult</a:t>
            </a:r>
            <a:r>
              <a:rPr lang="ro-MD" dirty="0" smtClean="0"/>
              <a:t>ă</a:t>
            </a:r>
            <a:r>
              <a:rPr lang="en-US" dirty="0" smtClean="0"/>
              <a:t>” re</a:t>
            </a:r>
            <a:r>
              <a:rPr lang="ro-MD" dirty="0" smtClean="0"/>
              <a:t>ț</a:t>
            </a:r>
            <a:r>
              <a:rPr lang="en-US" dirty="0" err="1" smtClean="0"/>
              <a:t>eaua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accept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ro-MD" dirty="0" smtClean="0"/>
              <a:t> (TCP/IP)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28001" t="24725" r="26976" b="34066"/>
          <a:stretch>
            <a:fillRect/>
          </a:stretch>
        </p:blipFill>
        <p:spPr bwMode="auto">
          <a:xfrm>
            <a:off x="428596" y="1785926"/>
            <a:ext cx="834753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conexiuni</a:t>
            </a:r>
            <a:r>
              <a:rPr lang="ro-MD" dirty="0" smtClean="0"/>
              <a:t> (TCP/IP)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 smtClean="0"/>
              <a:t>Pentru fiecare din cele dou</a:t>
            </a:r>
            <a:r>
              <a:rPr lang="ro-MD" dirty="0" smtClean="0"/>
              <a:t>ă</a:t>
            </a:r>
            <a:r>
              <a:rPr lang="it-IT" dirty="0" smtClean="0"/>
              <a:t> socketuri deschise pot fi create apoi dou</a:t>
            </a:r>
            <a:r>
              <a:rPr lang="ro-MD" dirty="0" smtClean="0"/>
              <a:t>ă </a:t>
            </a:r>
            <a:r>
              <a:rPr lang="en-US" dirty="0" err="1" smtClean="0"/>
              <a:t>fluxuri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octe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citirea</a:t>
            </a:r>
            <a:r>
              <a:rPr lang="ro-MD" dirty="0" smtClean="0"/>
              <a:t> (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getInputStream</a:t>
            </a:r>
            <a:r>
              <a:rPr lang="ro-MD" dirty="0" smtClean="0"/>
              <a:t>)</a:t>
            </a:r>
            <a:r>
              <a:rPr lang="en-US" dirty="0" smtClean="0"/>
              <a:t>, </a:t>
            </a:r>
            <a:r>
              <a:rPr lang="en-US" dirty="0" err="1" smtClean="0"/>
              <a:t>respectiv</a:t>
            </a:r>
            <a:r>
              <a:rPr lang="en-US" dirty="0" smtClean="0"/>
              <a:t> </a:t>
            </a:r>
            <a:r>
              <a:rPr lang="en-US" dirty="0" err="1" smtClean="0"/>
              <a:t>scrierea</a:t>
            </a:r>
            <a:r>
              <a:rPr lang="en-US" dirty="0" smtClean="0"/>
              <a:t> </a:t>
            </a:r>
            <a:r>
              <a:rPr lang="en-US" dirty="0" err="1" smtClean="0"/>
              <a:t>datelor</a:t>
            </a:r>
            <a:r>
              <a:rPr lang="ro-MD" dirty="0" smtClean="0"/>
              <a:t> (</a:t>
            </a:r>
            <a:r>
              <a:rPr lang="en-US" b="1" dirty="0" err="1" smtClean="0"/>
              <a:t>getOutputStream</a:t>
            </a:r>
            <a:r>
              <a:rPr lang="ro-MD" dirty="0" smtClean="0"/>
              <a:t>)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func</a:t>
            </a:r>
            <a:r>
              <a:rPr lang="ro-MD" dirty="0" smtClean="0"/>
              <a:t>ț</a:t>
            </a:r>
            <a:r>
              <a:rPr lang="en-US" dirty="0" err="1" smtClean="0"/>
              <a:t>ie</a:t>
            </a:r>
            <a:r>
              <a:rPr lang="ro-MD" dirty="0" smtClean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specificul</a:t>
            </a:r>
            <a:r>
              <a:rPr lang="en-US" dirty="0" smtClean="0"/>
              <a:t> </a:t>
            </a:r>
            <a:r>
              <a:rPr lang="en-US" dirty="0" err="1" smtClean="0"/>
              <a:t>aplica</a:t>
            </a:r>
            <a:r>
              <a:rPr lang="ro-MD" dirty="0" smtClean="0"/>
              <a:t>ț</a:t>
            </a:r>
            <a:r>
              <a:rPr lang="en-US" dirty="0" err="1" smtClean="0"/>
              <a:t>iei</a:t>
            </a:r>
            <a:r>
              <a:rPr lang="en-US" dirty="0" smtClean="0"/>
              <a:t> </a:t>
            </a:r>
            <a:r>
              <a:rPr lang="en-US" dirty="0" err="1" smtClean="0"/>
              <a:t>acestea</a:t>
            </a:r>
            <a:r>
              <a:rPr lang="en-US" dirty="0" smtClean="0"/>
              <a:t> pot </a:t>
            </a:r>
            <a:r>
              <a:rPr lang="en-US" dirty="0" err="1" smtClean="0"/>
              <a:t>fi</a:t>
            </a:r>
            <a:r>
              <a:rPr lang="en-US" dirty="0" smtClean="0"/>
              <a:t> </a:t>
            </a:r>
            <a:r>
              <a:rPr lang="en-US" dirty="0" err="1" smtClean="0"/>
              <a:t>perechile</a:t>
            </a:r>
            <a:r>
              <a:rPr lang="en-US" dirty="0" smtClean="0"/>
              <a:t>:</a:t>
            </a:r>
          </a:p>
          <a:p>
            <a:pPr lvl="1"/>
            <a:r>
              <a:rPr lang="en-US" b="1" i="1" dirty="0" err="1" smtClean="0"/>
              <a:t>BufferedReader</a:t>
            </a:r>
            <a:r>
              <a:rPr lang="en-US" dirty="0" smtClean="0"/>
              <a:t>, </a:t>
            </a:r>
            <a:r>
              <a:rPr lang="en-US" b="1" i="1" dirty="0" err="1" smtClean="0"/>
              <a:t>BufferedWriter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b="1" i="1" dirty="0" err="1" smtClean="0"/>
              <a:t>PrintWriter</a:t>
            </a:r>
            <a:r>
              <a:rPr lang="en-US" dirty="0" smtClean="0"/>
              <a:t> -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comunicare</a:t>
            </a:r>
            <a:r>
              <a:rPr lang="ro-MD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irurilor</a:t>
            </a:r>
            <a:r>
              <a:rPr lang="en-US" dirty="0" smtClean="0"/>
              <a:t> de </a:t>
            </a:r>
            <a:r>
              <a:rPr lang="en-US" dirty="0" err="1" smtClean="0"/>
              <a:t>caractere</a:t>
            </a:r>
            <a:r>
              <a:rPr lang="en-US" dirty="0" smtClean="0"/>
              <a:t>;</a:t>
            </a:r>
          </a:p>
          <a:p>
            <a:pPr lvl="1"/>
            <a:r>
              <a:rPr lang="en-US" b="1" i="1" dirty="0" err="1" smtClean="0"/>
              <a:t>DataInputStream</a:t>
            </a:r>
            <a:r>
              <a:rPr lang="en-US" dirty="0" smtClean="0"/>
              <a:t>, </a:t>
            </a:r>
            <a:r>
              <a:rPr lang="en-US" b="1" i="1" dirty="0" err="1" smtClean="0"/>
              <a:t>DataOutputStream</a:t>
            </a:r>
            <a:r>
              <a:rPr lang="en-US" dirty="0" smtClean="0"/>
              <a:t> -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comunicare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date</a:t>
            </a:r>
            <a:r>
              <a:rPr lang="ro-MD" dirty="0" smtClean="0"/>
              <a:t> </a:t>
            </a:r>
            <a:r>
              <a:rPr lang="en-US" dirty="0" smtClean="0"/>
              <a:t>primitive;</a:t>
            </a:r>
          </a:p>
          <a:p>
            <a:pPr lvl="1"/>
            <a:r>
              <a:rPr lang="en-US" b="1" i="1" dirty="0" err="1" smtClean="0"/>
              <a:t>ObjectInputStream</a:t>
            </a:r>
            <a:r>
              <a:rPr lang="en-US" dirty="0" smtClean="0"/>
              <a:t>, </a:t>
            </a:r>
            <a:r>
              <a:rPr lang="en-US" b="1" i="1" dirty="0" err="1" smtClean="0"/>
              <a:t>ObjectOutputStream</a:t>
            </a:r>
            <a:r>
              <a:rPr lang="en-US" dirty="0" smtClean="0"/>
              <a:t> - </a:t>
            </a:r>
            <a:r>
              <a:rPr lang="en-US" dirty="0" err="1" smtClean="0"/>
              <a:t>pentru</a:t>
            </a:r>
            <a:r>
              <a:rPr lang="en-US" dirty="0" smtClean="0"/>
              <a:t> com</a:t>
            </a:r>
            <a:r>
              <a:rPr lang="ro-MD" dirty="0" smtClean="0"/>
              <a:t>u</a:t>
            </a:r>
            <a:r>
              <a:rPr lang="en-US" dirty="0" err="1" smtClean="0"/>
              <a:t>nicare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ro-MD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obiectelor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 smtClean="0"/>
              <a:t>Structura</a:t>
            </a:r>
            <a:r>
              <a:rPr lang="en-US" b="1" i="1" dirty="0" smtClean="0"/>
              <a:t> general</a:t>
            </a:r>
            <a:r>
              <a:rPr lang="ro-MD" b="1" i="1" dirty="0" smtClean="0"/>
              <a:t>ă</a:t>
            </a:r>
            <a:r>
              <a:rPr lang="en-US" b="1" i="1" dirty="0" smtClean="0"/>
              <a:t> a </a:t>
            </a:r>
            <a:r>
              <a:rPr lang="en-US" b="1" i="1" dirty="0" err="1" smtClean="0"/>
              <a:t>unui</a:t>
            </a:r>
            <a:r>
              <a:rPr lang="en-US" b="1" i="1" dirty="0" smtClean="0"/>
              <a:t> server </a:t>
            </a:r>
            <a:r>
              <a:rPr lang="en-US" b="1" i="1" dirty="0" err="1" smtClean="0"/>
              <a:t>bazat</a:t>
            </a:r>
            <a:r>
              <a:rPr lang="en-US" b="1" i="1" dirty="0" smtClean="0"/>
              <a:t> </a:t>
            </a:r>
            <a:r>
              <a:rPr lang="en-US" b="1" i="1" dirty="0" err="1" smtClean="0"/>
              <a:t>pe</a:t>
            </a:r>
            <a:r>
              <a:rPr lang="en-US" b="1" i="1" dirty="0" smtClean="0"/>
              <a:t> </a:t>
            </a:r>
            <a:r>
              <a:rPr lang="en-US" b="1" i="1" dirty="0" err="1" smtClean="0"/>
              <a:t>conexiuni</a:t>
            </a:r>
            <a:r>
              <a:rPr lang="en-US" b="1" i="1" dirty="0" smtClean="0"/>
              <a:t> </a:t>
            </a:r>
            <a:r>
              <a:rPr lang="en-US" b="1" i="1" dirty="0" err="1" smtClean="0"/>
              <a:t>este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1. </a:t>
            </a:r>
            <a:r>
              <a:rPr lang="en-US" dirty="0" err="1" smtClean="0"/>
              <a:t>Creeaz</a:t>
            </a:r>
            <a:r>
              <a:rPr lang="ro-MD" dirty="0" smtClean="0"/>
              <a:t>ă</a:t>
            </a:r>
            <a:r>
              <a:rPr lang="en-US" dirty="0" smtClean="0"/>
              <a:t> un </a:t>
            </a:r>
            <a:r>
              <a:rPr lang="en-US" dirty="0" err="1" smtClean="0"/>
              <a:t>obiect</a:t>
            </a:r>
            <a:r>
              <a:rPr lang="en-US" dirty="0" smtClean="0"/>
              <a:t> de tip </a:t>
            </a:r>
            <a:r>
              <a:rPr lang="en-US" b="1" i="1" dirty="0" err="1" smtClean="0"/>
              <a:t>ServerSocket</a:t>
            </a:r>
            <a:r>
              <a:rPr lang="en-US" dirty="0" smtClean="0"/>
              <a:t> la un </a:t>
            </a:r>
            <a:r>
              <a:rPr lang="en-US" dirty="0" err="1" smtClean="0"/>
              <a:t>anumit</a:t>
            </a:r>
            <a:r>
              <a:rPr lang="en-US" dirty="0" smtClean="0"/>
              <a:t> port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while (true) {</a:t>
            </a:r>
          </a:p>
          <a:p>
            <a:pPr>
              <a:buNone/>
            </a:pPr>
            <a:r>
              <a:rPr lang="it-IT" dirty="0" smtClean="0"/>
              <a:t>2. A</a:t>
            </a:r>
            <a:r>
              <a:rPr lang="ro-MD" dirty="0" smtClean="0"/>
              <a:t>ș</a:t>
            </a:r>
            <a:r>
              <a:rPr lang="it-IT" dirty="0" smtClean="0"/>
              <a:t>teapt</a:t>
            </a:r>
            <a:r>
              <a:rPr lang="ro-MD" dirty="0" smtClean="0"/>
              <a:t>ă</a:t>
            </a:r>
            <a:r>
              <a:rPr lang="it-IT" dirty="0" smtClean="0"/>
              <a:t> realizarea unei conexiuni cu un client,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metoda</a:t>
            </a:r>
            <a:r>
              <a:rPr lang="en-US" dirty="0" smtClean="0"/>
              <a:t>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accept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fr-FR" dirty="0" smtClean="0"/>
              <a:t>(va fi </a:t>
            </a:r>
            <a:r>
              <a:rPr lang="fr-FR" dirty="0" err="1" smtClean="0"/>
              <a:t>creat</a:t>
            </a:r>
            <a:r>
              <a:rPr lang="fr-FR" dirty="0" smtClean="0"/>
              <a:t> un </a:t>
            </a:r>
            <a:r>
              <a:rPr lang="fr-FR" dirty="0" err="1" smtClean="0"/>
              <a:t>obiect</a:t>
            </a:r>
            <a:r>
              <a:rPr lang="fr-FR" dirty="0" smtClean="0"/>
              <a:t> </a:t>
            </a:r>
            <a:r>
              <a:rPr lang="fr-FR" dirty="0" err="1" smtClean="0"/>
              <a:t>nou</a:t>
            </a:r>
            <a:r>
              <a:rPr lang="fr-FR" dirty="0" smtClean="0"/>
              <a:t> de tip </a:t>
            </a:r>
            <a:r>
              <a:rPr lang="fr-FR" b="1" dirty="0" smtClean="0">
                <a:latin typeface="Consolas" pitchFamily="49" charset="0"/>
                <a:cs typeface="Consolas" pitchFamily="49" charset="0"/>
              </a:rPr>
              <a:t>Socket</a:t>
            </a:r>
            <a:r>
              <a:rPr lang="fr-FR" dirty="0" smtClean="0"/>
              <a:t>)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dirty="0" err="1" smtClean="0"/>
              <a:t>Trateaz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cererea</a:t>
            </a:r>
            <a:r>
              <a:rPr lang="en-US" dirty="0" smtClean="0"/>
              <a:t> </a:t>
            </a:r>
            <a:r>
              <a:rPr lang="en-US" dirty="0" err="1" smtClean="0"/>
              <a:t>venit</a:t>
            </a:r>
            <a:r>
              <a:rPr lang="ro-MD" dirty="0" smtClean="0"/>
              <a:t>ă</a:t>
            </a:r>
            <a:r>
              <a:rPr lang="en-US" dirty="0" smtClean="0"/>
              <a:t> de la client: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it-IT" dirty="0" smtClean="0"/>
              <a:t>3.1 Deschide un flux de intrare </a:t>
            </a:r>
            <a:r>
              <a:rPr lang="ro-MD" dirty="0" smtClean="0"/>
              <a:t>ș</a:t>
            </a:r>
            <a:r>
              <a:rPr lang="it-IT" dirty="0" smtClean="0"/>
              <a:t>i prime</a:t>
            </a:r>
            <a:r>
              <a:rPr lang="ro-MD" dirty="0" smtClean="0"/>
              <a:t>ș</a:t>
            </a:r>
            <a:r>
              <a:rPr lang="it-IT" dirty="0" smtClean="0"/>
              <a:t>te cererea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en-US" dirty="0" smtClean="0"/>
              <a:t>3.2 </a:t>
            </a:r>
            <a:r>
              <a:rPr lang="en-US" dirty="0" err="1" smtClean="0"/>
              <a:t>Deschide</a:t>
            </a:r>
            <a:r>
              <a:rPr lang="en-US" dirty="0" smtClean="0"/>
              <a:t> un flux de </a:t>
            </a:r>
            <a:r>
              <a:rPr lang="en-US" dirty="0" err="1" smtClean="0"/>
              <a:t>ie</a:t>
            </a:r>
            <a:r>
              <a:rPr lang="ro-MD" dirty="0" smtClean="0"/>
              <a:t>ș</a:t>
            </a:r>
            <a:r>
              <a:rPr lang="en-US" dirty="0" smtClean="0"/>
              <a:t>ire </a:t>
            </a:r>
            <a:r>
              <a:rPr lang="ro-MD" dirty="0" err="1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trimite</a:t>
            </a:r>
            <a:r>
              <a:rPr lang="en-US" dirty="0" smtClean="0"/>
              <a:t> r</a:t>
            </a:r>
            <a:r>
              <a:rPr lang="ro-MD" dirty="0" smtClean="0"/>
              <a:t>ă</a:t>
            </a:r>
            <a:r>
              <a:rPr lang="en-US" dirty="0" err="1" smtClean="0"/>
              <a:t>spunsul</a:t>
            </a:r>
            <a:endParaRPr lang="en-US" dirty="0" smtClean="0"/>
          </a:p>
          <a:p>
            <a:pPr>
              <a:buNone/>
            </a:pPr>
            <a:r>
              <a:rPr lang="ro-MD" dirty="0" smtClean="0"/>
              <a:t>	</a:t>
            </a:r>
            <a:r>
              <a:rPr lang="it-IT" dirty="0" smtClean="0"/>
              <a:t>3.3 </a:t>
            </a:r>
            <a:r>
              <a:rPr lang="ro-MD" dirty="0" smtClean="0"/>
              <a:t>Î</a:t>
            </a:r>
            <a:r>
              <a:rPr lang="it-IT" dirty="0" smtClean="0"/>
              <a:t>nchide fluxurile </a:t>
            </a:r>
            <a:r>
              <a:rPr lang="ro-MD" dirty="0" smtClean="0"/>
              <a:t>ș</a:t>
            </a:r>
            <a:r>
              <a:rPr lang="it-IT" dirty="0" smtClean="0"/>
              <a:t>i socketul nou creat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 smtClean="0"/>
              <a:t>Structura</a:t>
            </a:r>
            <a:r>
              <a:rPr lang="en-US" b="1" i="1" dirty="0" smtClean="0"/>
              <a:t> general</a:t>
            </a:r>
            <a:r>
              <a:rPr lang="ro-MD" b="1" i="1" dirty="0" smtClean="0"/>
              <a:t>ă</a:t>
            </a:r>
            <a:r>
              <a:rPr lang="en-US" b="1" i="1" dirty="0" smtClean="0"/>
              <a:t> a </a:t>
            </a:r>
            <a:r>
              <a:rPr lang="en-US" b="1" i="1" dirty="0" err="1" smtClean="0"/>
              <a:t>unui</a:t>
            </a:r>
            <a:r>
              <a:rPr lang="en-US" b="1" i="1" dirty="0" smtClean="0"/>
              <a:t> client </a:t>
            </a:r>
            <a:r>
              <a:rPr lang="en-US" b="1" i="1" dirty="0" err="1" smtClean="0"/>
              <a:t>bazat</a:t>
            </a:r>
            <a:r>
              <a:rPr lang="en-US" b="1" i="1" dirty="0" smtClean="0"/>
              <a:t> </a:t>
            </a:r>
            <a:r>
              <a:rPr lang="en-US" b="1" i="1" dirty="0" err="1" smtClean="0"/>
              <a:t>pe</a:t>
            </a:r>
            <a:r>
              <a:rPr lang="en-US" b="1" i="1" dirty="0" smtClean="0"/>
              <a:t> </a:t>
            </a:r>
            <a:r>
              <a:rPr lang="en-US" b="1" i="1" dirty="0" err="1" smtClean="0"/>
              <a:t>conexiuni</a:t>
            </a:r>
            <a:r>
              <a:rPr lang="en-US" b="1" i="1" dirty="0" smtClean="0"/>
              <a:t> </a:t>
            </a:r>
            <a:r>
              <a:rPr lang="en-US" b="1" i="1" dirty="0" err="1" smtClean="0"/>
              <a:t>este</a:t>
            </a:r>
            <a:r>
              <a:rPr lang="en-US" b="1" i="1" dirty="0" smtClean="0"/>
              <a:t>: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1. Cite</a:t>
            </a:r>
            <a:r>
              <a:rPr lang="ro-MD" dirty="0" smtClean="0"/>
              <a:t>ș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declar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adresa</a:t>
            </a:r>
            <a:r>
              <a:rPr lang="en-US" dirty="0" smtClean="0"/>
              <a:t> IP a </a:t>
            </a:r>
            <a:r>
              <a:rPr lang="en-US" dirty="0" err="1" smtClean="0"/>
              <a:t>serverului</a:t>
            </a:r>
            <a:r>
              <a:rPr lang="en-US" dirty="0" smtClean="0"/>
              <a:t> </a:t>
            </a:r>
            <a:r>
              <a:rPr lang="ro-MD" dirty="0" err="1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portul</a:t>
            </a:r>
            <a:endParaRPr lang="en-US" dirty="0" smtClean="0"/>
          </a:p>
          <a:p>
            <a:pPr>
              <a:buNone/>
            </a:pPr>
            <a:r>
              <a:rPr lang="ro-MD" dirty="0" smtClean="0"/>
              <a:t>	</a:t>
            </a:r>
            <a:r>
              <a:rPr lang="en-US" dirty="0" smtClean="0"/>
              <a:t>la care </a:t>
            </a:r>
            <a:r>
              <a:rPr lang="en-US" dirty="0" err="1" smtClean="0"/>
              <a:t>acesta</a:t>
            </a:r>
            <a:r>
              <a:rPr lang="en-US" dirty="0" smtClean="0"/>
              <a:t> </a:t>
            </a:r>
            <a:r>
              <a:rPr lang="en-US" dirty="0" err="1" smtClean="0"/>
              <a:t>ruleaz</a:t>
            </a:r>
            <a:r>
              <a:rPr lang="ro-MD" dirty="0" smtClean="0"/>
              <a:t>ă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2. </a:t>
            </a:r>
            <a:r>
              <a:rPr lang="en-US" dirty="0" err="1" smtClean="0"/>
              <a:t>Creeaz</a:t>
            </a:r>
            <a:r>
              <a:rPr lang="ro-MD" dirty="0" smtClean="0"/>
              <a:t>ă</a:t>
            </a:r>
            <a:r>
              <a:rPr lang="en-US" dirty="0" smtClean="0"/>
              <a:t> un </a:t>
            </a:r>
            <a:r>
              <a:rPr lang="en-US" dirty="0" err="1" smtClean="0"/>
              <a:t>obiect</a:t>
            </a:r>
            <a:r>
              <a:rPr lang="en-US" dirty="0" smtClean="0"/>
              <a:t> de tip 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Socket</a:t>
            </a:r>
            <a:r>
              <a:rPr lang="en-US" dirty="0" smtClean="0"/>
              <a:t> cu </a:t>
            </a:r>
            <a:r>
              <a:rPr lang="en-US" dirty="0" err="1" smtClean="0"/>
              <a:t>adresa</a:t>
            </a:r>
            <a:r>
              <a:rPr lang="en-US" dirty="0" smtClean="0"/>
              <a:t> </a:t>
            </a:r>
            <a:r>
              <a:rPr lang="ro-MD" dirty="0" err="1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portul</a:t>
            </a:r>
            <a:r>
              <a:rPr lang="en-US" dirty="0" smtClean="0"/>
              <a:t> </a:t>
            </a:r>
            <a:r>
              <a:rPr lang="en-US" dirty="0" err="1" smtClean="0"/>
              <a:t>specificate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dirty="0" err="1" smtClean="0"/>
              <a:t>Comunica</a:t>
            </a:r>
            <a:r>
              <a:rPr lang="en-US" dirty="0" smtClean="0"/>
              <a:t> cu </a:t>
            </a:r>
            <a:r>
              <a:rPr lang="en-US" dirty="0" err="1" smtClean="0"/>
              <a:t>serverul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en-US" dirty="0" smtClean="0"/>
              <a:t>3.1 </a:t>
            </a:r>
            <a:r>
              <a:rPr lang="en-US" dirty="0" err="1" smtClean="0"/>
              <a:t>Deschide</a:t>
            </a:r>
            <a:r>
              <a:rPr lang="en-US" dirty="0" smtClean="0"/>
              <a:t> un flux de </a:t>
            </a:r>
            <a:r>
              <a:rPr lang="en-US" dirty="0" err="1" smtClean="0"/>
              <a:t>ie</a:t>
            </a:r>
            <a:r>
              <a:rPr lang="ro-MD" dirty="0" smtClean="0"/>
              <a:t>ș</a:t>
            </a:r>
            <a:r>
              <a:rPr lang="en-US" dirty="0" smtClean="0"/>
              <a:t>ire </a:t>
            </a:r>
            <a:r>
              <a:rPr lang="ro-MD" dirty="0" err="1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trimite</a:t>
            </a:r>
            <a:r>
              <a:rPr lang="en-US" dirty="0" smtClean="0"/>
              <a:t> </a:t>
            </a:r>
            <a:r>
              <a:rPr lang="en-US" dirty="0" err="1" smtClean="0"/>
              <a:t>cererea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it-IT" dirty="0" smtClean="0"/>
              <a:t>3.2 Deschide un flux de intrare </a:t>
            </a:r>
            <a:r>
              <a:rPr lang="ro-MD" dirty="0" smtClean="0"/>
              <a:t>ș</a:t>
            </a:r>
            <a:r>
              <a:rPr lang="it-IT" dirty="0" smtClean="0"/>
              <a:t>i primeste </a:t>
            </a:r>
            <a:r>
              <a:rPr lang="ro-MD" dirty="0" smtClean="0"/>
              <a:t>	</a:t>
            </a:r>
            <a:r>
              <a:rPr lang="it-IT" dirty="0" smtClean="0"/>
              <a:t>r</a:t>
            </a:r>
            <a:r>
              <a:rPr lang="ro-MD" dirty="0" smtClean="0"/>
              <a:t>ă</a:t>
            </a:r>
            <a:r>
              <a:rPr lang="it-IT" dirty="0" smtClean="0"/>
              <a:t>spunsul;</a:t>
            </a:r>
          </a:p>
          <a:p>
            <a:pPr>
              <a:buNone/>
            </a:pPr>
            <a:r>
              <a:rPr lang="ro-MD" dirty="0" smtClean="0"/>
              <a:t>	</a:t>
            </a:r>
            <a:r>
              <a:rPr lang="it-IT" dirty="0" smtClean="0"/>
              <a:t>3.3 </a:t>
            </a:r>
            <a:r>
              <a:rPr lang="ro-MD" dirty="0" smtClean="0"/>
              <a:t>Î</a:t>
            </a:r>
            <a:r>
              <a:rPr lang="it-IT" dirty="0" smtClean="0"/>
              <a:t>nchide fluxurile si socketul creat;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datagrame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acest</a:t>
            </a:r>
            <a:r>
              <a:rPr lang="en-US" dirty="0" smtClean="0"/>
              <a:t> model nu exist</a:t>
            </a:r>
            <a:r>
              <a:rPr lang="ro-MD" dirty="0" smtClean="0"/>
              <a:t>ă</a:t>
            </a:r>
            <a:r>
              <a:rPr lang="en-US" dirty="0" smtClean="0"/>
              <a:t> o </a:t>
            </a:r>
            <a:r>
              <a:rPr lang="en-US" dirty="0" err="1" smtClean="0"/>
              <a:t>conexiune</a:t>
            </a:r>
            <a:r>
              <a:rPr lang="en-US" dirty="0" smtClean="0"/>
              <a:t> permanent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err="1" smtClean="0"/>
              <a:t>ntre</a:t>
            </a:r>
            <a:r>
              <a:rPr lang="en-US" dirty="0" smtClean="0"/>
              <a:t> client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server </a:t>
            </a:r>
            <a:r>
              <a:rPr lang="en-US" dirty="0" err="1" smtClean="0"/>
              <a:t>prin</a:t>
            </a:r>
            <a:r>
              <a:rPr lang="ro-MD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c</a:t>
            </a:r>
            <a:r>
              <a:rPr lang="ro-MD" dirty="0" smtClean="0"/>
              <a:t>ă</a:t>
            </a:r>
            <a:r>
              <a:rPr lang="en-US" dirty="0" err="1" smtClean="0"/>
              <a:t>reia</a:t>
            </a:r>
            <a:r>
              <a:rPr lang="en-US" dirty="0" smtClean="0"/>
              <a:t> s</a:t>
            </a:r>
            <a:r>
              <a:rPr lang="ro-MD" dirty="0" smtClean="0"/>
              <a:t>ă</a:t>
            </a:r>
            <a:r>
              <a:rPr lang="en-US" dirty="0" smtClean="0"/>
              <a:t> se </a:t>
            </a:r>
            <a:r>
              <a:rPr lang="en-US" dirty="0" err="1" smtClean="0"/>
              <a:t>realizeze</a:t>
            </a:r>
            <a:r>
              <a:rPr lang="en-US" dirty="0" smtClean="0"/>
              <a:t> </a:t>
            </a:r>
            <a:r>
              <a:rPr lang="en-US" dirty="0" err="1" smtClean="0"/>
              <a:t>comunicarea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err="1" smtClean="0"/>
              <a:t>Clientul</a:t>
            </a:r>
            <a:r>
              <a:rPr lang="en-US" dirty="0" smtClean="0"/>
              <a:t> </a:t>
            </a:r>
            <a:r>
              <a:rPr lang="en-US" dirty="0" err="1" smtClean="0"/>
              <a:t>trimite</a:t>
            </a:r>
            <a:r>
              <a:rPr lang="en-US" dirty="0" smtClean="0"/>
              <a:t> </a:t>
            </a:r>
            <a:r>
              <a:rPr lang="en-US" dirty="0" err="1" smtClean="0"/>
              <a:t>cererea</a:t>
            </a:r>
            <a:r>
              <a:rPr lang="en-US" dirty="0" smtClean="0"/>
              <a:t> c</a:t>
            </a:r>
            <a:r>
              <a:rPr lang="ro-MD" dirty="0" smtClean="0"/>
              <a:t>ă</a:t>
            </a:r>
            <a:r>
              <a:rPr lang="en-US" dirty="0" err="1" smtClean="0"/>
              <a:t>tre</a:t>
            </a:r>
            <a:r>
              <a:rPr lang="ro-MD" dirty="0" smtClean="0"/>
              <a:t> </a:t>
            </a:r>
            <a:r>
              <a:rPr lang="en-US" dirty="0" smtClean="0"/>
              <a:t>server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unuia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multor</a:t>
            </a:r>
            <a:r>
              <a:rPr lang="en-US" dirty="0" smtClean="0"/>
              <a:t> </a:t>
            </a:r>
            <a:r>
              <a:rPr lang="en-US" dirty="0" err="1" smtClean="0"/>
              <a:t>pachete</a:t>
            </a:r>
            <a:r>
              <a:rPr lang="en-US" dirty="0" smtClean="0"/>
              <a:t> de date </a:t>
            </a:r>
            <a:r>
              <a:rPr lang="en-US" dirty="0" err="1" smtClean="0"/>
              <a:t>independente</a:t>
            </a:r>
            <a:r>
              <a:rPr lang="en-US" dirty="0" smtClean="0"/>
              <a:t>,</a:t>
            </a:r>
            <a:r>
              <a:rPr lang="ro-MD" dirty="0" smtClean="0"/>
              <a:t> </a:t>
            </a:r>
            <a:r>
              <a:rPr lang="en-US" dirty="0" err="1" smtClean="0"/>
              <a:t>serverul</a:t>
            </a:r>
            <a:r>
              <a:rPr lang="en-US" dirty="0" smtClean="0"/>
              <a:t> le </a:t>
            </a:r>
            <a:r>
              <a:rPr lang="en-US" dirty="0" err="1" smtClean="0"/>
              <a:t>recep</a:t>
            </a:r>
            <a:r>
              <a:rPr lang="ro-MD" dirty="0" smtClean="0"/>
              <a:t>ț</a:t>
            </a:r>
            <a:r>
              <a:rPr lang="en-US" dirty="0" err="1" smtClean="0"/>
              <a:t>ioneaz</a:t>
            </a:r>
            <a:r>
              <a:rPr lang="ro-MD" dirty="0" smtClean="0"/>
              <a:t>ă</a:t>
            </a:r>
            <a:r>
              <a:rPr lang="en-US" dirty="0" smtClean="0"/>
              <a:t>, </a:t>
            </a:r>
            <a:r>
              <a:rPr lang="en-US" dirty="0" err="1" smtClean="0"/>
              <a:t>extrage</a:t>
            </a:r>
            <a:r>
              <a:rPr lang="en-US" dirty="0" smtClean="0"/>
              <a:t> </a:t>
            </a:r>
            <a:r>
              <a:rPr lang="en-US" dirty="0" err="1" smtClean="0"/>
              <a:t>informa</a:t>
            </a:r>
            <a:r>
              <a:rPr lang="ro-MD" dirty="0" smtClean="0"/>
              <a:t>ț</a:t>
            </a:r>
            <a:r>
              <a:rPr lang="en-US" dirty="0" err="1" smtClean="0"/>
              <a:t>iile</a:t>
            </a:r>
            <a:r>
              <a:rPr lang="en-US" dirty="0" smtClean="0"/>
              <a:t> con</a:t>
            </a:r>
            <a:r>
              <a:rPr lang="ro-MD" dirty="0" smtClean="0"/>
              <a:t>ț</a:t>
            </a:r>
            <a:r>
              <a:rPr lang="en-US" dirty="0" err="1" smtClean="0"/>
              <a:t>inute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returneaz</a:t>
            </a:r>
            <a:r>
              <a:rPr lang="ro-MD" dirty="0" smtClean="0"/>
              <a:t>ă</a:t>
            </a:r>
            <a:r>
              <a:rPr lang="en-US" dirty="0" smtClean="0"/>
              <a:t> r</a:t>
            </a:r>
            <a:r>
              <a:rPr lang="ro-MD" dirty="0" smtClean="0"/>
              <a:t>ă</a:t>
            </a:r>
            <a:r>
              <a:rPr lang="en-US" dirty="0" err="1" smtClean="0"/>
              <a:t>spunsul</a:t>
            </a:r>
            <a:r>
              <a:rPr lang="ro-MD" dirty="0" smtClean="0"/>
              <a:t> </a:t>
            </a:r>
            <a:r>
              <a:rPr lang="en-US" dirty="0" smtClean="0"/>
              <a:t>tot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intermediul</a:t>
            </a:r>
            <a:r>
              <a:rPr lang="en-US" dirty="0" smtClean="0"/>
              <a:t> </a:t>
            </a:r>
            <a:r>
              <a:rPr lang="en-US" dirty="0" err="1" smtClean="0"/>
              <a:t>pachetelor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smtClean="0"/>
              <a:t>Un </a:t>
            </a:r>
            <a:r>
              <a:rPr lang="en-US" dirty="0" err="1" smtClean="0"/>
              <a:t>astfel</a:t>
            </a:r>
            <a:r>
              <a:rPr lang="en-US" dirty="0" smtClean="0"/>
              <a:t> de </a:t>
            </a:r>
            <a:r>
              <a:rPr lang="en-US" dirty="0" err="1" smtClean="0"/>
              <a:t>pachet</a:t>
            </a:r>
            <a:r>
              <a:rPr lang="en-US" dirty="0" smtClean="0"/>
              <a:t> se </a:t>
            </a:r>
            <a:r>
              <a:rPr lang="en-US" dirty="0" err="1" smtClean="0"/>
              <a:t>nume</a:t>
            </a:r>
            <a:r>
              <a:rPr lang="ro-MD" dirty="0" smtClean="0"/>
              <a:t>ș</a:t>
            </a:r>
            <a:r>
              <a:rPr lang="en-US" dirty="0" err="1" smtClean="0"/>
              <a:t>te</a:t>
            </a:r>
            <a:r>
              <a:rPr lang="en-US" dirty="0" smtClean="0"/>
              <a:t> datagram</a:t>
            </a:r>
            <a:r>
              <a:rPr lang="ro-MD" dirty="0" smtClean="0"/>
              <a:t>ă ș</a:t>
            </a:r>
            <a:r>
              <a:rPr lang="it-IT" dirty="0" smtClean="0"/>
              <a:t>i este reprezentat printr-un obiect din clasa </a:t>
            </a:r>
            <a:r>
              <a:rPr lang="it-IT" b="1" dirty="0" smtClean="0"/>
              <a:t>DatagramPacket</a:t>
            </a:r>
            <a:r>
              <a:rPr lang="it-IT" dirty="0" smtClean="0"/>
              <a:t>.</a:t>
            </a:r>
            <a:endParaRPr lang="ro-MD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datagrame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31296" t="30906" r="14348" b="34066"/>
          <a:stretch>
            <a:fillRect/>
          </a:stretch>
        </p:blipFill>
        <p:spPr bwMode="auto">
          <a:xfrm>
            <a:off x="285720" y="2357430"/>
            <a:ext cx="8528437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Comunicarea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datagrame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smtClean="0"/>
              <a:t>Dup</a:t>
            </a:r>
            <a:r>
              <a:rPr lang="ro-MD" dirty="0" smtClean="0"/>
              <a:t>ă</a:t>
            </a:r>
            <a:r>
              <a:rPr lang="it-IT" dirty="0" smtClean="0"/>
              <a:t> crearea unui pachet procesul de trimitere </a:t>
            </a:r>
            <a:r>
              <a:rPr lang="ro-MD" dirty="0" smtClean="0"/>
              <a:t>ș</a:t>
            </a:r>
            <a:r>
              <a:rPr lang="it-IT" dirty="0" smtClean="0"/>
              <a:t>i primire a acestuia implic</a:t>
            </a:r>
            <a:r>
              <a:rPr lang="ro-MD" dirty="0" smtClean="0"/>
              <a:t>ă</a:t>
            </a:r>
            <a:r>
              <a:rPr lang="it-IT" dirty="0" smtClean="0"/>
              <a:t> apelul metodelor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send</a:t>
            </a:r>
            <a:r>
              <a:rPr lang="it-IT" dirty="0" smtClean="0"/>
              <a:t> </a:t>
            </a:r>
            <a:r>
              <a:rPr lang="ro-MD" dirty="0" smtClean="0"/>
              <a:t>ș</a:t>
            </a:r>
            <a:r>
              <a:rPr lang="it-IT" dirty="0" smtClean="0"/>
              <a:t>i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receive</a:t>
            </a:r>
            <a:r>
              <a:rPr lang="it-IT" dirty="0" smtClean="0"/>
              <a:t> ale clasei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DatagramSocket</a:t>
            </a:r>
            <a:r>
              <a:rPr lang="it-IT" dirty="0" smtClean="0"/>
              <a:t>.</a:t>
            </a:r>
            <a:endParaRPr lang="ro-MD" dirty="0" smtClean="0"/>
          </a:p>
          <a:p>
            <a:r>
              <a:rPr lang="ro-MD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cazul</a:t>
            </a:r>
            <a:r>
              <a:rPr lang="en-US" dirty="0" smtClean="0"/>
              <a:t> </a:t>
            </a:r>
            <a:r>
              <a:rPr lang="ro-MD" dirty="0" smtClean="0"/>
              <a:t>î</a:t>
            </a:r>
            <a:r>
              <a:rPr lang="en-US" dirty="0" smtClean="0"/>
              <a:t>n care </a:t>
            </a:r>
            <a:r>
              <a:rPr lang="en-US" dirty="0" err="1" smtClean="0"/>
              <a:t>refolosim</a:t>
            </a:r>
            <a:r>
              <a:rPr lang="en-US" dirty="0" smtClean="0"/>
              <a:t> </a:t>
            </a:r>
            <a:r>
              <a:rPr lang="en-US" dirty="0" err="1" smtClean="0"/>
              <a:t>pachete</a:t>
            </a:r>
            <a:r>
              <a:rPr lang="en-US" dirty="0" smtClean="0"/>
              <a:t>,</a:t>
            </a:r>
            <a:r>
              <a:rPr lang="ro-MD" dirty="0" smtClean="0"/>
              <a:t> </a:t>
            </a:r>
            <a:r>
              <a:rPr lang="it-IT" dirty="0" smtClean="0"/>
              <a:t>putem schimba con</a:t>
            </a:r>
            <a:r>
              <a:rPr lang="ro-MD" dirty="0" smtClean="0"/>
              <a:t>ț</a:t>
            </a:r>
            <a:r>
              <a:rPr lang="it-IT" dirty="0" smtClean="0"/>
              <a:t>inutul acestora cu metoda </a:t>
            </a:r>
            <a:r>
              <a:rPr lang="it-IT" b="1" dirty="0" smtClean="0">
                <a:latin typeface="Consolas" pitchFamily="49" charset="0"/>
                <a:cs typeface="Consolas" pitchFamily="49" charset="0"/>
              </a:rPr>
              <a:t>setData</a:t>
            </a:r>
            <a:r>
              <a:rPr lang="it-IT" dirty="0" smtClean="0"/>
              <a:t>, precum </a:t>
            </a:r>
            <a:r>
              <a:rPr lang="ro-MD" dirty="0" smtClean="0"/>
              <a:t>ș</a:t>
            </a:r>
            <a:r>
              <a:rPr lang="it-IT" dirty="0" smtClean="0"/>
              <a:t>i adresa la</a:t>
            </a:r>
            <a:r>
              <a:rPr lang="ro-MD" dirty="0" smtClean="0"/>
              <a:t> </a:t>
            </a:r>
            <a:r>
              <a:rPr lang="en-US" dirty="0" smtClean="0"/>
              <a:t>care le </a:t>
            </a:r>
            <a:r>
              <a:rPr lang="en-US" dirty="0" err="1" smtClean="0"/>
              <a:t>trimitem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setAddress</a:t>
            </a:r>
            <a:r>
              <a:rPr lang="en-US" dirty="0" smtClean="0"/>
              <a:t>,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setPort</a:t>
            </a:r>
            <a:r>
              <a:rPr lang="en-US" dirty="0" smtClean="0"/>
              <a:t> </a:t>
            </a:r>
            <a:r>
              <a:rPr lang="ro-MD" dirty="0" smtClean="0"/>
              <a:t>ș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setSocketAddress</a:t>
            </a:r>
            <a:r>
              <a:rPr lang="en-US" dirty="0" smtClean="0"/>
              <a:t>.</a:t>
            </a:r>
            <a:endParaRPr lang="ro-MD" dirty="0" smtClean="0"/>
          </a:p>
          <a:p>
            <a:r>
              <a:rPr lang="en-US" dirty="0" err="1" smtClean="0"/>
              <a:t>Extragerea</a:t>
            </a:r>
            <a:r>
              <a:rPr lang="en-US" dirty="0" smtClean="0"/>
              <a:t> </a:t>
            </a:r>
            <a:r>
              <a:rPr lang="en-US" dirty="0" err="1" smtClean="0"/>
              <a:t>informa</a:t>
            </a:r>
            <a:r>
              <a:rPr lang="ro-MD" dirty="0" smtClean="0"/>
              <a:t>ț</a:t>
            </a:r>
            <a:r>
              <a:rPr lang="en-US" dirty="0" err="1" smtClean="0"/>
              <a:t>iilor</a:t>
            </a:r>
            <a:r>
              <a:rPr lang="en-US" dirty="0" smtClean="0"/>
              <a:t> con</a:t>
            </a:r>
            <a:r>
              <a:rPr lang="ro-MD" dirty="0" smtClean="0"/>
              <a:t>ț</a:t>
            </a:r>
            <a:r>
              <a:rPr lang="en-US" dirty="0" err="1" smtClean="0"/>
              <a:t>iunte</a:t>
            </a:r>
            <a:r>
              <a:rPr lang="en-US" dirty="0" smtClean="0"/>
              <a:t> de un </a:t>
            </a:r>
            <a:r>
              <a:rPr lang="en-US" dirty="0" err="1" smtClean="0"/>
              <a:t>pachet</a:t>
            </a:r>
            <a:r>
              <a:rPr lang="en-US" dirty="0" smtClean="0"/>
              <a:t> se </a:t>
            </a:r>
            <a:r>
              <a:rPr lang="en-US" dirty="0" err="1" smtClean="0"/>
              <a:t>realizeaz</a:t>
            </a:r>
            <a:r>
              <a:rPr lang="ro-MD" dirty="0" smtClean="0"/>
              <a:t>ă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metoda</a:t>
            </a:r>
            <a:r>
              <a:rPr lang="ro-MD" dirty="0" smtClean="0"/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getData</a:t>
            </a:r>
            <a:r>
              <a:rPr lang="en-US" dirty="0" smtClean="0"/>
              <a:t> din </a:t>
            </a:r>
            <a:r>
              <a:rPr lang="en-US" dirty="0" err="1" smtClean="0"/>
              <a:t>clasa</a:t>
            </a:r>
            <a:r>
              <a:rPr lang="en-US" dirty="0" smtClean="0"/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DatagramPacket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Trimiterea</a:t>
            </a:r>
            <a:r>
              <a:rPr lang="en-US" dirty="0" smtClean="0"/>
              <a:t> de </a:t>
            </a:r>
            <a:r>
              <a:rPr lang="en-US" dirty="0" err="1" smtClean="0"/>
              <a:t>mesaje</a:t>
            </a:r>
            <a:r>
              <a:rPr lang="en-US" dirty="0" smtClean="0"/>
              <a:t> c</a:t>
            </a:r>
            <a:r>
              <a:rPr lang="ro-MD" dirty="0" smtClean="0"/>
              <a:t>ă</a:t>
            </a:r>
            <a:r>
              <a:rPr lang="en-US" dirty="0" err="1" smtClean="0"/>
              <a:t>tre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mul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clien</a:t>
            </a:r>
            <a:r>
              <a:rPr lang="ro-MD" dirty="0" smtClean="0"/>
              <a:t>ț</a:t>
            </a:r>
            <a:r>
              <a:rPr lang="en-US" dirty="0" err="1" smtClean="0"/>
              <a:t>i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l="28001" t="25755" r="12701" b="22733"/>
          <a:stretch>
            <a:fillRect/>
          </a:stretch>
        </p:blipFill>
        <p:spPr bwMode="auto">
          <a:xfrm>
            <a:off x="428596" y="2143116"/>
            <a:ext cx="8332528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2896</TotalTime>
  <Words>2073</Words>
  <Application>Microsoft Office PowerPoint</Application>
  <PresentationFormat>On-screen Show (4:3)</PresentationFormat>
  <Paragraphs>269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Consolas</vt:lpstr>
      <vt:lpstr>Office Theme</vt:lpstr>
      <vt:lpstr>Programarea orientată pe obiect 2</vt:lpstr>
      <vt:lpstr>Clasa Object</vt:lpstr>
      <vt:lpstr>Metodele clasei Object</vt:lpstr>
      <vt:lpstr>Clonarea obiectelor</vt:lpstr>
      <vt:lpstr>Serializare și Deserializare – definiții </vt:lpstr>
      <vt:lpstr>Utilitatea serializării</vt:lpstr>
      <vt:lpstr>Utilitatea serializării</vt:lpstr>
      <vt:lpstr>Utilitatea serializării</vt:lpstr>
      <vt:lpstr>Serializarea tipurilor primitive</vt:lpstr>
      <vt:lpstr>Exemplu de serializare</vt:lpstr>
      <vt:lpstr>Exemplu de deserializare</vt:lpstr>
      <vt:lpstr>Serializarea obiectelor</vt:lpstr>
      <vt:lpstr>Clasa ObjectOutputStream</vt:lpstr>
      <vt:lpstr>Exemplu: serializarea obiectelor</vt:lpstr>
      <vt:lpstr>Clasa ObjectInputStream</vt:lpstr>
      <vt:lpstr>Exemplu: deserializarea obiectelor</vt:lpstr>
      <vt:lpstr>Atenție</vt:lpstr>
      <vt:lpstr>Obiecte serializabile</vt:lpstr>
      <vt:lpstr>Declararea claselor ale căror instanțe trebuie să fie serializate este</vt:lpstr>
      <vt:lpstr>Controlul serializării</vt:lpstr>
      <vt:lpstr>Exemple</vt:lpstr>
      <vt:lpstr>Exemplu</vt:lpstr>
      <vt:lpstr>PowerPoint Presentation</vt:lpstr>
      <vt:lpstr>Video materiale serializare</vt:lpstr>
      <vt:lpstr>Programarea în rețea</vt:lpstr>
      <vt:lpstr>Introducere</vt:lpstr>
      <vt:lpstr>Protocol</vt:lpstr>
      <vt:lpstr>Adresă IP</vt:lpstr>
      <vt:lpstr>Ce este un port?</vt:lpstr>
      <vt:lpstr>Clasele din java.net permit comunicarea între procese folosind protocoalele TCP și UDP și sînt prezentate în tabelul de mai jos:</vt:lpstr>
      <vt:lpstr>URL</vt:lpstr>
      <vt:lpstr>Un obiect de tip URL poate fi folosit pentru:</vt:lpstr>
      <vt:lpstr>Crearea obiectului de tip URL</vt:lpstr>
      <vt:lpstr>Citirea conținutului unui URL</vt:lpstr>
      <vt:lpstr>Socket-uri</vt:lpstr>
      <vt:lpstr>Aplicații client-server</vt:lpstr>
      <vt:lpstr>Comunicarea prin conexiuni (TCP/IP)</vt:lpstr>
      <vt:lpstr>Comunicarea prin conexiuni (TCP/IP)</vt:lpstr>
      <vt:lpstr>Comunicarea prin conexiuni (TCP/IP)</vt:lpstr>
      <vt:lpstr>Structura generală a unui server bazat pe conexiuni este:</vt:lpstr>
      <vt:lpstr>Structura generală a unui client bazat pe conexiuni este:</vt:lpstr>
      <vt:lpstr>Comunicarea prin datagrame</vt:lpstr>
      <vt:lpstr>Comunicarea prin datagrame</vt:lpstr>
      <vt:lpstr>Comunicarea prin datagrame</vt:lpstr>
      <vt:lpstr>Trimiterea de mesaje către mai mulți clienți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Programarea Java</dc:title>
  <dc:creator>Bijou</dc:creator>
  <cp:lastModifiedBy>Utilizator Windows</cp:lastModifiedBy>
  <cp:revision>81</cp:revision>
  <dcterms:created xsi:type="dcterms:W3CDTF">2013-02-08T07:26:23Z</dcterms:created>
  <dcterms:modified xsi:type="dcterms:W3CDTF">2020-03-19T15:01:37Z</dcterms:modified>
</cp:coreProperties>
</file>