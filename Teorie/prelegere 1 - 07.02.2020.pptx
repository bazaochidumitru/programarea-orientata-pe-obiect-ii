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323" r:id="rId2"/>
    <p:sldId id="324" r:id="rId3"/>
    <p:sldId id="325" r:id="rId4"/>
    <p:sldId id="326" r:id="rId5"/>
    <p:sldId id="327" r:id="rId6"/>
    <p:sldId id="342" r:id="rId7"/>
    <p:sldId id="328" r:id="rId8"/>
    <p:sldId id="358" r:id="rId9"/>
    <p:sldId id="359" r:id="rId10"/>
    <p:sldId id="256" r:id="rId11"/>
    <p:sldId id="313" r:id="rId12"/>
    <p:sldId id="360" r:id="rId13"/>
    <p:sldId id="329" r:id="rId14"/>
    <p:sldId id="330" r:id="rId15"/>
    <p:sldId id="331" r:id="rId16"/>
    <p:sldId id="318" r:id="rId17"/>
    <p:sldId id="319" r:id="rId18"/>
    <p:sldId id="320" r:id="rId19"/>
    <p:sldId id="332" r:id="rId20"/>
    <p:sldId id="333" r:id="rId21"/>
    <p:sldId id="268" r:id="rId22"/>
    <p:sldId id="321" r:id="rId23"/>
    <p:sldId id="334" r:id="rId24"/>
    <p:sldId id="335" r:id="rId25"/>
    <p:sldId id="272" r:id="rId26"/>
    <p:sldId id="273" r:id="rId27"/>
    <p:sldId id="275" r:id="rId28"/>
    <p:sldId id="336" r:id="rId29"/>
    <p:sldId id="343" r:id="rId30"/>
    <p:sldId id="344" r:id="rId31"/>
    <p:sldId id="338" r:id="rId32"/>
    <p:sldId id="339" r:id="rId33"/>
    <p:sldId id="340" r:id="rId34"/>
    <p:sldId id="341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5" r:id="rId43"/>
    <p:sldId id="352" r:id="rId44"/>
    <p:sldId id="353" r:id="rId45"/>
    <p:sldId id="356" r:id="rId46"/>
    <p:sldId id="354" r:id="rId47"/>
    <p:sldId id="357" r:id="rId48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68ACA-180B-461F-BE29-D0E4FA7CBB44}" type="datetimeFigureOut">
              <a:rPr lang="en-US" smtClean="0"/>
              <a:pPr/>
              <a:t>2/8/2020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14219-2EC5-44DB-BF6E-C0B5B22A1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923A-3551-4684-98AA-C727B91E15F0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2141-D81F-42FD-B2E2-21DD0A1196D1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A87B-8824-4AF1-A40A-F96A39647DFC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470E-9764-4671-A281-3121054179F0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C308-A7BB-493F-B8A6-693C92CFC9C8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57A7F-04C3-44F9-9E08-6C479A210E34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8253-2A53-4E6D-B7E0-2282EA6E6F53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F821-A514-4D52-A1E2-5E8D285D49B4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CE5E-8AC3-46DD-9E06-CE47DD77529A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750-7BDD-48BA-ABE0-10C4BCC0DA4D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D989-C867-4286-86E7-19979F62BBD0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C3242-CB57-4B26-9CD6-0B721100E6B2}" type="datetime1">
              <a:rPr lang="ro-RO" smtClean="0"/>
              <a:pPr/>
              <a:t>08.02.2020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Programarea Java. Prelegerea nr. 1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2985"/>
            <a:ext cx="7772400" cy="245746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Высшее образование дает возможность нам заработать на хлеб, а самообразование - на икру и на масло.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MD" dirty="0" smtClean="0"/>
              <a:t>Programarea orientată pe obiect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b="1" dirty="0" smtClean="0"/>
              <a:t>30</a:t>
            </a:r>
            <a:r>
              <a:rPr lang="ro-MD" b="1" dirty="0" smtClean="0"/>
              <a:t> </a:t>
            </a:r>
            <a:r>
              <a:rPr lang="ro-MD" b="1" dirty="0" smtClean="0"/>
              <a:t>ore PRELEGERI </a:t>
            </a:r>
            <a:r>
              <a:rPr lang="ro-MD" b="1" dirty="0" smtClean="0"/>
              <a:t>(</a:t>
            </a:r>
            <a:r>
              <a:rPr lang="ro-MD" b="1" dirty="0" smtClean="0"/>
              <a:t>15</a:t>
            </a:r>
            <a:r>
              <a:rPr lang="ro-MD" b="1" dirty="0" smtClean="0"/>
              <a:t> </a:t>
            </a:r>
            <a:r>
              <a:rPr lang="ro-MD" b="1" dirty="0" smtClean="0"/>
              <a:t>pr. – 2 </a:t>
            </a:r>
            <a:r>
              <a:rPr lang="ro-MD" b="1" dirty="0" smtClean="0"/>
              <a:t>h)</a:t>
            </a:r>
            <a:endParaRPr lang="ro-MD" b="1" dirty="0" smtClean="0"/>
          </a:p>
          <a:p>
            <a:r>
              <a:rPr lang="ro-MD" dirty="0" smtClean="0"/>
              <a:t>??</a:t>
            </a:r>
            <a:r>
              <a:rPr lang="ro-MD" dirty="0" smtClean="0"/>
              <a:t> </a:t>
            </a:r>
            <a:r>
              <a:rPr lang="ro-MD" dirty="0" smtClean="0"/>
              <a:t>ore LABORATOR ... Depinde de grupă</a:t>
            </a:r>
          </a:p>
          <a:p>
            <a:pPr lvl="1"/>
            <a:r>
              <a:rPr lang="ro-MD" dirty="0" smtClean="0"/>
              <a:t>Cel puțin 3 note... Detalii la lecții de laborator!</a:t>
            </a:r>
          </a:p>
          <a:p>
            <a:pPr lvl="1">
              <a:buNone/>
            </a:pPr>
            <a:endParaRPr lang="ro-MD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Cum primim notele?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072098"/>
          </a:xfrm>
        </p:spPr>
        <p:txBody>
          <a:bodyPr>
            <a:normAutofit/>
          </a:bodyPr>
          <a:lstStyle/>
          <a:p>
            <a:r>
              <a:rPr lang="ro-MD" dirty="0" smtClean="0"/>
              <a:t>Notă la prelegere:</a:t>
            </a:r>
          </a:p>
          <a:p>
            <a:pPr lvl="1"/>
            <a:r>
              <a:rPr lang="en-US" b="1" dirty="0" smtClean="0"/>
              <a:t>PR=(</a:t>
            </a:r>
            <a:r>
              <a:rPr lang="en-US" b="1" dirty="0" smtClean="0"/>
              <a:t>LC1+LC</a:t>
            </a:r>
            <a:r>
              <a:rPr lang="ro-MD" b="1" dirty="0" smtClean="0"/>
              <a:t>2</a:t>
            </a:r>
            <a:r>
              <a:rPr lang="en-US" b="1" dirty="0" smtClean="0"/>
              <a:t>)/</a:t>
            </a:r>
            <a:r>
              <a:rPr lang="ro-RO" b="1" dirty="0"/>
              <a:t>2</a:t>
            </a:r>
            <a:r>
              <a:rPr lang="en-US" b="1" dirty="0" smtClean="0"/>
              <a:t> </a:t>
            </a:r>
            <a:endParaRPr lang="ro-MD" dirty="0" smtClean="0"/>
          </a:p>
          <a:p>
            <a:r>
              <a:rPr lang="ro-MD" dirty="0" smtClean="0"/>
              <a:t>Nota la laborator:</a:t>
            </a:r>
          </a:p>
          <a:p>
            <a:pPr lvl="1"/>
            <a:r>
              <a:rPr lang="en-US" b="1" dirty="0" err="1" smtClean="0"/>
              <a:t>LLab</a:t>
            </a:r>
            <a:r>
              <a:rPr lang="en-US" b="1" dirty="0" smtClean="0"/>
              <a:t>=</a:t>
            </a:r>
            <a:r>
              <a:rPr lang="ro-MD" b="1" dirty="0" smtClean="0"/>
              <a:t>(</a:t>
            </a:r>
            <a:r>
              <a:rPr lang="ro-MD" b="1" dirty="0" smtClean="0"/>
              <a:t>LP1+LP2+LP3)/3</a:t>
            </a:r>
            <a:endParaRPr lang="ro-MD" dirty="0" smtClean="0"/>
          </a:p>
          <a:p>
            <a:r>
              <a:rPr lang="ro-MD" dirty="0" smtClean="0"/>
              <a:t>Nota la evaluarea curentă:</a:t>
            </a:r>
          </a:p>
          <a:p>
            <a:pPr lvl="1"/>
            <a:r>
              <a:rPr lang="vi-VN" b="1" i="1" dirty="0" smtClean="0"/>
              <a:t>N_ev_cur=</a:t>
            </a:r>
            <a:r>
              <a:rPr lang="ro-MD" b="1" i="1" dirty="0" smtClean="0"/>
              <a:t>(</a:t>
            </a:r>
            <a:r>
              <a:rPr lang="ro-RO" b="1" i="1" dirty="0" err="1" smtClean="0"/>
              <a:t>PR+LLab</a:t>
            </a:r>
            <a:r>
              <a:rPr lang="ro-RO" b="1" i="1" dirty="0" smtClean="0"/>
              <a:t>)/2, PR≥5, LLab≥</a:t>
            </a:r>
            <a:r>
              <a:rPr lang="ro-RO" b="1" i="1" dirty="0"/>
              <a:t>5</a:t>
            </a:r>
            <a:r>
              <a:rPr lang="vi-VN" b="1" i="1" dirty="0" smtClean="0"/>
              <a:t> </a:t>
            </a:r>
            <a:endParaRPr lang="ro-MD" dirty="0" smtClean="0"/>
          </a:p>
          <a:p>
            <a:r>
              <a:rPr lang="ro-MD" dirty="0" smtClean="0"/>
              <a:t>Nota finală:</a:t>
            </a:r>
          </a:p>
          <a:p>
            <a:pPr lvl="1"/>
            <a:r>
              <a:rPr lang="vi-VN" b="1" i="1" dirty="0" smtClean="0"/>
              <a:t>N_finală=0,</a:t>
            </a:r>
            <a:r>
              <a:rPr lang="ro-RO" b="1" i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vi-VN" b="1" i="1" dirty="0" smtClean="0"/>
              <a:t>xN_ev_cur</a:t>
            </a:r>
            <a:r>
              <a:rPr lang="vi-VN" b="1" i="1" dirty="0"/>
              <a:t>+ </a:t>
            </a:r>
            <a:r>
              <a:rPr lang="vi-VN" b="1" i="1" dirty="0" smtClean="0"/>
              <a:t>0,</a:t>
            </a:r>
            <a:r>
              <a:rPr lang="ro-RO" b="1" i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vi-VN" b="1" i="1" dirty="0" smtClean="0"/>
              <a:t>xN_examen </a:t>
            </a:r>
            <a:endParaRPr lang="en-US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Principiile de lucru în cadrul disciplinei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mtClean="0"/>
              <a:t>Nu este salutată întîrzierea la ore. </a:t>
            </a:r>
            <a:endParaRPr lang="ro-MD" smtClean="0"/>
          </a:p>
          <a:p>
            <a:r>
              <a:rPr lang="vi-VN" smtClean="0"/>
              <a:t>Este salutată poziţia activă a studentului</a:t>
            </a:r>
            <a:r>
              <a:rPr lang="ro-MD" smtClean="0"/>
              <a:t>.</a:t>
            </a:r>
          </a:p>
          <a:p>
            <a:pPr lvl="1"/>
            <a:r>
              <a:rPr lang="it-IT" smtClean="0"/>
              <a:t>care studiază din propria iniţiativă noi conţinuturi </a:t>
            </a:r>
          </a:p>
          <a:p>
            <a:pPr lvl="1"/>
            <a:r>
              <a:rPr lang="pt-BR" smtClean="0"/>
              <a:t>formulează întrebări în cadrul prelegerilor şi a orelor practice</a:t>
            </a:r>
            <a:r>
              <a:rPr lang="ro-MD" smtClean="0"/>
              <a:t>.</a:t>
            </a:r>
            <a:endParaRPr lang="en-US" smtClean="0"/>
          </a:p>
          <a:p>
            <a:r>
              <a:rPr lang="vi-VN" smtClean="0"/>
              <a:t>Prezentarea unor soluţii a sarcinilor, preluate de la colegi va fi considerată plagiat şi va fi sancţionată prin note de „1”</a:t>
            </a:r>
            <a:r>
              <a:rPr lang="ro-MD" smtClean="0"/>
              <a:t>.</a:t>
            </a:r>
            <a:endParaRPr lang="vi-V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Surse bibliografice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24" y="1600200"/>
            <a:ext cx="4257676" cy="4525963"/>
          </a:xfrm>
        </p:spPr>
        <p:txBody>
          <a:bodyPr/>
          <a:lstStyle/>
          <a:p>
            <a:pPr>
              <a:buNone/>
            </a:pPr>
            <a:r>
              <a:rPr lang="ru-RU" b="1" dirty="0" smtClean="0"/>
              <a:t>Java 8. Полное руководство</a:t>
            </a:r>
          </a:p>
          <a:p>
            <a:pPr>
              <a:buNone/>
            </a:pPr>
            <a:r>
              <a:rPr lang="ru-RU" b="1" dirty="0" smtClean="0"/>
              <a:t>9-е издание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Герберт Шилдт</a:t>
            </a:r>
          </a:p>
          <a:p>
            <a:pPr>
              <a:buNone/>
            </a:pPr>
            <a:r>
              <a:rPr lang="ro-MD" dirty="0" smtClean="0"/>
              <a:t>Oracle Press</a:t>
            </a:r>
          </a:p>
          <a:p>
            <a:pPr>
              <a:buNone/>
            </a:pPr>
            <a:r>
              <a:rPr lang="ro-MD" dirty="0" smtClean="0"/>
              <a:t>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5</a:t>
            </a:fld>
            <a:endParaRPr lang="ro-RO"/>
          </a:p>
        </p:txBody>
      </p:sp>
      <p:pic>
        <p:nvPicPr>
          <p:cNvPr id="1026" name="Picture 2" descr="Imagini pentru книга по java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357298"/>
            <a:ext cx="3248025" cy="4762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Surse bibliografice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24" y="1600200"/>
            <a:ext cx="4257676" cy="4525963"/>
          </a:xfrm>
        </p:spPr>
        <p:txBody>
          <a:bodyPr/>
          <a:lstStyle/>
          <a:p>
            <a:pPr>
              <a:buNone/>
            </a:pPr>
            <a:r>
              <a:rPr lang="ru-RU" b="1" dirty="0" smtClean="0"/>
              <a:t>Java 8. Полное руководство</a:t>
            </a:r>
          </a:p>
          <a:p>
            <a:pPr>
              <a:buNone/>
            </a:pPr>
            <a:r>
              <a:rPr lang="ro-RO" b="1" dirty="0" smtClean="0"/>
              <a:t>10</a:t>
            </a:r>
            <a:r>
              <a:rPr lang="ru-RU" b="1" dirty="0" smtClean="0"/>
              <a:t>-е издание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Герберт Шилдт</a:t>
            </a:r>
          </a:p>
          <a:p>
            <a:pPr>
              <a:buNone/>
            </a:pPr>
            <a:r>
              <a:rPr lang="ro-MD" dirty="0" smtClean="0"/>
              <a:t>Oracle Press</a:t>
            </a:r>
          </a:p>
          <a:p>
            <a:pPr>
              <a:buNone/>
            </a:pPr>
            <a:r>
              <a:rPr lang="ro-MD" dirty="0" smtClean="0"/>
              <a:t>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6</a:t>
            </a:fld>
            <a:endParaRPr lang="ro-RO"/>
          </a:p>
        </p:txBody>
      </p:sp>
      <p:pic>
        <p:nvPicPr>
          <p:cNvPr id="6" name="Imagine 5"/>
          <p:cNvPicPr>
            <a:picLocks noChangeAspect="1"/>
          </p:cNvPicPr>
          <p:nvPr/>
        </p:nvPicPr>
        <p:blipFill rotWithShape="1">
          <a:blip r:embed="rId2"/>
          <a:srcRect l="34644" t="12927" r="35432" b="10747"/>
          <a:stretch/>
        </p:blipFill>
        <p:spPr>
          <a:xfrm>
            <a:off x="305538" y="1222698"/>
            <a:ext cx="3618390" cy="499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0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Surse bibliografice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24" y="1600200"/>
            <a:ext cx="4257676" cy="45259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Философия </a:t>
            </a:r>
            <a:r>
              <a:rPr lang="en-US" dirty="0" smtClean="0"/>
              <a:t>Java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Thinking in Java (4th Edition)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Питер</a:t>
            </a:r>
            <a:endParaRPr lang="ro-MD" dirty="0" smtClean="0"/>
          </a:p>
          <a:p>
            <a:pPr>
              <a:buNone/>
            </a:pPr>
            <a:r>
              <a:rPr lang="ro-MD" dirty="0" smtClean="0"/>
              <a:t>201</a:t>
            </a:r>
            <a:r>
              <a:rPr lang="ru-RU" dirty="0" smtClean="0"/>
              <a:t>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7</a:t>
            </a:fld>
            <a:endParaRPr lang="ro-RO"/>
          </a:p>
        </p:txBody>
      </p:sp>
      <p:pic>
        <p:nvPicPr>
          <p:cNvPr id="68612" name="Picture 4" descr="https://ozon-st.cdn.ngenix.net/multimedia/101096666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14422"/>
            <a:ext cx="3317156" cy="48577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Resursele</a:t>
            </a:r>
            <a:r>
              <a:rPr lang="en-US" b="1" dirty="0"/>
              <a:t> </a:t>
            </a:r>
            <a:r>
              <a:rPr lang="en-US" b="1" dirty="0" err="1"/>
              <a:t>informaţionale</a:t>
            </a:r>
            <a:r>
              <a:rPr lang="en-US" b="1" dirty="0"/>
              <a:t> la </a:t>
            </a:r>
            <a:r>
              <a:rPr lang="en-US" b="1" dirty="0" err="1"/>
              <a:t>unitatea</a:t>
            </a:r>
            <a:r>
              <a:rPr lang="en-US" b="1" dirty="0"/>
              <a:t> de curs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o-RO" sz="3400" b="1" dirty="0" smtClean="0"/>
              <a:t>Cărți – în română, rusă și engleză</a:t>
            </a:r>
          </a:p>
          <a:p>
            <a:pPr>
              <a:lnSpc>
                <a:spcPct val="150000"/>
              </a:lnSpc>
            </a:pPr>
            <a:r>
              <a:rPr lang="ro-RO" sz="3400" b="1" dirty="0" smtClean="0"/>
              <a:t>Surse internet </a:t>
            </a:r>
          </a:p>
          <a:p>
            <a:pPr>
              <a:lnSpc>
                <a:spcPct val="150000"/>
              </a:lnSpc>
            </a:pPr>
            <a:r>
              <a:rPr lang="ro-RO" sz="3400" b="1" dirty="0" smtClean="0"/>
              <a:t>Surse video</a:t>
            </a:r>
          </a:p>
          <a:p>
            <a:pPr>
              <a:lnSpc>
                <a:spcPct val="150000"/>
              </a:lnSpc>
            </a:pPr>
            <a:r>
              <a:rPr lang="ro-RO" sz="3400" b="1" dirty="0" smtClean="0"/>
              <a:t>Prezentările de la prelegeri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273596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Despre mine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952" y="1600200"/>
            <a:ext cx="4752528" cy="4525963"/>
          </a:xfrm>
        </p:spPr>
        <p:txBody>
          <a:bodyPr>
            <a:normAutofit/>
          </a:bodyPr>
          <a:lstStyle/>
          <a:p>
            <a:r>
              <a:rPr lang="ro-MD" sz="2000" dirty="0" smtClean="0"/>
              <a:t>2006 – licența specialitatea    </a:t>
            </a:r>
            <a:r>
              <a:rPr lang="ro-MD" sz="2000" i="1" dirty="0" smtClean="0"/>
              <a:t>Informatica și limba engleză aplicată</a:t>
            </a:r>
          </a:p>
          <a:p>
            <a:r>
              <a:rPr lang="ro-MD" sz="2000" dirty="0" smtClean="0"/>
              <a:t>2012 – doctorat specialitatea           </a:t>
            </a:r>
            <a:r>
              <a:rPr lang="ro-MD" sz="2000" i="1" dirty="0" smtClean="0"/>
              <a:t>Bazele teoretice ale informaticii; programarea calculatoarelor</a:t>
            </a:r>
          </a:p>
          <a:p>
            <a:r>
              <a:rPr lang="ro-MD" sz="2000" dirty="0" smtClean="0"/>
              <a:t>2014 – mobilitate postdoctorală domeniul </a:t>
            </a:r>
            <a:r>
              <a:rPr lang="ro-MD" sz="2000" i="1" dirty="0" smtClean="0"/>
              <a:t>Procesare a limbajului natural</a:t>
            </a:r>
          </a:p>
          <a:p>
            <a:r>
              <a:rPr lang="ro-MD" sz="2000" dirty="0" smtClean="0"/>
              <a:t>2014 – proiectul </a:t>
            </a:r>
            <a:r>
              <a:rPr lang="ro-MD" sz="2000" i="1" dirty="0" err="1" smtClean="0"/>
              <a:t>GeDeRO</a:t>
            </a:r>
            <a:endParaRPr lang="ro-MD" sz="2000" i="1" dirty="0" smtClean="0"/>
          </a:p>
          <a:p>
            <a:r>
              <a:rPr lang="ro-MD" sz="2000" dirty="0" smtClean="0"/>
              <a:t>2015 – proiectul </a:t>
            </a:r>
            <a:r>
              <a:rPr lang="ro-MD" sz="2000" i="1" dirty="0" err="1" smtClean="0"/>
              <a:t>SoftCrates</a:t>
            </a:r>
            <a:endParaRPr lang="ro-MD" sz="2000" i="1" dirty="0" smtClean="0"/>
          </a:p>
          <a:p>
            <a:r>
              <a:rPr lang="ro-MD" sz="2000" dirty="0" smtClean="0"/>
              <a:t>2018 – proiectul Conferința </a:t>
            </a:r>
            <a:r>
              <a:rPr lang="ro-MD" sz="2000" i="1" dirty="0" smtClean="0"/>
              <a:t>MITI2018</a:t>
            </a:r>
          </a:p>
          <a:p>
            <a:r>
              <a:rPr lang="ro-MD" sz="2000" dirty="0" smtClean="0"/>
              <a:t>2019 – Institutul de Matematică și Informatică „Vladimir </a:t>
            </a:r>
            <a:r>
              <a:rPr lang="ro-MD" sz="2000" dirty="0" err="1" smtClean="0"/>
              <a:t>Andrunachievici</a:t>
            </a:r>
            <a:r>
              <a:rPr lang="ro-MD" sz="2000" dirty="0" smtClean="0"/>
              <a:t>”</a:t>
            </a:r>
          </a:p>
          <a:p>
            <a:r>
              <a:rPr lang="ro-MD" sz="2000" i="1" dirty="0" smtClean="0"/>
              <a:t>2019 – ACETI…</a:t>
            </a:r>
            <a:endParaRPr lang="en-US" sz="2000" i="1" dirty="0"/>
          </a:p>
        </p:txBody>
      </p:sp>
      <p:pic>
        <p:nvPicPr>
          <p:cNvPr id="1026" name="image2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00048"/>
            <a:ext cx="3240360" cy="453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036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98072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o-MD" sz="6000" dirty="0"/>
              <a:t>Programarea orientată pe obiect II</a:t>
            </a:r>
            <a:endParaRPr lang="ro-RO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2597964"/>
            <a:ext cx="6415110" cy="4143404"/>
          </a:xfrm>
        </p:spPr>
        <p:txBody>
          <a:bodyPr>
            <a:normAutofit/>
          </a:bodyPr>
          <a:lstStyle/>
          <a:p>
            <a:r>
              <a:rPr lang="ro-RO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Prelegerea nr. 1</a:t>
            </a:r>
          </a:p>
          <a:p>
            <a:r>
              <a:rPr lang="en-US" dirty="0" err="1"/>
              <a:t>Tehnologii</a:t>
            </a:r>
            <a:r>
              <a:rPr lang="en-US" dirty="0"/>
              <a:t> Java: Java </a:t>
            </a:r>
            <a:r>
              <a:rPr lang="en-US" dirty="0" smtClean="0"/>
              <a:t>8</a:t>
            </a:r>
            <a:r>
              <a:rPr lang="ro-MD" dirty="0" smtClean="0"/>
              <a:t>/9/10…13</a:t>
            </a:r>
            <a:r>
              <a:rPr lang="en-US" dirty="0" smtClean="0"/>
              <a:t>, </a:t>
            </a:r>
            <a:r>
              <a:rPr lang="en-US" dirty="0" err="1"/>
              <a:t>prezentare</a:t>
            </a:r>
            <a:r>
              <a:rPr lang="en-US" dirty="0"/>
              <a:t>. </a:t>
            </a:r>
            <a:r>
              <a:rPr lang="en-US" dirty="0" err="1"/>
              <a:t>Interfețe</a:t>
            </a:r>
            <a:r>
              <a:rPr lang="en-US" dirty="0"/>
              <a:t> Java.</a:t>
            </a:r>
            <a:endParaRPr lang="ro-RO" dirty="0" smtClean="0"/>
          </a:p>
          <a:p>
            <a:pPr algn="r"/>
            <a:r>
              <a:rPr lang="ro-RO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Petic Mircea</a:t>
            </a:r>
          </a:p>
          <a:p>
            <a:pPr algn="r"/>
            <a:r>
              <a:rPr lang="ro-RO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petic.mircea@yahoo.com</a:t>
            </a:r>
          </a:p>
          <a:p>
            <a:pPr algn="r"/>
            <a:r>
              <a:rPr lang="ro-RO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www.facebook.com/mircea.petic</a:t>
            </a:r>
            <a:endParaRPr lang="ro-RO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662" y="274638"/>
            <a:ext cx="7258072" cy="1143000"/>
          </a:xfrm>
        </p:spPr>
        <p:txBody>
          <a:bodyPr>
            <a:normAutofit fontScale="90000"/>
          </a:bodyPr>
          <a:lstStyle/>
          <a:p>
            <a:r>
              <a:rPr lang="ro-MD" dirty="0" smtClean="0"/>
              <a:t>Limbajele folosite deja cunoscute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11</a:t>
            </a:fld>
            <a:endParaRPr lang="ro-RO"/>
          </a:p>
        </p:txBody>
      </p:sp>
      <p:pic>
        <p:nvPicPr>
          <p:cNvPr id="62466" name="Picture 2" descr="http://img-ipad.lisisoft.com/imgmic/2/7/2741-1-pascal-programming-languag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72" y="1404935"/>
            <a:ext cx="1666875" cy="1666875"/>
          </a:xfrm>
          <a:prstGeom prst="rect">
            <a:avLst/>
          </a:prstGeom>
          <a:noFill/>
        </p:spPr>
      </p:pic>
      <p:pic>
        <p:nvPicPr>
          <p:cNvPr id="62468" name="Picture 4" descr="http://www.andreioprea.ro/wp-content/uploads/2015/01/Sfaturi-utile-despre-cum-se-face-un-sit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6546" y="4786322"/>
            <a:ext cx="2357454" cy="1779878"/>
          </a:xfrm>
          <a:prstGeom prst="rect">
            <a:avLst/>
          </a:prstGeom>
          <a:noFill/>
        </p:spPr>
      </p:pic>
      <p:pic>
        <p:nvPicPr>
          <p:cNvPr id="62470" name="Picture 6" descr="http://php.quicoto.com/wp-content/uploads/2013/06/css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74227" y="1357298"/>
            <a:ext cx="1626863" cy="1452556"/>
          </a:xfrm>
          <a:prstGeom prst="rect">
            <a:avLst/>
          </a:prstGeom>
          <a:noFill/>
        </p:spPr>
      </p:pic>
      <p:pic>
        <p:nvPicPr>
          <p:cNvPr id="62474" name="Picture 10" descr="http://www.pixme.org/wp-content/uploads/2014/04/sq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00298" y="3321858"/>
            <a:ext cx="2428872" cy="1821654"/>
          </a:xfrm>
          <a:prstGeom prst="rect">
            <a:avLst/>
          </a:prstGeom>
          <a:noFill/>
        </p:spPr>
      </p:pic>
      <p:pic>
        <p:nvPicPr>
          <p:cNvPr id="62472" name="Picture 8" descr="http://www.pnnsoft.com/Media/Default/Content%20img/c-logo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11651" y="4918871"/>
            <a:ext cx="3274663" cy="1581963"/>
          </a:xfrm>
          <a:prstGeom prst="rect">
            <a:avLst/>
          </a:prstGeom>
          <a:noFill/>
        </p:spPr>
      </p:pic>
      <p:pic>
        <p:nvPicPr>
          <p:cNvPr id="62476" name="Picture 12" descr="http://assembler.perm.ru/images/head_logo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7158" y="1643050"/>
            <a:ext cx="2905125" cy="90487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62478" name="Picture 14" descr="https://upload.wikimedia.org/wikipedia/commons/thumb/2/27/PHP-logo.svg/1280px-PHP-logo.svg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7158" y="3571876"/>
            <a:ext cx="2143140" cy="1135195"/>
          </a:xfrm>
          <a:prstGeom prst="rect">
            <a:avLst/>
          </a:prstGeom>
          <a:noFill/>
        </p:spPr>
      </p:pic>
      <p:sp>
        <p:nvSpPr>
          <p:cNvPr id="62480" name="AutoShape 16" descr="data:image/png;base64,iVBORw0KGgoAAAANSUhEUgAAAOEAAADhCAMAAAAJbSJIAAAA7VBMVEX/zAD///8AAAD//fT/ygD/0jX/0QD/zQD/zwD/0gDJXgDJWwDTdgDJWgDgkgDJXQDeonjrxq3MZQDx2cjltwDMowDFngD5yACLcAATEACpiADNaADnnwDahQD1uQDvvwD6wwDmnABPQADxsgDrpwDXrACzjwALCQDSqAD3vQDXfgD79O725dkyKAChgQBENwDhrInciQCXeQDZlGru0LwoIABbSQAhGgB9ZADWiVFMPQDltpnTfTp2XgCPcwDnvJ9tVwDQcyMZFADZkl7VhUrSezg8MADPbhkxJwD/11H04dQmHgDamHHfpoDVhk9XVNSeAAAS40lEQVR4nO2de1viuhaHkc1Jk5RSKHjZFgQsolxGUREv6CjCjPt4hv39P87JpYWCTXqh87TMw++fGaE0eZtkZWXl0szen65M0hn47doRbr92hNsvm/C///kDdfiXi/A/mT9QuR3h1mtHuP3aEW6/doTbrx3h9mtHuP3aEW6/doTbrx3h9mtHuP3aEW6/doTbrx3h9ivdhAqEEKyKfAKVMPdILaFC0GCuY1WbhVo3z9WtXReaLeukoVDUgJyxEAIkFQh7P0KHOq1C18REuroiXScfGflas9WhBep/szgIQd6QqhAKkeA1WjVDp2ia+jGbFsevryWm1/GgOP13YmgaIcU67jatjG9ZxkSINaHCERK8ap4V3Md0XO7vear3ORxMPwg/xka31ZBDxkOIB2WRPqc4MKECYKtL8DSzOOx5w7k5y+OZppFKm6/mgLi6xkOolsQZKaoBCRWQaxoYa5OxoOi8VJ5/EEi9ZgkZ00PI+HRc/AyOx9UffGgYm62UE0JQNbBqjv0rp5fKU83QBcmkhBB08qT8JHfxU1/Flnc9TQWhAgo61gbR+UgpakbG26KmgRA28lidRaufjgZ6V5BKCgiBRbrT14349vZ+4KrAmCZPiFo6NkP0D57qaXpH0O0nTgiquj7bkG9vr6SaokSSJkRVXZ1uDLh3i69TSkhKUL3dHHDPEPUVSRNCS9fjAPzUcE7kfSdKCBsG3rwNEo3VPBLlLlnCPP6IA3DvGTeFg4skCUEBa5v187Z6Gj5JIyE80Tfu6LmGqikeAydISAbOsTRCkoReE5vr5AhhC2ubujK2PnArjWN8aOJ5PIB9TW+ksJbSIgxiZsqvt7MPg4YVsTl5fpy/Dr8U/Kual3hNiRGSVuhfhMNHTVN1GjTVaZyUB0817Uex5H44j9JYV1KE8MS/CMeYhgvzhZZ10qE6sVpNHibWVe1jXnauw2KXLUFCcO1nSMumio1rK8OmKhQqyGYxYO6kdW3SmKNxyyDLGpaFvhMjNNShFHCuYaOa8YoRKpSz0aqRstTMQU8yvE+SEFoYSytpUcO1HBBbSAUCxarRkixOZH1FYoSgKa+kYw03kd/kEgS5KqmuBhYN7xMlzKtjCWBfwwXhYMElUpJWXhcO75MkzBiaLLY9w+LR0JogskQxKK5kCJUO1qRFqHcCzAza8plETIaQGBrZwHCgy5yUkEqIsKo/SgifhcHPCEqGEBSk4RlJXCm8EiK8VmWzFMT+bz1hTZWN7v+EMuxKCX28lHBKJeEvXRjBDq9U1tKhcDIwglJpaUhDbMZWiKnsLfZeZQHQkEqsx/9XRkj6fCOuDiMxr82UEvbIqMiKp6Im5Hk3dJ8oDUHUm5KVTsGV0OhJMbWy+CcMcabi/IlklB9USY2Au7rv4hIyztdrjY0Zk4rTtPDEj3Cv90gYrztos7qaVC0lDTHApEX5h4Zx1wq8HjhFhBmUx4HWQFFGPd/yDCumm5BUUxyEcG/vc0rKERdOUMSCTIpQyRiyH62oNzBUjPMt2TrZ9BHSKW55p7+i4bOmY6NmgfCmNTFCJWdIQ6br6g8Muk622QhrWpObIQVNrIdbp1CeqirWu1aQPQhpIKSTwLKAm5d6rxO+4DlEZU2S0NK18KuCmWk1m0pgtzzJ9TSoEGmtQm+AdYyrSsC6mvCaKMOItGRobOikrgbrPBIlVBpGAPfUm5H2kJ0gVTXhtYkdjJ+jIdI5VL0QwKwmvb7UwvhHRMT+TMPmiW8xJr1GmCJOoi7fKxGHtenXcSRNyBCNqKu/aCCgm0nj/KFbsGMYEfpFW2NSUxspnANeRWzksRZ5NXsZG4a0MaaAMKPAAhk4+ESmhKKBRxliGgiJd0O3zdxGNDi9CZZFyNNBmIE5usQpamv8gQ1xW0wJYUZBLROrk2hVlVRUM527EVYElQLG2nPoLaQMEWPh2rb0EGYU0KhRxijlWNaE83EpIqSMHcr4I0J7HKii1W2pIqTNsVPTsWoMQtvVH1iwyihlhOzIgQLdsz6TLz/9or4mWN6QOkK2L7+Vx6Qgi6FaZBF7r1FMISFbVHlyzZcAB/fJe6p3IaaSMEMrq8IPkHgObHaK3i0xrYQM0q6tAc1OT9O9nLcUE7La2qFmRw3mss48912kmpBCggxx54K55SXV3LYy5Ix0LTcOcuTCX56rcNJPmKEt0qJuua9d9dxKuhWEdC13lRSjn1n13FuyJYQkERrr8KmpZc34PYTI1CQu1i/RwTEhpcBrrMlnHHsa/roRMZYylC7/+aWL91mHkkJ3Rsu9VcPD1MRyXpsp2x4y1WNbeI9q2JASei0ujoFQyRmySbKZHtuSZiVjyJdSPXo8zTgIG1j7K9xzjSrYwrqM0KvNx0BId9pJUo114b1iSFvi3MNux0HYks6QqfEt96ULxHXZ7uG5+nUJfAyEoKD/EidKhm2SreRh5bOd6DcRImmH39cMYSgzvEh9kU03/h5CJSddb1DW5Bsgwwlaupzwd7RDYmhknVRJehxA6MTkZXjr4V1sTghqWLazwKviRBdsht7WtzEhraSymNij2GmL0Dx9Vk+bHj3TxoSgKV9j6JUolyLbjS76iSF7nD3sEfjelJCuE5U5/D3huSNKQ22GWZ9GBapS56Kv4a+/2ZQQFeRrfYkpFUDQVcJGM1Q5+vmlJa8DsTYkBJbPyFt8pAO4pgey4utO4HXqCujKxxa3Xrv6NiOka5rkKyjFp3ABUy+VTC348maFWG35PhTDy8n3J5Q8YXBi+BxH1tNFXikdkfT29oZ0vwGuBTi1GuS6PmP8vtcQ358QWh3v888VSDon/CGPYw5Vj8gJv2/LtsH9OV3ejLstQTo8MUCbrc/RYN7b+H0JiTdvFqwcPSVGWaRPD1Chp25ofsvubrHoFC5wvdyCWL416KnV5nWrw46jWeWk5883mibWTZ+5qInnNn5/wjw7pCl/XbU6Oef4/oZVpdMm0q2uTFg4/AXmir9enpvsvCQjXyAJKe5XBTSsAj3D3DckXPaspP6ECOP5FNunNWHDNPOmSW2grhn+UWhSSQWeC22Ga/56r1ScOMdCGflut0aVZ4mp2sT/lOipd33xI7QNQr80n0340fIqO0r+eRBk+vJReKzoohmuUZZfi88fNAnnTQHkvx+PrwGmEfveU0++hPDE1QX1+uXycFgufwacZe9pQpfN3Qy//q5fHpZeB+PxYFwaBk1sKjjxxZcwyDY6keai1QM0ihx4U1AwfYqepi9hU4+8bLAntjMBd+eF0AR3vQ/t8SP02zkv0wB7zefxB9eK6eRSR+PI62nksy5SiZYOsNsWpMPm0OpHXxMFfbckCzUVLP/Y8MF56kPc4n0IfcJMMg3FhtSrN9xIj1gcsvQj7GA1YqqG0GET9oZRVVR1cVzdhxBaUTuLRyyJk8bbDOeaXo18Bq1PbEusgeyxrjulm6mobXK6JyhI5wmEKoltWybmZniryl/V40coPwxIJGJlJGcX+wWRw6j3jPWm9Hw+P0LpFL1IpASlB26SZhjD2wKoymQc0pJHnOWEPtO7Ag0IoDQmIZ/LCaFigL1dPoTy8w29NSVVVAqo5OJxSocmxt2cXxBLThihwZQNerCMNE3YUg0cfp3zmj6fNWy0fA859SOshjw2vXdLkvU9HEipkpG7ehtp44HD96hhfO1bgL6EpLMohuEb0BeEBUgWZujhseHeP+ZW6ZmeedIJFC/3IeyGOPegN1cxNi3/esMYgdUlj0ObDEKX5Occ04MHTgIeriAnRKYe0Oj1SjO6T74a/LwD5z2AGp4GCcPYyZSLNLpqFDqBTwHxsaW6gSf+b+rrv850dvpI0D3y9t0pZBfTUJoxG3w9TX6dbjh4xjQU143zTIVmnr5LkmRgXvJ83WKvXxr8a7BXLRZOIhyuokCUswp5GjBUNfxjOi599r88z15/+FqcGTzQWGvlwp1U4+fToAY7AJ1iahqeTH/NB2OmefH23w8W9aPxYoIX9RQg+tLRnNWs8VR4rHIye7ylms4mpq7xl3Ji3axVT4K/YTUgIcsAzFnV67xpsBP8Xa88pY+UvvOUxfyj4S0Sgew0+UKNJ8PeFKA7rwvAhtktVK0GDPRm1dCETgbYq2tb1ULhmsWi6Xtrq62TRg59mWeIKpYKgrnGidVqVZtU1VbLsjqNDPg6mxFYIeYPlfX3D0P3ZE1s4m8IcGnDNGJZX5pq7Qi3XzvC7VcShErYN8Ar9P3lUS1qgLUY/AXpEe//9XbEg6lXKvVDhII6l8rhQzb7Vo/oVPivxdj/dkX0FM8CQwVVbn5mme5f2ofBEBH7xV3EHPgTHrD8nMdCCA9fsi59C1QzYIVffeZbiNCrVgQl/DsOQievjr4HO2zhjF99ICVUACL1ox5lxVB8hMrh36uEF4GalpLhV0vrtFJv0+qRMCF6cND+5qgBDSq4oBfvy08q4jdOllA55Ll4PyDWH1bap6OgBhpkzs4yPhHK87gIaXWncgaEjv9vf+v6i45s3VcSq8wJK6xrI9+uVDv31fwuPDHAvgPOyNe5P7+7ky75wyYEcH0MGY4QoPrB95fTp9HDcZ3ns7LPxDOr1NkfB+QveuUNufL04bhiB8VAm99pUXIuQIAq7aOXt5ejdkWxb3pG8tp+u6LW6GCRxiH7X10BkOTj7egAsmzRH3BCemVlFTEcYftqaSbeDuHi22ybP4Dv/C8yxDs4XV45qgMXYbb+9RB61P65uLoCeXsdofod+ecUObWb5BzWeWqofe7UePq80JHbfh2t3j8MoWO2HREvQ7Fb+BsrGPSNJ4GU+uqV7LE6tfT9bC3SCetLvuy5ooAb+p8r3rRGbkL7v+3vy+tvSMrI9Tf5JDphBr6v5PsbWD4+WuUcLpIV9HPlyr/Z1znnz9GF+zxguPI4iPnhhN+Osl8J+aXf3D8g1Sc+QlZ93o6OHs4XN3fKlXZtdjWkngrL5Ojh6OGef33Jfn6zyMXd5aHjSiuZ+7X8gWOWokPsJsxkvyqnxFZLyf9HF9yUvjnPe1kzyX+5S3bMKvTTPjeOPPF/WC0GT+6M2KcBLrJ3dFavVy7Jo+KEtp68CW8qFeeqGwArB0tLc7CRpYHEPtOAGLITJUmCS14otOD4h6xPoldyi84/ZMZWUUauvJ+f0Xs6+SedCHtHJa0LTt5HF6ReKl6EF+RiZNdu4pLH11vQHor0Ag+j00W+4aLx2V6n04/bV44W2aM/R+7iYb60Y2H3l92/Q/hCn5KS8SB84Ibt0n6kML4eH4L2igmh+Uac9hjYpXlgl7a7Z1kODEDu8nzxITVAdtV2DzMcwkP+Gw/CffaN83D34yMEZ2uuc2VZCCOEeCtj4U1Q+Wf1ysXQh9SCizfnU9JkEX8QR18Jn+yPPAjtu0Fuo2hnHA/hen/ICZ0MwMNlVmF9/Ur34I60oNOsAwHu2P/cJt4mPPUltK3choSAE74D0ru/8/u/tc/sPpq1Ltuwnl0sE3e6w1H7ov70hZAy2lYVOZd6lGEAwrtYCHlyV8hhJUYPQLtuuX2VS9YM71gRclhi8ciVpx6EC/tC+rIn5/6hCZ0vNmyHdg6IW2bbhBu0LCRGqPC7v7GiZF07d0q4xXMTLj0ZhxAtBo1ny2rqT3jMHV37kdOeyCZc6wt9COnUC0D2XUjO7drI6sQy0YzTZ//zvniI9rO4RNSwLJ86uDnO0Kkq0pVlvjkQju/+v0PABkUwCOEdvQwCbs1+0uuAbXTQlzilmBBcHu9XDhyHg/qajiMDEFjp5VzhF94Z2m7KFSLOgVNEkDeb0eV+pXJ2+b4sC+D8tl1HKHe2DwMQZp8qCFWeXAVqV7Xz/XplraaKCdH/sktdoUXdy562L++W3OzShSvMO0OnQ7s6vvy5vHJ9wEEMNO1ZnApr6wUFIcxm79+d/7FCW0ZI7CochNCdLi2C9UjZktDu67N8iOHyxJai7ubB+oe87aE392dXAQkXsj2M/cUH7YCEK11a2135mH4uwDPLYZPtTZErXc4ZbywH0P2YuWxHTQEriOTvMITHTpILZysw4cXiJveOz7hEbF84+eZf2E1i0ScsB0o3vORJ1YEHKx7fy6GTEwW135ef15VlByUiPHCaxfnCnV0Oo4MSKvXvo7u/s/c/Hw7A4ifo7OXu/P3qpo7qD0dETsATXhwxLe+NKg//nL//vKmgQ/YNfRY0GPNwdX9Ob9o+dE+1ALh/RL54vzv9fkGc+X32k0sn+JVhaR0RC7LoD1F79J69f2u7XuRBfObR/fn9t7e1rlfcDnmgiwa03CWLkMKmVNh00PIrPn0DVq+ELHTmvpINpxR607X4u0JvoDgXrt2N34E+kWWPT26UWb8L4LcIN3qKfyECHSVG/6nbpwl4m+2aIV3zSwNpR5gu7Qi9tCNMmx6oXjwGSUJtGyFa7YcDaNsIw2tHuP1aITzM/YlyE/71R2rPRfgHa0e4/frzCf8Pz8cNasrHIy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2" name="AutoShape 18" descr="data:image/png;base64,iVBORw0KGgoAAAANSUhEUgAAAOEAAADhCAMAAAAJbSJIAAAA7VBMVEX/zAD///8AAAD//fT/ygD/0jX/0QD/zQD/zwD/0gDJXgDJWwDTdgDJWgDgkgDJXQDeonjrxq3MZQDx2cjltwDMowDFngD5yACLcAATEACpiADNaADnnwDahQD1uQDvvwD6wwDmnABPQADxsgDrpwDXrACzjwALCQDSqAD3vQDXfgD79O725dkyKAChgQBENwDhrInciQCXeQDZlGru0LwoIABbSQAhGgB9ZADWiVFMPQDltpnTfTp2XgCPcwDnvJ9tVwDQcyMZFADZkl7VhUrSezg8MADPbhkxJwD/11H04dQmHgDamHHfpoDVhk9XVNSeAAAS40lEQVR4nO2de1viuhaHkc1Jk5RSKHjZFgQsolxGUREv6CjCjPt4hv39P87JpYWCTXqh87TMw++fGaE0eZtkZWXl0szen65M0hn47doRbr92hNsvm/C///kDdfiXi/A/mT9QuR3h1mtHuP3aEW6/doTbrx3h9mtHuP3aEW6/doTbrx3h9mtHuP3aEW6/doTbrx3h9ivdhAqEEKyKfAKVMPdILaFC0GCuY1WbhVo3z9WtXReaLeukoVDUgJyxEAIkFQh7P0KHOq1C18REuroiXScfGflas9WhBep/szgIQd6QqhAKkeA1WjVDp2ia+jGbFsevryWm1/GgOP13YmgaIcU67jatjG9ZxkSINaHCERK8ap4V3Md0XO7vear3ORxMPwg/xka31ZBDxkOIB2WRPqc4MKECYKtL8DSzOOx5w7k5y+OZppFKm6/mgLi6xkOolsQZKaoBCRWQaxoYa5OxoOi8VJ5/EEi9ZgkZ00PI+HRc/AyOx9UffGgYm62UE0JQNbBqjv0rp5fKU83QBcmkhBB08qT8JHfxU1/Flnc9TQWhAgo61gbR+UgpakbG26KmgRA28lidRaufjgZ6V5BKCgiBRbrT14349vZ+4KrAmCZPiFo6NkP0D57qaXpH0O0nTgiquj7bkG9vr6SaokSSJkRVXZ1uDLh3i69TSkhKUL3dHHDPEPUVSRNCS9fjAPzUcE7kfSdKCBsG3rwNEo3VPBLlLlnCPP6IA3DvGTeFg4skCUEBa5v187Z6Gj5JIyE80Tfu6LmGqikeAydISAbOsTRCkoReE5vr5AhhC2ubujK2PnArjWN8aOJ5PIB9TW+ksJbSIgxiZsqvt7MPg4YVsTl5fpy/Dr8U/Kual3hNiRGSVuhfhMNHTVN1GjTVaZyUB0817Uex5H44j9JYV1KE8MS/CMeYhgvzhZZ10qE6sVpNHibWVe1jXnauw2KXLUFCcO1nSMumio1rK8OmKhQqyGYxYO6kdW3SmKNxyyDLGpaFvhMjNNShFHCuYaOa8YoRKpSz0aqRstTMQU8yvE+SEFoYSytpUcO1HBBbSAUCxarRkixOZH1FYoSgKa+kYw03kd/kEgS5KqmuBhYN7xMlzKtjCWBfwwXhYMElUpJWXhcO75MkzBiaLLY9w+LR0JogskQxKK5kCJUO1qRFqHcCzAza8plETIaQGBrZwHCgy5yUkEqIsKo/SgifhcHPCEqGEBSk4RlJXCm8EiK8VmWzFMT+bz1hTZWN7v+EMuxKCX28lHBKJeEvXRjBDq9U1tKhcDIwglJpaUhDbMZWiKnsLfZeZQHQkEqsx/9XRkj6fCOuDiMxr82UEvbIqMiKp6Im5Hk3dJ8oDUHUm5KVTsGV0OhJMbWy+CcMcabi/IlklB9USY2Au7rv4hIyztdrjY0Zk4rTtPDEj3Cv90gYrztos7qaVC0lDTHApEX5h4Zx1wq8HjhFhBmUx4HWQFFGPd/yDCumm5BUUxyEcG/vc0rKERdOUMSCTIpQyRiyH62oNzBUjPMt2TrZ9BHSKW55p7+i4bOmY6NmgfCmNTFCJWdIQ6br6g8Muk622QhrWpObIQVNrIdbp1CeqirWu1aQPQhpIKSTwLKAm5d6rxO+4DlEZU2S0NK18KuCmWk1m0pgtzzJ9TSoEGmtQm+AdYyrSsC6mvCaKMOItGRobOikrgbrPBIlVBpGAPfUm5H2kJ0gVTXhtYkdjJ+jIdI5VL0QwKwmvb7UwvhHRMT+TMPmiW8xJr1GmCJOoi7fKxGHtenXcSRNyBCNqKu/aCCgm0nj/KFbsGMYEfpFW2NSUxspnANeRWzksRZ5NXsZG4a0MaaAMKPAAhk4+ESmhKKBRxliGgiJd0O3zdxGNDi9CZZFyNNBmIE5usQpamv8gQ1xW0wJYUZBLROrk2hVlVRUM527EVYElQLG2nPoLaQMEWPh2rb0EGYU0KhRxijlWNaE83EpIqSMHcr4I0J7HKii1W2pIqTNsVPTsWoMQtvVH1iwyihlhOzIgQLdsz6TLz/9or4mWN6QOkK2L7+Vx6Qgi6FaZBF7r1FMISFbVHlyzZcAB/fJe6p3IaaSMEMrq8IPkHgObHaK3i0xrYQM0q6tAc1OT9O9nLcUE7La2qFmRw3mss48912kmpBCggxx54K55SXV3LYy5Ix0LTcOcuTCX56rcNJPmKEt0qJuua9d9dxKuhWEdC13lRSjn1n13FuyJYQkERrr8KmpZc34PYTI1CQu1i/RwTEhpcBrrMlnHHsa/roRMZYylC7/+aWL91mHkkJ3Rsu9VcPD1MRyXpsp2x4y1WNbeI9q2JASei0ujoFQyRmySbKZHtuSZiVjyJdSPXo8zTgIG1j7K9xzjSrYwrqM0KvNx0BId9pJUo114b1iSFvi3MNux0HYks6QqfEt96ULxHXZ7uG5+nUJfAyEoKD/EidKhm2SreRh5bOd6DcRImmH39cMYSgzvEh9kU03/h5CJSddb1DW5Bsgwwlaupzwd7RDYmhknVRJehxA6MTkZXjr4V1sTghqWLazwKviRBdsht7WtzEhraSymNij2GmL0Dx9Vk+bHj3TxoSgKV9j6JUolyLbjS76iSF7nD3sEfjelJCuE5U5/D3huSNKQ22GWZ9GBapS56Kv4a+/2ZQQFeRrfYkpFUDQVcJGM1Q5+vmlJa8DsTYkBJbPyFt8pAO4pgey4utO4HXqCujKxxa3Xrv6NiOka5rkKyjFp3ABUy+VTC348maFWG35PhTDy8n3J5Q8YXBi+BxH1tNFXikdkfT29oZ0vwGuBTi1GuS6PmP8vtcQ358QWh3v888VSDon/CGPYw5Vj8gJv2/LtsH9OV3ejLstQTo8MUCbrc/RYN7b+H0JiTdvFqwcPSVGWaRPD1Chp25ofsvubrHoFC5wvdyCWL416KnV5nWrw46jWeWk5883mibWTZ+5qInnNn5/wjw7pCl/XbU6Oef4/oZVpdMm0q2uTFg4/AXmir9enpvsvCQjXyAJKe5XBTSsAj3D3DckXPaspP6ECOP5FNunNWHDNPOmSW2grhn+UWhSSQWeC22Ga/56r1ScOMdCGflut0aVZ4mp2sT/lOipd33xI7QNQr80n0340fIqO0r+eRBk+vJReKzoohmuUZZfi88fNAnnTQHkvx+PrwGmEfveU0++hPDE1QX1+uXycFgufwacZe9pQpfN3Qy//q5fHpZeB+PxYFwaBk1sKjjxxZcwyDY6keai1QM0ihx4U1AwfYqepi9hU4+8bLAntjMBd+eF0AR3vQ/t8SP02zkv0wB7zefxB9eK6eRSR+PI62nksy5SiZYOsNsWpMPm0OpHXxMFfbckCzUVLP/Y8MF56kPc4n0IfcJMMg3FhtSrN9xIj1gcsvQj7GA1YqqG0GET9oZRVVR1cVzdhxBaUTuLRyyJk8bbDOeaXo18Bq1PbEusgeyxrjulm6mobXK6JyhI5wmEKoltWybmZniryl/V40coPwxIJGJlJGcX+wWRw6j3jPWm9Hw+P0LpFL1IpASlB26SZhjD2wKoymQc0pJHnOWEPtO7Ag0IoDQmIZ/LCaFigL1dPoTy8w29NSVVVAqo5OJxSocmxt2cXxBLThihwZQNerCMNE3YUg0cfp3zmj6fNWy0fA859SOshjw2vXdLkvU9HEipkpG7ehtp44HD96hhfO1bgL6EpLMohuEb0BeEBUgWZujhseHeP+ZW6ZmeedIJFC/3IeyGOPegN1cxNi3/esMYgdUlj0ObDEKX5Occ04MHTgIeriAnRKYe0Oj1SjO6T74a/LwD5z2AGp4GCcPYyZSLNLpqFDqBTwHxsaW6gSf+b+rrv850dvpI0D3y9t0pZBfTUJoxG3w9TX6dbjh4xjQU143zTIVmnr5LkmRgXvJ83WKvXxr8a7BXLRZOIhyuokCUswp5GjBUNfxjOi599r88z15/+FqcGTzQWGvlwp1U4+fToAY7AJ1iahqeTH/NB2OmefH23w8W9aPxYoIX9RQg+tLRnNWs8VR4rHIye7ylms4mpq7xl3Ji3axVT4K/YTUgIcsAzFnV67xpsBP8Xa88pY+UvvOUxfyj4S0Sgew0+UKNJ8PeFKA7rwvAhtktVK0GDPRm1dCETgbYq2tb1ULhmsWi6Xtrq62TRg59mWeIKpYKgrnGidVqVZtU1VbLsjqNDPg6mxFYIeYPlfX3D0P3ZE1s4m8IcGnDNGJZX5pq7Qi3XzvC7VcShErYN8Ar9P3lUS1qgLUY/AXpEe//9XbEg6lXKvVDhII6l8rhQzb7Vo/oVPivxdj/dkX0FM8CQwVVbn5mme5f2ofBEBH7xV3EHPgTHrD8nMdCCA9fsi59C1QzYIVffeZbiNCrVgQl/DsOQievjr4HO2zhjF99ICVUACL1ox5lxVB8hMrh36uEF4GalpLhV0vrtFJv0+qRMCF6cND+5qgBDSq4oBfvy08q4jdOllA55Ll4PyDWH1bap6OgBhpkzs4yPhHK87gIaXWncgaEjv9vf+v6i45s3VcSq8wJK6xrI9+uVDv31fwuPDHAvgPOyNe5P7+7ky75wyYEcH0MGY4QoPrB95fTp9HDcZ3ns7LPxDOr1NkfB+QveuUNufL04bhiB8VAm99pUXIuQIAq7aOXt5ejdkWxb3pG8tp+u6LW6GCRxiH7X10BkOTj7egAsmzRH3BCemVlFTEcYftqaSbeDuHi22ybP4Dv/C8yxDs4XV45qgMXYbb+9RB61P65uLoCeXsdofod+ecUObWb5BzWeWqofe7UePq80JHbfh2t3j8MoWO2HREvQ7Fb+BsrGPSNJ4GU+uqV7LE6tfT9bC3SCetLvuy5ooAb+p8r3rRGbkL7v+3vy+tvSMrI9Tf5JDphBr6v5PsbWD4+WuUcLpIV9HPlyr/Z1znnz9GF+zxguPI4iPnhhN+Osl8J+aXf3D8g1Sc+QlZ93o6OHs4XN3fKlXZtdjWkngrL5Ojh6OGef33Jfn6zyMXd5aHjSiuZ+7X8gWOWokPsJsxkvyqnxFZLyf9HF9yUvjnPe1kzyX+5S3bMKvTTPjeOPPF/WC0GT+6M2KcBLrJ3dFavVy7Jo+KEtp68CW8qFeeqGwArB0tLc7CRpYHEPtOAGLITJUmCS14otOD4h6xPoldyi84/ZMZWUUauvJ+f0Xs6+SedCHtHJa0LTt5HF6ReKl6EF+RiZNdu4pLH11vQHor0Ag+j00W+4aLx2V6n04/bV44W2aM/R+7iYb60Y2H3l92/Q/hCn5KS8SB84Ibt0n6kML4eH4L2igmh+Uac9hjYpXlgl7a7Z1kODEDu8nzxITVAdtV2DzMcwkP+Gw/CffaN83D34yMEZ2uuc2VZCCOEeCtj4U1Q+Wf1ysXQh9SCizfnU9JkEX8QR18Jn+yPPAjtu0Fuo2hnHA/hen/ICZ0MwMNlVmF9/Ur34I60oNOsAwHu2P/cJt4mPPUltK3choSAE74D0ru/8/u/tc/sPpq1Ltuwnl0sE3e6w1H7ov70hZAy2lYVOZd6lGEAwrtYCHlyV8hhJUYPQLtuuX2VS9YM71gRclhi8ciVpx6EC/tC+rIn5/6hCZ0vNmyHdg6IW2bbhBu0LCRGqPC7v7GiZF07d0q4xXMTLj0ZhxAtBo1ny2rqT3jMHV37kdOeyCZc6wt9COnUC0D2XUjO7drI6sQy0YzTZ//zvniI9rO4RNSwLJ86uDnO0Kkq0pVlvjkQju/+v0PABkUwCOEdvQwCbs1+0uuAbXTQlzilmBBcHu9XDhyHg/qajiMDEFjp5VzhF94Z2m7KFSLOgVNEkDeb0eV+pXJ2+b4sC+D8tl1HKHe2DwMQZp8qCFWeXAVqV7Xz/XplraaKCdH/sktdoUXdy562L++W3OzShSvMO0OnQ7s6vvy5vHJ9wEEMNO1ZnApr6wUFIcxm79+d/7FCW0ZI7CochNCdLi2C9UjZktDu67N8iOHyxJai7ubB+oe87aE392dXAQkXsj2M/cUH7YCEK11a2135mH4uwDPLYZPtTZErXc4ZbywH0P2YuWxHTQEriOTvMITHTpILZysw4cXiJveOz7hEbF84+eZf2E1i0ScsB0o3vORJ1YEHKx7fy6GTEwW135ef15VlByUiPHCaxfnCnV0Oo4MSKvXvo7u/s/c/Hw7A4ifo7OXu/P3qpo7qD0dETsATXhwxLe+NKg//nL//vKmgQ/YNfRY0GPNwdX9Ob9o+dE+1ALh/RL54vzv9fkGc+X32k0sn+JVhaR0RC7LoD1F79J69f2u7XuRBfObR/fn9t7e1rlfcDnmgiwa03CWLkMKmVNh00PIrPn0DVq+ELHTmvpINpxR607X4u0JvoDgXrt2N34E+kWWPT26UWb8L4LcIN3qKfyECHSVG/6nbpwl4m+2aIV3zSwNpR5gu7Qi9tCNMmx6oXjwGSUJtGyFa7YcDaNsIw2tHuP1aITzM/YlyE/71R2rPRfgHa0e4/frzCf8Pz8cNasrHIy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4" name="AutoShape 20" descr="data:image/png;base64,iVBORw0KGgoAAAANSUhEUgAAAOEAAADhCAMAAAAJbSJIAAAA7VBMVEX/zAD///8AAAD//fT/ygD/0jX/0QD/zQD/zwD/0gDJXgDJWwDTdgDJWgDgkgDJXQDeonjrxq3MZQDx2cjltwDMowDFngD5yACLcAATEACpiADNaADnnwDahQD1uQDvvwD6wwDmnABPQADxsgDrpwDXrACzjwALCQDSqAD3vQDXfgD79O725dkyKAChgQBENwDhrInciQCXeQDZlGru0LwoIABbSQAhGgB9ZADWiVFMPQDltpnTfTp2XgCPcwDnvJ9tVwDQcyMZFADZkl7VhUrSezg8MADPbhkxJwD/11H04dQmHgDamHHfpoDVhk9XVNSeAAAS40lEQVR4nO2de1viuhaHkc1Jk5RSKHjZFgQsolxGUREv6CjCjPt4hv39P87JpYWCTXqh87TMw++fGaE0eZtkZWXl0szen65M0hn47doRbr92hNsvm/C///kDdfiXi/A/mT9QuR3h1mtHuP3aEW6/doTbrx3h9mtHuP3aEW6/doTbrx3h9mtHuP3aEW6/doTbrx3h9ivdhAqEEKyKfAKVMPdILaFC0GCuY1WbhVo3z9WtXReaLeukoVDUgJyxEAIkFQh7P0KHOq1C18REuroiXScfGflas9WhBep/szgIQd6QqhAKkeA1WjVDp2ia+jGbFsevryWm1/GgOP13YmgaIcU67jatjG9ZxkSINaHCERK8ap4V3Md0XO7vear3ORxMPwg/xka31ZBDxkOIB2WRPqc4MKECYKtL8DSzOOx5w7k5y+OZppFKm6/mgLi6xkOolsQZKaoBCRWQaxoYa5OxoOi8VJ5/EEi9ZgkZ00PI+HRc/AyOx9UffGgYm62UE0JQNbBqjv0rp5fKU83QBcmkhBB08qT8JHfxU1/Flnc9TQWhAgo61gbR+UgpakbG26KmgRA28lidRaufjgZ6V5BKCgiBRbrT14349vZ+4KrAmCZPiFo6NkP0D57qaXpH0O0nTgiquj7bkG9vr6SaokSSJkRVXZ1uDLh3i69TSkhKUL3dHHDPEPUVSRNCS9fjAPzUcE7kfSdKCBsG3rwNEo3VPBLlLlnCPP6IA3DvGTeFg4skCUEBa5v187Z6Gj5JIyE80Tfu6LmGqikeAydISAbOsTRCkoReE5vr5AhhC2ubujK2PnArjWN8aOJ5PIB9TW+ksJbSIgxiZsqvt7MPg4YVsTl5fpy/Dr8U/Kual3hNiRGSVuhfhMNHTVN1GjTVaZyUB0817Uex5H44j9JYV1KE8MS/CMeYhgvzhZZ10qE6sVpNHibWVe1jXnauw2KXLUFCcO1nSMumio1rK8OmKhQqyGYxYO6kdW3SmKNxyyDLGpaFvhMjNNShFHCuYaOa8YoRKpSz0aqRstTMQU8yvE+SEFoYSytpUcO1HBBbSAUCxarRkixOZH1FYoSgKa+kYw03kd/kEgS5KqmuBhYN7xMlzKtjCWBfwwXhYMElUpJWXhcO75MkzBiaLLY9w+LR0JogskQxKK5kCJUO1qRFqHcCzAza8plETIaQGBrZwHCgy5yUkEqIsKo/SgifhcHPCEqGEBSk4RlJXCm8EiK8VmWzFMT+bz1hTZWN7v+EMuxKCX28lHBKJeEvXRjBDq9U1tKhcDIwglJpaUhDbMZWiKnsLfZeZQHQkEqsx/9XRkj6fCOuDiMxr82UEvbIqMiKp6Im5Hk3dJ8oDUHUm5KVTsGV0OhJMbWy+CcMcabi/IlklB9USY2Au7rv4hIyztdrjY0Zk4rTtPDEj3Cv90gYrztos7qaVC0lDTHApEX5h4Zx1wq8HjhFhBmUx4HWQFFGPd/yDCumm5BUUxyEcG/vc0rKERdOUMSCTIpQyRiyH62oNzBUjPMt2TrZ9BHSKW55p7+i4bOmY6NmgfCmNTFCJWdIQ6br6g8Muk622QhrWpObIQVNrIdbp1CeqirWu1aQPQhpIKSTwLKAm5d6rxO+4DlEZU2S0NK18KuCmWk1m0pgtzzJ9TSoEGmtQm+AdYyrSsC6mvCaKMOItGRobOikrgbrPBIlVBpGAPfUm5H2kJ0gVTXhtYkdjJ+jIdI5VL0QwKwmvb7UwvhHRMT+TMPmiW8xJr1GmCJOoi7fKxGHtenXcSRNyBCNqKu/aCCgm0nj/KFbsGMYEfpFW2NSUxspnANeRWzksRZ5NXsZG4a0MaaAMKPAAhk4+ESmhKKBRxliGgiJd0O3zdxGNDi9CZZFyNNBmIE5usQpamv8gQ1xW0wJYUZBLROrk2hVlVRUM527EVYElQLG2nPoLaQMEWPh2rb0EGYU0KhRxijlWNaE83EpIqSMHcr4I0J7HKii1W2pIqTNsVPTsWoMQtvVH1iwyihlhOzIgQLdsz6TLz/9or4mWN6QOkK2L7+Vx6Qgi6FaZBF7r1FMISFbVHlyzZcAB/fJe6p3IaaSMEMrq8IPkHgObHaK3i0xrYQM0q6tAc1OT9O9nLcUE7La2qFmRw3mss48912kmpBCggxx54K55SXV3LYy5Ix0LTcOcuTCX56rcNJPmKEt0qJuua9d9dxKuhWEdC13lRSjn1n13FuyJYQkERrr8KmpZc34PYTI1CQu1i/RwTEhpcBrrMlnHHsa/roRMZYylC7/+aWL91mHkkJ3Rsu9VcPD1MRyXpsp2x4y1WNbeI9q2JASei0ujoFQyRmySbKZHtuSZiVjyJdSPXo8zTgIG1j7K9xzjSrYwrqM0KvNx0BId9pJUo114b1iSFvi3MNux0HYks6QqfEt96ULxHXZ7uG5+nUJfAyEoKD/EidKhm2SreRh5bOd6DcRImmH39cMYSgzvEh9kU03/h5CJSddb1DW5Bsgwwlaupzwd7RDYmhknVRJehxA6MTkZXjr4V1sTghqWLazwKviRBdsht7WtzEhraSymNij2GmL0Dx9Vk+bHj3TxoSgKV9j6JUolyLbjS76iSF7nD3sEfjelJCuE5U5/D3huSNKQ22GWZ9GBapS56Kv4a+/2ZQQFeRrfYkpFUDQVcJGM1Q5+vmlJa8DsTYkBJbPyFt8pAO4pgey4utO4HXqCujKxxa3Xrv6NiOka5rkKyjFp3ABUy+VTC348maFWG35PhTDy8n3J5Q8YXBi+BxH1tNFXikdkfT29oZ0vwGuBTi1GuS6PmP8vtcQ358QWh3v888VSDon/CGPYw5Vj8gJv2/LtsH9OV3ejLstQTo8MUCbrc/RYN7b+H0JiTdvFqwcPSVGWaRPD1Chp25ofsvubrHoFC5wvdyCWL416KnV5nWrw46jWeWk5883mibWTZ+5qInnNn5/wjw7pCl/XbU6Oef4/oZVpdMm0q2uTFg4/AXmir9enpvsvCQjXyAJKe5XBTSsAj3D3DckXPaspP6ECOP5FNunNWHDNPOmSW2grhn+UWhSSQWeC22Ga/56r1ScOMdCGflut0aVZ4mp2sT/lOipd33xI7QNQr80n0340fIqO0r+eRBk+vJReKzoohmuUZZfi88fNAnnTQHkvx+PrwGmEfveU0++hPDE1QX1+uXycFgufwacZe9pQpfN3Qy//q5fHpZeB+PxYFwaBk1sKjjxxZcwyDY6keai1QM0ihx4U1AwfYqepi9hU4+8bLAntjMBd+eF0AR3vQ/t8SP02zkv0wB7zefxB9eK6eRSR+PI62nksy5SiZYOsNsWpMPm0OpHXxMFfbckCzUVLP/Y8MF56kPc4n0IfcJMMg3FhtSrN9xIj1gcsvQj7GA1YqqG0GET9oZRVVR1cVzdhxBaUTuLRyyJk8bbDOeaXo18Bq1PbEusgeyxrjulm6mobXK6JyhI5wmEKoltWybmZniryl/V40coPwxIJGJlJGcX+wWRw6j3jPWm9Hw+P0LpFL1IpASlB26SZhjD2wKoymQc0pJHnOWEPtO7Ag0IoDQmIZ/LCaFigL1dPoTy8w29NSVVVAqo5OJxSocmxt2cXxBLThihwZQNerCMNE3YUg0cfp3zmj6fNWy0fA859SOshjw2vXdLkvU9HEipkpG7ehtp44HD96hhfO1bgL6EpLMohuEb0BeEBUgWZujhseHeP+ZW6ZmeedIJFC/3IeyGOPegN1cxNi3/esMYgdUlj0ObDEKX5Occ04MHTgIeriAnRKYe0Oj1SjO6T74a/LwD5z2AGp4GCcPYyZSLNLpqFDqBTwHxsaW6gSf+b+rrv850dvpI0D3y9t0pZBfTUJoxG3w9TX6dbjh4xjQU143zTIVmnr5LkmRgXvJ83WKvXxr8a7BXLRZOIhyuokCUswp5GjBUNfxjOi599r88z15/+FqcGTzQWGvlwp1U4+fToAY7AJ1iahqeTH/NB2OmefH23w8W9aPxYoIX9RQg+tLRnNWs8VR4rHIye7ylms4mpq7xl3Ji3axVT4K/YTUgIcsAzFnV67xpsBP8Xa88pY+UvvOUxfyj4S0Sgew0+UKNJ8PeFKA7rwvAhtktVK0GDPRm1dCETgbYq2tb1ULhmsWi6Xtrq62TRg59mWeIKpYKgrnGidVqVZtU1VbLsjqNDPg6mxFYIeYPlfX3D0P3ZE1s4m8IcGnDNGJZX5pq7Qi3XzvC7VcShErYN8Ar9P3lUS1qgLUY/AXpEe//9XbEg6lXKvVDhII6l8rhQzb7Vo/oVPivxdj/dkX0FM8CQwVVbn5mme5f2ofBEBH7xV3EHPgTHrD8nMdCCA9fsi59C1QzYIVffeZbiNCrVgQl/DsOQievjr4HO2zhjF99ICVUACL1ox5lxVB8hMrh36uEF4GalpLhV0vrtFJv0+qRMCF6cND+5qgBDSq4oBfvy08q4jdOllA55Ll4PyDWH1bap6OgBhpkzs4yPhHK87gIaXWncgaEjv9vf+v6i45s3VcSq8wJK6xrI9+uVDv31fwuPDHAvgPOyNe5P7+7ky75wyYEcH0MGY4QoPrB95fTp9HDcZ3ns7LPxDOr1NkfB+QveuUNufL04bhiB8VAm99pUXIuQIAq7aOXt5ejdkWxb3pG8tp+u6LW6GCRxiH7X10BkOTj7egAsmzRH3BCemVlFTEcYftqaSbeDuHi22ybP4Dv/C8yxDs4XV45qgMXYbb+9RB61P65uLoCeXsdofod+ecUObWb5BzWeWqofe7UePq80JHbfh2t3j8MoWO2HREvQ7Fb+BsrGPSNJ4GU+uqV7LE6tfT9bC3SCetLvuy5ooAb+p8r3rRGbkL7v+3vy+tvSMrI9Tf5JDphBr6v5PsbWD4+WuUcLpIV9HPlyr/Z1znnz9GF+zxguPI4iPnhhN+Osl8J+aXf3D8g1Sc+QlZ93o6OHs4XN3fKlXZtdjWkngrL5Ojh6OGef33Jfn6zyMXd5aHjSiuZ+7X8gWOWokPsJsxkvyqnxFZLyf9HF9yUvjnPe1kzyX+5S3bMKvTTPjeOPPF/WC0GT+6M2KcBLrJ3dFavVy7Jo+KEtp68CW8qFeeqGwArB0tLc7CRpYHEPtOAGLITJUmCS14otOD4h6xPoldyi84/ZMZWUUauvJ+f0Xs6+SedCHtHJa0LTt5HF6ReKl6EF+RiZNdu4pLH11vQHor0Ag+j00W+4aLx2V6n04/bV44W2aM/R+7iYb60Y2H3l92/Q/hCn5KS8SB84Ibt0n6kML4eH4L2igmh+Uac9hjYpXlgl7a7Z1kODEDu8nzxITVAdtV2DzMcwkP+Gw/CffaN83D34yMEZ2uuc2VZCCOEeCtj4U1Q+Wf1ysXQh9SCizfnU9JkEX8QR18Jn+yPPAjtu0Fuo2hnHA/hen/ICZ0MwMNlVmF9/Ur34I60oNOsAwHu2P/cJt4mPPUltK3choSAE74D0ru/8/u/tc/sPpq1Ltuwnl0sE3e6w1H7ov70hZAy2lYVOZd6lGEAwrtYCHlyV8hhJUYPQLtuuX2VS9YM71gRclhi8ciVpx6EC/tC+rIn5/6hCZ0vNmyHdg6IW2bbhBu0LCRGqPC7v7GiZF07d0q4xXMTLj0ZhxAtBo1ny2rqT3jMHV37kdOeyCZc6wt9COnUC0D2XUjO7drI6sQy0YzTZ//zvniI9rO4RNSwLJ86uDnO0Kkq0pVlvjkQju/+v0PABkUwCOEdvQwCbs1+0uuAbXTQlzilmBBcHu9XDhyHg/qajiMDEFjp5VzhF94Z2m7KFSLOgVNEkDeb0eV+pXJ2+b4sC+D8tl1HKHe2DwMQZp8qCFWeXAVqV7Xz/XplraaKCdH/sktdoUXdy562L++W3OzShSvMO0OnQ7s6vvy5vHJ9wEEMNO1ZnApr6wUFIcxm79+d/7FCW0ZI7CochNCdLi2C9UjZktDu67N8iOHyxJai7ubB+oe87aE392dXAQkXsj2M/cUH7YCEK11a2135mH4uwDPLYZPtTZErXc4ZbywH0P2YuWxHTQEriOTvMITHTpILZysw4cXiJveOz7hEbF84+eZf2E1i0ScsB0o3vORJ1YEHKx7fy6GTEwW135ef15VlByUiPHCaxfnCnV0Oo4MSKvXvo7u/s/c/Hw7A4ifo7OXu/P3qpo7qD0dETsATXhwxLe+NKg//nL//vKmgQ/YNfRY0GPNwdX9Ob9o+dE+1ALh/RL54vzv9fkGc+X32k0sn+JVhaR0RC7LoD1F79J69f2u7XuRBfObR/fn9t7e1rlfcDnmgiwa03CWLkMKmVNh00PIrPn0DVq+ELHTmvpINpxR607X4u0JvoDgXrt2N34E+kWWPT26UWb8L4LcIN3qKfyECHSVG/6nbpwl4m+2aIV3zSwNpR5gu7Qi9tCNMmx6oXjwGSUJtGyFa7YcDaNsIw2tHuP1aITzM/YlyE/71R2rPRfgHa0e4/frzCf8Pz8cNasrHIy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6" name="AutoShape 22" descr="data:image/png;base64,iVBORw0KGgoAAAANSUhEUgAAAOEAAADhCAMAAAAJbSJIAAAA7VBMVEX/zAD///8AAAD//fT/ygD/0jX/0QD/zQD/zwD/0gDJXgDJWwDTdgDJWgDgkgDJXQDeonjrxq3MZQDx2cjltwDMowDFngD5yACLcAATEACpiADNaADnnwDahQD1uQDvvwD6wwDmnABPQADxsgDrpwDXrACzjwALCQDSqAD3vQDXfgD79O725dkyKAChgQBENwDhrInciQCXeQDZlGru0LwoIABbSQAhGgB9ZADWiVFMPQDltpnTfTp2XgCPcwDnvJ9tVwDQcyMZFADZkl7VhUrSezg8MADPbhkxJwD/11H04dQmHgDamHHfpoDVhk9XVNSeAAAS40lEQVR4nO2de1viuhaHkc1Jk5RSKHjZFgQsolxGUREv6CjCjPt4hv39P87JpYWCTXqh87TMw++fGaE0eZtkZWXl0szen65M0hn47doRbr92hNsvm/C///kDdfiXi/A/mT9QuR3h1mtHuP3aEW6/doTbrx3h9mtHuP3aEW6/doTbrx3h9mtHuP3aEW6/doTbrx3h9ivdhAqEEKyKfAKVMPdILaFC0GCuY1WbhVo3z9WtXReaLeukoVDUgJyxEAIkFQh7P0KHOq1C18REuroiXScfGflas9WhBep/szgIQd6QqhAKkeA1WjVDp2ia+jGbFsevryWm1/GgOP13YmgaIcU67jatjG9ZxkSINaHCERK8ap4V3Md0XO7vear3ORxMPwg/xka31ZBDxkOIB2WRPqc4MKECYKtL8DSzOOx5w7k5y+OZppFKm6/mgLi6xkOolsQZKaoBCRWQaxoYa5OxoOi8VJ5/EEi9ZgkZ00PI+HRc/AyOx9UffGgYm62UE0JQNbBqjv0rp5fKU83QBcmkhBB08qT8JHfxU1/Flnc9TQWhAgo61gbR+UgpakbG26KmgRA28lidRaufjgZ6V5BKCgiBRbrT14349vZ+4KrAmCZPiFo6NkP0D57qaXpH0O0nTgiquj7bkG9vr6SaokSSJkRVXZ1uDLh3i69TSkhKUL3dHHDPEPUVSRNCS9fjAPzUcE7kfSdKCBsG3rwNEo3VPBLlLlnCPP6IA3DvGTeFg4skCUEBa5v187Z6Gj5JIyE80Tfu6LmGqikeAydISAbOsTRCkoReE5vr5AhhC2ubujK2PnArjWN8aOJ5PIB9TW+ksJbSIgxiZsqvt7MPg4YVsTl5fpy/Dr8U/Kual3hNiRGSVuhfhMNHTVN1GjTVaZyUB0817Uex5H44j9JYV1KE8MS/CMeYhgvzhZZ10qE6sVpNHibWVe1jXnauw2KXLUFCcO1nSMumio1rK8OmKhQqyGYxYO6kdW3SmKNxyyDLGpaFvhMjNNShFHCuYaOa8YoRKpSz0aqRstTMQU8yvE+SEFoYSytpUcO1HBBbSAUCxarRkixOZH1FYoSgKa+kYw03kd/kEgS5KqmuBhYN7xMlzKtjCWBfwwXhYMElUpJWXhcO75MkzBiaLLY9w+LR0JogskQxKK5kCJUO1qRFqHcCzAza8plETIaQGBrZwHCgy5yUkEqIsKo/SgifhcHPCEqGEBSk4RlJXCm8EiK8VmWzFMT+bz1hTZWN7v+EMuxKCX28lHBKJeEvXRjBDq9U1tKhcDIwglJpaUhDbMZWiKnsLfZeZQHQkEqsx/9XRkj6fCOuDiMxr82UEvbIqMiKp6Im5Hk3dJ8oDUHUm5KVTsGV0OhJMbWy+CcMcabi/IlklB9USY2Au7rv4hIyztdrjY0Zk4rTtPDEj3Cv90gYrztos7qaVC0lDTHApEX5h4Zx1wq8HjhFhBmUx4HWQFFGPd/yDCumm5BUUxyEcG/vc0rKERdOUMSCTIpQyRiyH62oNzBUjPMt2TrZ9BHSKW55p7+i4bOmY6NmgfCmNTFCJWdIQ6br6g8Muk622QhrWpObIQVNrIdbp1CeqirWu1aQPQhpIKSTwLKAm5d6rxO+4DlEZU2S0NK18KuCmWk1m0pgtzzJ9TSoEGmtQm+AdYyrSsC6mvCaKMOItGRobOikrgbrPBIlVBpGAPfUm5H2kJ0gVTXhtYkdjJ+jIdI5VL0QwKwmvb7UwvhHRMT+TMPmiW8xJr1GmCJOoi7fKxGHtenXcSRNyBCNqKu/aCCgm0nj/KFbsGMYEfpFW2NSUxspnANeRWzksRZ5NXsZG4a0MaaAMKPAAhk4+ESmhKKBRxliGgiJd0O3zdxGNDi9CZZFyNNBmIE5usQpamv8gQ1xW0wJYUZBLROrk2hVlVRUM527EVYElQLG2nPoLaQMEWPh2rb0EGYU0KhRxijlWNaE83EpIqSMHcr4I0J7HKii1W2pIqTNsVPTsWoMQtvVH1iwyihlhOzIgQLdsz6TLz/9or4mWN6QOkK2L7+Vx6Qgi6FaZBF7r1FMISFbVHlyzZcAB/fJe6p3IaaSMEMrq8IPkHgObHaK3i0xrYQM0q6tAc1OT9O9nLcUE7La2qFmRw3mss48912kmpBCggxx54K55SXV3LYy5Ix0LTcOcuTCX56rcNJPmKEt0qJuua9d9dxKuhWEdC13lRSjn1n13FuyJYQkERrr8KmpZc34PYTI1CQu1i/RwTEhpcBrrMlnHHsa/roRMZYylC7/+aWL91mHkkJ3Rsu9VcPD1MRyXpsp2x4y1WNbeI9q2JASei0ujoFQyRmySbKZHtuSZiVjyJdSPXo8zTgIG1j7K9xzjSrYwrqM0KvNx0BId9pJUo114b1iSFvi3MNux0HYks6QqfEt96ULxHXZ7uG5+nUJfAyEoKD/EidKhm2SreRh5bOd6DcRImmH39cMYSgzvEh9kU03/h5CJSddb1DW5Bsgwwlaupzwd7RDYmhknVRJehxA6MTkZXjr4V1sTghqWLazwKviRBdsht7WtzEhraSymNij2GmL0Dx9Vk+bHj3TxoSgKV9j6JUolyLbjS76iSF7nD3sEfjelJCuE5U5/D3huSNKQ22GWZ9GBapS56Kv4a+/2ZQQFeRrfYkpFUDQVcJGM1Q5+vmlJa8DsTYkBJbPyFt8pAO4pgey4utO4HXqCujKxxa3Xrv6NiOka5rkKyjFp3ABUy+VTC348maFWG35PhTDy8n3J5Q8YXBi+BxH1tNFXikdkfT29oZ0vwGuBTi1GuS6PmP8vtcQ358QWh3v888VSDon/CGPYw5Vj8gJv2/LtsH9OV3ejLstQTo8MUCbrc/RYN7b+H0JiTdvFqwcPSVGWaRPD1Chp25ofsvubrHoFC5wvdyCWL416KnV5nWrw46jWeWk5883mibWTZ+5qInnNn5/wjw7pCl/XbU6Oef4/oZVpdMm0q2uTFg4/AXmir9enpvsvCQjXyAJKe5XBTSsAj3D3DckXPaspP6ECOP5FNunNWHDNPOmSW2grhn+UWhSSQWeC22Ga/56r1ScOMdCGflut0aVZ4mp2sT/lOipd33xI7QNQr80n0340fIqO0r+eRBk+vJReKzoohmuUZZfi88fNAnnTQHkvx+PrwGmEfveU0++hPDE1QX1+uXycFgufwacZe9pQpfN3Qy//q5fHpZeB+PxYFwaBk1sKjjxxZcwyDY6keai1QM0ihx4U1AwfYqepi9hU4+8bLAntjMBd+eF0AR3vQ/t8SP02zkv0wB7zefxB9eK6eRSR+PI62nksy5SiZYOsNsWpMPm0OpHXxMFfbckCzUVLP/Y8MF56kPc4n0IfcJMMg3FhtSrN9xIj1gcsvQj7GA1YqqG0GET9oZRVVR1cVzdhxBaUTuLRyyJk8bbDOeaXo18Bq1PbEusgeyxrjulm6mobXK6JyhI5wmEKoltWybmZniryl/V40coPwxIJGJlJGcX+wWRw6j3jPWm9Hw+P0LpFL1IpASlB26SZhjD2wKoymQc0pJHnOWEPtO7Ag0IoDQmIZ/LCaFigL1dPoTy8w29NSVVVAqo5OJxSocmxt2cXxBLThihwZQNerCMNE3YUg0cfp3zmj6fNWy0fA859SOshjw2vXdLkvU9HEipkpG7ehtp44HD96hhfO1bgL6EpLMohuEb0BeEBUgWZujhseHeP+ZW6ZmeedIJFC/3IeyGOPegN1cxNi3/esMYgdUlj0ObDEKX5Occ04MHTgIeriAnRKYe0Oj1SjO6T74a/LwD5z2AGp4GCcPYyZSLNLpqFDqBTwHxsaW6gSf+b+rrv850dvpI0D3y9t0pZBfTUJoxG3w9TX6dbjh4xjQU143zTIVmnr5LkmRgXvJ83WKvXxr8a7BXLRZOIhyuokCUswp5GjBUNfxjOi599r88z15/+FqcGTzQWGvlwp1U4+fToAY7AJ1iahqeTH/NB2OmefH23w8W9aPxYoIX9RQg+tLRnNWs8VR4rHIye7ylms4mpq7xl3Ji3axVT4K/YTUgIcsAzFnV67xpsBP8Xa88pY+UvvOUxfyj4S0Sgew0+UKNJ8PeFKA7rwvAhtktVK0GDPRm1dCETgbYq2tb1ULhmsWi6Xtrq62TRg59mWeIKpYKgrnGidVqVZtU1VbLsjqNDPg6mxFYIeYPlfX3D0P3ZE1s4m8IcGnDNGJZX5pq7Qi3XzvC7VcShErYN8Ar9P3lUS1qgLUY/AXpEe//9XbEg6lXKvVDhII6l8rhQzb7Vo/oVPivxdj/dkX0FM8CQwVVbn5mme5f2ofBEBH7xV3EHPgTHrD8nMdCCA9fsi59C1QzYIVffeZbiNCrVgQl/DsOQievjr4HO2zhjF99ICVUACL1ox5lxVB8hMrh36uEF4GalpLhV0vrtFJv0+qRMCF6cND+5qgBDSq4oBfvy08q4jdOllA55Ll4PyDWH1bap6OgBhpkzs4yPhHK87gIaXWncgaEjv9vf+v6i45s3VcSq8wJK6xrI9+uVDv31fwuPDHAvgPOyNe5P7+7ky75wyYEcH0MGY4QoPrB95fTp9HDcZ3ns7LPxDOr1NkfB+QveuUNufL04bhiB8VAm99pUXIuQIAq7aOXt5ejdkWxb3pG8tp+u6LW6GCRxiH7X10BkOTj7egAsmzRH3BCemVlFTEcYftqaSbeDuHi22ybP4Dv/C8yxDs4XV45qgMXYbb+9RB61P65uLoCeXsdofod+ecUObWb5BzWeWqofe7UePq80JHbfh2t3j8MoWO2HREvQ7Fb+BsrGPSNJ4GU+uqV7LE6tfT9bC3SCetLvuy5ooAb+p8r3rRGbkL7v+3vy+tvSMrI9Tf5JDphBr6v5PsbWD4+WuUcLpIV9HPlyr/Z1znnz9GF+zxguPI4iPnhhN+Osl8J+aXf3D8g1Sc+QlZ93o6OHs4XN3fKlXZtdjWkngrL5Ojh6OGef33Jfn6zyMXd5aHjSiuZ+7X8gWOWokPsJsxkvyqnxFZLyf9HF9yUvjnPe1kzyX+5S3bMKvTTPjeOPPF/WC0GT+6M2KcBLrJ3dFavVy7Jo+KEtp68CW8qFeeqGwArB0tLc7CRpYHEPtOAGLITJUmCS14otOD4h6xPoldyi84/ZMZWUUauvJ+f0Xs6+SedCHtHJa0LTt5HF6ReKl6EF+RiZNdu4pLH11vQHor0Ag+j00W+4aLx2V6n04/bV44W2aM/R+7iYb60Y2H3l92/Q/hCn5KS8SB84Ibt0n6kML4eH4L2igmh+Uac9hjYpXlgl7a7Z1kODEDu8nzxITVAdtV2DzMcwkP+Gw/CffaN83D34yMEZ2uuc2VZCCOEeCtj4U1Q+Wf1ysXQh9SCizfnU9JkEX8QR18Jn+yPPAjtu0Fuo2hnHA/hen/ICZ0MwMNlVmF9/Ur34I60oNOsAwHu2P/cJt4mPPUltK3choSAE74D0ru/8/u/tc/sPpq1Ltuwnl0sE3e6w1H7ov70hZAy2lYVOZd6lGEAwrtYCHlyV8hhJUYPQLtuuX2VS9YM71gRclhi8ciVpx6EC/tC+rIn5/6hCZ0vNmyHdg6IW2bbhBu0LCRGqPC7v7GiZF07d0q4xXMTLj0ZhxAtBo1ny2rqT3jMHV37kdOeyCZc6wt9COnUC0D2XUjO7drI6sQy0YzTZ//zvniI9rO4RNSwLJ86uDnO0Kkq0pVlvjkQju/+v0PABkUwCOEdvQwCbs1+0uuAbXTQlzilmBBcHu9XDhyHg/qajiMDEFjp5VzhF94Z2m7KFSLOgVNEkDeb0eV+pXJ2+b4sC+D8tl1HKHe2DwMQZp8qCFWeXAVqV7Xz/XplraaKCdH/sktdoUXdy562L++W3OzShSvMO0OnQ7s6vvy5vHJ9wEEMNO1ZnApr6wUFIcxm79+d/7FCW0ZI7CochNCdLi2C9UjZktDu67N8iOHyxJai7ubB+oe87aE392dXAQkXsj2M/cUH7YCEK11a2135mH4uwDPLYZPtTZErXc4ZbywH0P2YuWxHTQEriOTvMITHTpILZysw4cXiJveOz7hEbF84+eZf2E1i0ScsB0o3vORJ1YEHKx7fy6GTEwW135ef15VlByUiPHCaxfnCnV0Oo4MSKvXvo7u/s/c/Hw7A4ifo7OXu/P3qpo7qD0dETsATXhwxLe+NKg//nL//vKmgQ/YNfRY0GPNwdX9Ob9o+dE+1ALh/RL54vzv9fkGc+X32k0sn+JVhaR0RC7LoD1F79J69f2u7XuRBfObR/fn9t7e1rlfcDnmgiwa03CWLkMKmVNh00PIrPn0DVq+ELHTmvpINpxR607X4u0JvoDgXrt2N34E+kWWPT26UWb8L4LcIN3qKfyECHSVG/6nbpwl4m+2aIV3zSwNpR5gu7Qi9tCNMmx6oXjwGSUJtGyFa7YcDaNsIw2tHuP1aITzM/YlyE/71R2rPRfgHa0e4/frzCf8Pz8cNasrHIy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8" name="AutoShape 24" descr="data:image/png;base64,iVBORw0KGgoAAAANSUhEUgAAAOEAAADhCAMAAAAJbSJIAAAA7VBMVEX/zAD///8AAAD//fT/ygD/0jX/0QD/zQD/zwD/0gDJXgDJWwDTdgDJWgDgkgDJXQDeonjrxq3MZQDx2cjltwDMowDFngD5yACLcAATEACpiADNaADnnwDahQD1uQDvvwD6wwDmnABPQADxsgDrpwDXrACzjwALCQDSqAD3vQDXfgD79O725dkyKAChgQBENwDhrInciQCXeQDZlGru0LwoIABbSQAhGgB9ZADWiVFMPQDltpnTfTp2XgCPcwDnvJ9tVwDQcyMZFADZkl7VhUrSezg8MADPbhkxJwD/11H04dQmHgDamHHfpoDVhk9XVNSeAAAS40lEQVR4nO2de1viuhaHkc1Jk5RSKHjZFgQsolxGUREv6CjCjPt4hv39P87JpYWCTXqh87TMw++fGaE0eZtkZWXl0szen65M0hn47doRbr92hNsvm/C///kDdfiXi/A/mT9QuR3h1mtHuP3aEW6/doTbrx3h9mtHuP3aEW6/doTbrx3h9mtHuP3aEW6/doTbrx3h9ivdhAqEEKyKfAKVMPdILaFC0GCuY1WbhVo3z9WtXReaLeukoVDUgJyxEAIkFQh7P0KHOq1C18REuroiXScfGflas9WhBep/szgIQd6QqhAKkeA1WjVDp2ia+jGbFsevryWm1/GgOP13YmgaIcU67jatjG9ZxkSINaHCERK8ap4V3Md0XO7vear3ORxMPwg/xka31ZBDxkOIB2WRPqc4MKECYKtL8DSzOOx5w7k5y+OZppFKm6/mgLi6xkOolsQZKaoBCRWQaxoYa5OxoOi8VJ5/EEi9ZgkZ00PI+HRc/AyOx9UffGgYm62UE0JQNbBqjv0rp5fKU83QBcmkhBB08qT8JHfxU1/Flnc9TQWhAgo61gbR+UgpakbG26KmgRA28lidRaufjgZ6V5BKCgiBRbrT14349vZ+4KrAmCZPiFo6NkP0D57qaXpH0O0nTgiquj7bkG9vr6SaokSSJkRVXZ1uDLh3i69TSkhKUL3dHHDPEPUVSRNCS9fjAPzUcE7kfSdKCBsG3rwNEo3VPBLlLlnCPP6IA3DvGTeFg4skCUEBa5v187Z6Gj5JIyE80Tfu6LmGqikeAydISAbOsTRCkoReE5vr5AhhC2ubujK2PnArjWN8aOJ5PIB9TW+ksJbSIgxiZsqvt7MPg4YVsTl5fpy/Dr8U/Kual3hNiRGSVuhfhMNHTVN1GjTVaZyUB0817Uex5H44j9JYV1KE8MS/CMeYhgvzhZZ10qE6sVpNHibWVe1jXnauw2KXLUFCcO1nSMumio1rK8OmKhQqyGYxYO6kdW3SmKNxyyDLGpaFvhMjNNShFHCuYaOa8YoRKpSz0aqRstTMQU8yvE+SEFoYSytpUcO1HBBbSAUCxarRkixOZH1FYoSgKa+kYw03kd/kEgS5KqmuBhYN7xMlzKtjCWBfwwXhYMElUpJWXhcO75MkzBiaLLY9w+LR0JogskQxKK5kCJUO1qRFqHcCzAza8plETIaQGBrZwHCgy5yUkEqIsKo/SgifhcHPCEqGEBSk4RlJXCm8EiK8VmWzFMT+bz1hTZWN7v+EMuxKCX28lHBKJeEvXRjBDq9U1tKhcDIwglJpaUhDbMZWiKnsLfZeZQHQkEqsx/9XRkj6fCOuDiMxr82UEvbIqMiKp6Im5Hk3dJ8oDUHUm5KVTsGV0OhJMbWy+CcMcabi/IlklB9USY2Au7rv4hIyztdrjY0Zk4rTtPDEj3Cv90gYrztos7qaVC0lDTHApEX5h4Zx1wq8HjhFhBmUx4HWQFFGPd/yDCumm5BUUxyEcG/vc0rKERdOUMSCTIpQyRiyH62oNzBUjPMt2TrZ9BHSKW55p7+i4bOmY6NmgfCmNTFCJWdIQ6br6g8Muk622QhrWpObIQVNrIdbp1CeqirWu1aQPQhpIKSTwLKAm5d6rxO+4DlEZU2S0NK18KuCmWk1m0pgtzzJ9TSoEGmtQm+AdYyrSsC6mvCaKMOItGRobOikrgbrPBIlVBpGAPfUm5H2kJ0gVTXhtYkdjJ+jIdI5VL0QwKwmvb7UwvhHRMT+TMPmiW8xJr1GmCJOoi7fKxGHtenXcSRNyBCNqKu/aCCgm0nj/KFbsGMYEfpFW2NSUxspnANeRWzksRZ5NXsZG4a0MaaAMKPAAhk4+ESmhKKBRxliGgiJd0O3zdxGNDi9CZZFyNNBmIE5usQpamv8gQ1xW0wJYUZBLROrk2hVlVRUM527EVYElQLG2nPoLaQMEWPh2rb0EGYU0KhRxijlWNaE83EpIqSMHcr4I0J7HKii1W2pIqTNsVPTsWoMQtvVH1iwyihlhOzIgQLdsz6TLz/9or4mWN6QOkK2L7+Vx6Qgi6FaZBF7r1FMISFbVHlyzZcAB/fJe6p3IaaSMEMrq8IPkHgObHaK3i0xrYQM0q6tAc1OT9O9nLcUE7La2qFmRw3mss48912kmpBCggxx54K55SXV3LYy5Ix0LTcOcuTCX56rcNJPmKEt0qJuua9d9dxKuhWEdC13lRSjn1n13FuyJYQkERrr8KmpZc34PYTI1CQu1i/RwTEhpcBrrMlnHHsa/roRMZYylC7/+aWL91mHkkJ3Rsu9VcPD1MRyXpsp2x4y1WNbeI9q2JASei0ujoFQyRmySbKZHtuSZiVjyJdSPXo8zTgIG1j7K9xzjSrYwrqM0KvNx0BId9pJUo114b1iSFvi3MNux0HYks6QqfEt96ULxHXZ7uG5+nUJfAyEoKD/EidKhm2SreRh5bOd6DcRImmH39cMYSgzvEh9kU03/h5CJSddb1DW5Bsgwwlaupzwd7RDYmhknVRJehxA6MTkZXjr4V1sTghqWLazwKviRBdsht7WtzEhraSymNij2GmL0Dx9Vk+bHj3TxoSgKV9j6JUolyLbjS76iSF7nD3sEfjelJCuE5U5/D3huSNKQ22GWZ9GBapS56Kv4a+/2ZQQFeRrfYkpFUDQVcJGM1Q5+vmlJa8DsTYkBJbPyFt8pAO4pgey4utO4HXqCujKxxa3Xrv6NiOka5rkKyjFp3ABUy+VTC348maFWG35PhTDy8n3J5Q8YXBi+BxH1tNFXikdkfT29oZ0vwGuBTi1GuS6PmP8vtcQ358QWh3v888VSDon/CGPYw5Vj8gJv2/LtsH9OV3ejLstQTo8MUCbrc/RYN7b+H0JiTdvFqwcPSVGWaRPD1Chp25ofsvubrHoFC5wvdyCWL416KnV5nWrw46jWeWk5883mibWTZ+5qInnNn5/wjw7pCl/XbU6Oef4/oZVpdMm0q2uTFg4/AXmir9enpvsvCQjXyAJKe5XBTSsAj3D3DckXPaspP6ECOP5FNunNWHDNPOmSW2grhn+UWhSSQWeC22Ga/56r1ScOMdCGflut0aVZ4mp2sT/lOipd33xI7QNQr80n0340fIqO0r+eRBk+vJReKzoohmuUZZfi88fNAnnTQHkvx+PrwGmEfveU0++hPDE1QX1+uXycFgufwacZe9pQpfN3Qy//q5fHpZeB+PxYFwaBk1sKjjxxZcwyDY6keai1QM0ihx4U1AwfYqepi9hU4+8bLAntjMBd+eF0AR3vQ/t8SP02zkv0wB7zefxB9eK6eRSR+PI62nksy5SiZYOsNsWpMPm0OpHXxMFfbckCzUVLP/Y8MF56kPc4n0IfcJMMg3FhtSrN9xIj1gcsvQj7GA1YqqG0GET9oZRVVR1cVzdhxBaUTuLRyyJk8bbDOeaXo18Bq1PbEusgeyxrjulm6mobXK6JyhI5wmEKoltWybmZniryl/V40coPwxIJGJlJGcX+wWRw6j3jPWm9Hw+P0LpFL1IpASlB26SZhjD2wKoymQc0pJHnOWEPtO7Ag0IoDQmIZ/LCaFigL1dPoTy8w29NSVVVAqo5OJxSocmxt2cXxBLThihwZQNerCMNE3YUg0cfp3zmj6fNWy0fA859SOshjw2vXdLkvU9HEipkpG7ehtp44HD96hhfO1bgL6EpLMohuEb0BeEBUgWZujhseHeP+ZW6ZmeedIJFC/3IeyGOPegN1cxNi3/esMYgdUlj0ObDEKX5Occ04MHTgIeriAnRKYe0Oj1SjO6T74a/LwD5z2AGp4GCcPYyZSLNLpqFDqBTwHxsaW6gSf+b+rrv850dvpI0D3y9t0pZBfTUJoxG3w9TX6dbjh4xjQU143zTIVmnr5LkmRgXvJ83WKvXxr8a7BXLRZOIhyuokCUswp5GjBUNfxjOi599r88z15/+FqcGTzQWGvlwp1U4+fToAY7AJ1iahqeTH/NB2OmefH23w8W9aPxYoIX9RQg+tLRnNWs8VR4rHIye7ylms4mpq7xl3Ji3axVT4K/YTUgIcsAzFnV67xpsBP8Xa88pY+UvvOUxfyj4S0Sgew0+UKNJ8PeFKA7rwvAhtktVK0GDPRm1dCETgbYq2tb1ULhmsWi6Xtrq62TRg59mWeIKpYKgrnGidVqVZtU1VbLsjqNDPg6mxFYIeYPlfX3D0P3ZE1s4m8IcGnDNGJZX5pq7Qi3XzvC7VcShErYN8Ar9P3lUS1qgLUY/AXpEe//9XbEg6lXKvVDhII6l8rhQzb7Vo/oVPivxdj/dkX0FM8CQwVVbn5mme5f2ofBEBH7xV3EHPgTHrD8nMdCCA9fsi59C1QzYIVffeZbiNCrVgQl/DsOQievjr4HO2zhjF99ICVUACL1ox5lxVB8hMrh36uEF4GalpLhV0vrtFJv0+qRMCF6cND+5qgBDSq4oBfvy08q4jdOllA55Ll4PyDWH1bap6OgBhpkzs4yPhHK87gIaXWncgaEjv9vf+v6i45s3VcSq8wJK6xrI9+uVDv31fwuPDHAvgPOyNe5P7+7ky75wyYEcH0MGY4QoPrB95fTp9HDcZ3ns7LPxDOr1NkfB+QveuUNufL04bhiB8VAm99pUXIuQIAq7aOXt5ejdkWxb3pG8tp+u6LW6GCRxiH7X10BkOTj7egAsmzRH3BCemVlFTEcYftqaSbeDuHi22ybP4Dv/C8yxDs4XV45qgMXYbb+9RB61P65uLoCeXsdofod+ecUObWb5BzWeWqofe7UePq80JHbfh2t3j8MoWO2HREvQ7Fb+BsrGPSNJ4GU+uqV7LE6tfT9bC3SCetLvuy5ooAb+p8r3rRGbkL7v+3vy+tvSMrI9Tf5JDphBr6v5PsbWD4+WuUcLpIV9HPlyr/Z1znnz9GF+zxguPI4iPnhhN+Osl8J+aXf3D8g1Sc+QlZ93o6OHs4XN3fKlXZtdjWkngrL5Ojh6OGef33Jfn6zyMXd5aHjSiuZ+7X8gWOWokPsJsxkvyqnxFZLyf9HF9yUvjnPe1kzyX+5S3bMKvTTPjeOPPF/WC0GT+6M2KcBLrJ3dFavVy7Jo+KEtp68CW8qFeeqGwArB0tLc7CRpYHEPtOAGLITJUmCS14otOD4h6xPoldyi84/ZMZWUUauvJ+f0Xs6+SedCHtHJa0LTt5HF6ReKl6EF+RiZNdu4pLH11vQHor0Ag+j00W+4aLx2V6n04/bV44W2aM/R+7iYb60Y2H3l92/Q/hCn5KS8SB84Ibt0n6kML4eH4L2igmh+Uac9hjYpXlgl7a7Z1kODEDu8nzxITVAdtV2DzMcwkP+Gw/CffaN83D34yMEZ2uuc2VZCCOEeCtj4U1Q+Wf1ysXQh9SCizfnU9JkEX8QR18Jn+yPPAjtu0Fuo2hnHA/hen/ICZ0MwMNlVmF9/Ur34I60oNOsAwHu2P/cJt4mPPUltK3choSAE74D0ru/8/u/tc/sPpq1Ltuwnl0sE3e6w1H7ov70hZAy2lYVOZd6lGEAwrtYCHlyV8hhJUYPQLtuuX2VS9YM71gRclhi8ciVpx6EC/tC+rIn5/6hCZ0vNmyHdg6IW2bbhBu0LCRGqPC7v7GiZF07d0q4xXMTLj0ZhxAtBo1ny2rqT3jMHV37kdOeyCZc6wt9COnUC0D2XUjO7drI6sQy0YzTZ//zvniI9rO4RNSwLJ86uDnO0Kkq0pVlvjkQju/+v0PABkUwCOEdvQwCbs1+0uuAbXTQlzilmBBcHu9XDhyHg/qajiMDEFjp5VzhF94Z2m7KFSLOgVNEkDeb0eV+pXJ2+b4sC+D8tl1HKHe2DwMQZp8qCFWeXAVqV7Xz/XplraaKCdH/sktdoUXdy562L++W3OzShSvMO0OnQ7s6vvy5vHJ9wEEMNO1ZnApr6wUFIcxm79+d/7FCW0ZI7CochNCdLi2C9UjZktDu67N8iOHyxJai7ubB+oe87aE392dXAQkXsj2M/cUH7YCEK11a2135mH4uwDPLYZPtTZErXc4ZbywH0P2YuWxHTQEriOTvMITHTpILZysw4cXiJveOz7hEbF84+eZf2E1i0ScsB0o3vORJ1YEHKx7fy6GTEwW135ef15VlByUiPHCaxfnCnV0Oo4MSKvXvo7u/s/c/Hw7A4ifo7OXu/P3qpo7qD0dETsATXhwxLe+NKg//nL//vKmgQ/YNfRY0GPNwdX9Ob9o+dE+1ALh/RL54vzv9fkGc+X32k0sn+JVhaR0RC7LoD1F79J69f2u7XuRBfObR/fn9t7e1rlfcDnmgiwa03CWLkMKmVNh00PIrPn0DVq+ELHTmvpINpxR607X4u0JvoDgXrt2N34E+kWWPT26UWb8L4LcIN3qKfyECHSVG/6nbpwl4m+2aIV3zSwNpR5gu7Qi9tCNMmx6oXjwGSUJtGyFa7YcDaNsIw2tHuP1aITzM/YlyE/71R2rPRfgHa0e4/frzCf8Pz8cNasrHIy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2492" name="Picture 28" descr="http://abutaleb.info/wp-content/uploads/2015/06/Java-Script-Logo.pn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24554" y="3214686"/>
            <a:ext cx="1733528" cy="17335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http://people.mandriva.com/~prigaux/language-study/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-357"/>
            <a:ext cx="903649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23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D" b="1" dirty="0" smtClean="0"/>
              <a:t>Motivele apariției limbajelor noi de programare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57428"/>
          </a:xfrm>
        </p:spPr>
        <p:txBody>
          <a:bodyPr/>
          <a:lstStyle/>
          <a:p>
            <a:r>
              <a:rPr lang="ro-MD" i="1" dirty="0" smtClean="0"/>
              <a:t>Adaptarea la medii și domeniului de aplicare a limbajului;</a:t>
            </a:r>
          </a:p>
          <a:p>
            <a:r>
              <a:rPr lang="ro-MD" i="1" dirty="0" smtClean="0"/>
              <a:t>Realizarea îmbunătățirii și perfecționării domeniului programării.</a:t>
            </a:r>
            <a:endParaRPr lang="en-US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13</a:t>
            </a:fld>
            <a:endParaRPr lang="ro-RO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57158" y="370366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MD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Pentru a învăța un limbaj de programare în profunzime este necesar să înțelegem: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57158" y="5029224"/>
            <a:ext cx="8229600" cy="1614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o-MD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Motivul apariției; factorii care au stat la baza apariției;</a:t>
            </a:r>
            <a:r>
              <a:rPr kumimoji="0" lang="ro-MD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particularitățile moștenite de la alte limbaje.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D" b="1" dirty="0" smtClean="0"/>
              <a:t>Originea limbajului de programare Java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b="1" dirty="0" smtClean="0"/>
              <a:t>Limbajul C</a:t>
            </a:r>
            <a:r>
              <a:rPr lang="ro-MD" dirty="0" smtClean="0"/>
              <a:t> – un limbaj scris de programatori pentru programatori! (înc. </a:t>
            </a:r>
            <a:r>
              <a:rPr lang="en-US" dirty="0" smtClean="0"/>
              <a:t>‘70</a:t>
            </a:r>
            <a:r>
              <a:rPr lang="ro-MD" dirty="0" smtClean="0"/>
              <a:t>)</a:t>
            </a:r>
          </a:p>
          <a:p>
            <a:pPr lvl="1"/>
            <a:r>
              <a:rPr lang="ro-MD" i="1" dirty="0" smtClean="0"/>
              <a:t>Limbaj structurat!</a:t>
            </a:r>
          </a:p>
          <a:p>
            <a:r>
              <a:rPr lang="en-US" b="1" dirty="0" err="1" smtClean="0"/>
              <a:t>Limbajul</a:t>
            </a:r>
            <a:r>
              <a:rPr lang="en-US" b="1" dirty="0" smtClean="0"/>
              <a:t> C++ </a:t>
            </a:r>
            <a:r>
              <a:rPr lang="en-US" dirty="0" smtClean="0"/>
              <a:t>- un </a:t>
            </a:r>
            <a:r>
              <a:rPr lang="en-US" dirty="0" err="1" smtClean="0"/>
              <a:t>limbaj</a:t>
            </a:r>
            <a:r>
              <a:rPr lang="en-US" dirty="0" smtClean="0"/>
              <a:t> care </a:t>
            </a:r>
            <a:r>
              <a:rPr lang="en-US" dirty="0" err="1" smtClean="0"/>
              <a:t>extinde</a:t>
            </a:r>
            <a:r>
              <a:rPr lang="en-US" dirty="0" smtClean="0"/>
              <a:t> </a:t>
            </a:r>
            <a:r>
              <a:rPr lang="en-US" dirty="0" err="1" smtClean="0"/>
              <a:t>limbajul</a:t>
            </a:r>
            <a:r>
              <a:rPr lang="en-US" dirty="0" smtClean="0"/>
              <a:t> C ad</a:t>
            </a:r>
            <a:r>
              <a:rPr lang="ro-MD" dirty="0" smtClean="0"/>
              <a:t>ăugînd lucru cu </a:t>
            </a:r>
            <a:r>
              <a:rPr lang="ro-MD" i="1" u="sng" dirty="0" smtClean="0"/>
              <a:t>clase</a:t>
            </a:r>
            <a:r>
              <a:rPr lang="en-US" dirty="0" smtClean="0"/>
              <a:t>! (</a:t>
            </a:r>
            <a:r>
              <a:rPr lang="en-US" dirty="0" err="1" smtClean="0"/>
              <a:t>anul</a:t>
            </a:r>
            <a:r>
              <a:rPr lang="en-US" dirty="0" smtClean="0"/>
              <a:t> 1979)</a:t>
            </a:r>
          </a:p>
          <a:p>
            <a:pPr lvl="1"/>
            <a:r>
              <a:rPr lang="en-US" dirty="0" smtClean="0"/>
              <a:t>Prima </a:t>
            </a:r>
            <a:r>
              <a:rPr lang="en-US" dirty="0" err="1" smtClean="0"/>
              <a:t>denumire</a:t>
            </a:r>
            <a:r>
              <a:rPr lang="en-US" dirty="0" smtClean="0"/>
              <a:t> a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“</a:t>
            </a:r>
            <a:r>
              <a:rPr lang="en-US" i="1" dirty="0" smtClean="0"/>
              <a:t>C with Classes</a:t>
            </a:r>
            <a:r>
              <a:rPr lang="en-US" dirty="0" smtClean="0"/>
              <a:t>”</a:t>
            </a:r>
          </a:p>
          <a:p>
            <a:r>
              <a:rPr lang="ro-MD" b="1" dirty="0" smtClean="0"/>
              <a:t>Dezvoltarea Internetului</a:t>
            </a:r>
            <a:r>
              <a:rPr lang="ro-MD" dirty="0" smtClean="0"/>
              <a:t>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14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b="1" dirty="0" smtClean="0"/>
              <a:t>Apariția limbajului Java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dirty="0" smtClean="0"/>
              <a:t>În 1991 – în compania Sun Microsystems - </a:t>
            </a:r>
            <a:r>
              <a:rPr lang="ro-MD" b="1" dirty="0" smtClean="0"/>
              <a:t>Oak</a:t>
            </a:r>
          </a:p>
          <a:p>
            <a:pPr lvl="1"/>
            <a:r>
              <a:rPr lang="ro-MD" dirty="0" smtClean="0"/>
              <a:t>Mai mulți programatori au dorit să elaboreze un limbaj pentru a programa dispozitive elecronice independent de platforma!</a:t>
            </a:r>
          </a:p>
          <a:p>
            <a:r>
              <a:rPr lang="ro-MD" dirty="0" smtClean="0"/>
              <a:t>În 1993 – se încearcă să fie posibil de a elabora aplicații pentru Internet.</a:t>
            </a:r>
          </a:p>
          <a:p>
            <a:r>
              <a:rPr lang="ro-MD" dirty="0" smtClean="0"/>
              <a:t>În 1995 limbajul Oak se transformă în Java.</a:t>
            </a:r>
          </a:p>
          <a:p>
            <a:r>
              <a:rPr lang="ro-MD" b="1" dirty="0" smtClean="0"/>
              <a:t>Popularitatea lui demonstrează apariția LP C#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15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Tipuri de aplicații Java (MS-DOS)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16</a:t>
            </a:fld>
            <a:endParaRPr lang="ro-RO"/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1214422"/>
            <a:ext cx="528358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3357562"/>
            <a:ext cx="4572032" cy="2996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D" dirty="0" smtClean="0"/>
              <a:t>Tipuri de aplicații Java </a:t>
            </a:r>
            <a:br>
              <a:rPr lang="ro-MD" dirty="0" smtClean="0"/>
            </a:br>
            <a:r>
              <a:rPr lang="ro-MD" dirty="0" smtClean="0"/>
              <a:t>(Desktop-GUI)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17</a:t>
            </a:fld>
            <a:endParaRPr lang="ro-R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30960" t="25212" r="37464" b="37302"/>
          <a:stretch>
            <a:fillRect/>
          </a:stretch>
        </p:blipFill>
        <p:spPr bwMode="auto">
          <a:xfrm>
            <a:off x="285720" y="2152275"/>
            <a:ext cx="4143404" cy="30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 l="30788" t="23919" r="36780" b="36949"/>
          <a:stretch>
            <a:fillRect/>
          </a:stretch>
        </p:blipFill>
        <p:spPr bwMode="auto">
          <a:xfrm>
            <a:off x="5000628" y="3571876"/>
            <a:ext cx="3500462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 l="29802" t="35714" r="37168" b="36508"/>
          <a:stretch>
            <a:fillRect/>
          </a:stretch>
        </p:blipFill>
        <p:spPr bwMode="auto">
          <a:xfrm>
            <a:off x="4786314" y="1500174"/>
            <a:ext cx="4071966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Tipuri de aplicații Java (Applets)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18</a:t>
            </a:fld>
            <a:endParaRPr lang="ro-R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736"/>
            <a:ext cx="3962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43418" y="3357562"/>
            <a:ext cx="46863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Cum a schimbat LP Java Internetul?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429288"/>
          </a:xfrm>
        </p:spPr>
        <p:txBody>
          <a:bodyPr>
            <a:normAutofit lnSpcReduction="10000"/>
          </a:bodyPr>
          <a:lstStyle/>
          <a:p>
            <a:r>
              <a:rPr lang="ro-MD" b="1" dirty="0" smtClean="0"/>
              <a:t>Applet-ul</a:t>
            </a:r>
            <a:r>
              <a:rPr lang="ro-MD" dirty="0" smtClean="0"/>
              <a:t> – un tip special de aplicație Java destinat transmiterii prin Internet și îndeplinirea automată într-un browser compatibil cu Java.</a:t>
            </a:r>
          </a:p>
          <a:p>
            <a:r>
              <a:rPr lang="ro-RO" dirty="0" smtClean="0"/>
              <a:t>1 iulie 1997 – a fost declarat că cercetătorii NASA cu ajutorul appleturilor Java controlează robotul care studiază paneta Marte.</a:t>
            </a:r>
            <a:endParaRPr lang="ro-MD" dirty="0" smtClean="0"/>
          </a:p>
          <a:p>
            <a:r>
              <a:rPr lang="ro-MD" dirty="0" smtClean="0"/>
              <a:t>Caracteristicile applet-ului</a:t>
            </a:r>
          </a:p>
          <a:p>
            <a:pPr lvl="1"/>
            <a:r>
              <a:rPr lang="ro-MD" i="1" dirty="0" smtClean="0"/>
              <a:t>Securitatea</a:t>
            </a:r>
            <a:r>
              <a:rPr lang="ro-MD" dirty="0" smtClean="0"/>
              <a:t> – acțiunea appletului nu se referă la accesul la alte părți ale sistemelor de operare. </a:t>
            </a:r>
          </a:p>
          <a:p>
            <a:pPr lvl="1"/>
            <a:r>
              <a:rPr lang="ro-MD" i="1" dirty="0" smtClean="0"/>
              <a:t>Transferabilitatea</a:t>
            </a:r>
            <a:r>
              <a:rPr lang="ro-MD" dirty="0" smtClean="0"/>
              <a:t> - ... Byte-codul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19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Byte-codul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dirty="0" smtClean="0"/>
              <a:t>Compilatorul Java ca rezultat nu crează un fișier executabil, dar așa numitul byte-cod.</a:t>
            </a:r>
          </a:p>
          <a:p>
            <a:r>
              <a:rPr lang="ro-MD" dirty="0" smtClean="0"/>
              <a:t>Byte-cod-ul este un grup de instrucțiuni optimizate, care sînt necesare pentru a fi executate în mediu de execuție a sistemului Java, numit </a:t>
            </a:r>
            <a:r>
              <a:rPr lang="ro-MD" b="1" dirty="0" smtClean="0"/>
              <a:t>Java Virtual Machine</a:t>
            </a:r>
            <a:r>
              <a:rPr lang="ro-MD" dirty="0" smtClean="0"/>
              <a:t>.</a:t>
            </a:r>
          </a:p>
          <a:p>
            <a:r>
              <a:rPr lang="ro-MD" b="1" dirty="0" smtClean="0"/>
              <a:t>Mecanismul asigură executarea pe mai multe platforme la fel!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20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Java Virtual Machine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/>
          <a:lstStyle/>
          <a:p>
            <a:r>
              <a:rPr lang="ro-RO" dirty="0" smtClean="0"/>
              <a:t>JVM – un program executat pe un anumit sistem de operare și care oferă aplicațiilor Java toate posibilitățile necesare.</a:t>
            </a:r>
          </a:p>
          <a:p>
            <a:r>
              <a:rPr lang="ro-RO" dirty="0" smtClean="0"/>
              <a:t>Codul sursă a programului Java este un fișier text obișnuit, care are în denumire extensia .java.</a:t>
            </a:r>
          </a:p>
          <a:p>
            <a:r>
              <a:rPr lang="ro-RO" dirty="0" smtClean="0"/>
              <a:t>Fișierul se transmite compilatorului, care transformă într-un format special Java-byte code.</a:t>
            </a:r>
          </a:p>
          <a:p>
            <a:r>
              <a:rPr lang="ro-RO" dirty="0" smtClean="0"/>
              <a:t>Rezultatul compilării este fișierul cu extensia .class</a:t>
            </a:r>
          </a:p>
          <a:p>
            <a:r>
              <a:rPr lang="ro-RO" dirty="0" smtClean="0"/>
              <a:t>Aplicația Java constînd din aceste fișiere este transmisă JVM pentru execuție.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21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Tipuri de aplicații Java (JSP)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22</a:t>
            </a:fld>
            <a:endParaRPr lang="ro-RO"/>
          </a:p>
        </p:txBody>
      </p:sp>
      <p:pic>
        <p:nvPicPr>
          <p:cNvPr id="6" name="Рисунок 4"/>
          <p:cNvPicPr/>
          <p:nvPr/>
        </p:nvPicPr>
        <p:blipFill>
          <a:blip r:embed="rId2"/>
          <a:srcRect l="28046" r="31873" b="5102"/>
          <a:stretch>
            <a:fillRect/>
          </a:stretch>
        </p:blipFill>
        <p:spPr bwMode="auto">
          <a:xfrm>
            <a:off x="2786050" y="1357298"/>
            <a:ext cx="3810294" cy="4744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Servlet-urile &amp; Paginile 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dirty="0" smtClean="0"/>
              <a:t>Servletul este un mic program, care se execută pe partea de server.</a:t>
            </a:r>
          </a:p>
          <a:p>
            <a:r>
              <a:rPr lang="ro-MD" dirty="0" smtClean="0"/>
              <a:t>Servlet-ele la fel se compilează în byte-code și se execută în mașina virtuală.</a:t>
            </a:r>
          </a:p>
          <a:p>
            <a:r>
              <a:rPr lang="ro-MD" dirty="0" smtClean="0"/>
              <a:t>Unul și același servlet poate fi îndeplinit pe mai multe medii de server.</a:t>
            </a:r>
          </a:p>
          <a:p>
            <a:r>
              <a:rPr lang="ro-MD" dirty="0" smtClean="0"/>
              <a:t>Condiția este ca pe server să fie instalat JVM și containere pentru servlete.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23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D" dirty="0" smtClean="0"/>
              <a:t>Caracteristicile deosebite ale limbajului Java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o-MD" i="1" dirty="0" smtClean="0"/>
              <a:t>Simplitate</a:t>
            </a:r>
          </a:p>
          <a:p>
            <a:pPr>
              <a:lnSpc>
                <a:spcPct val="150000"/>
              </a:lnSpc>
            </a:pPr>
            <a:r>
              <a:rPr lang="ro-MD" i="1" dirty="0" smtClean="0"/>
              <a:t>Securizare</a:t>
            </a:r>
          </a:p>
          <a:p>
            <a:pPr>
              <a:lnSpc>
                <a:spcPct val="150000"/>
              </a:lnSpc>
            </a:pPr>
            <a:r>
              <a:rPr lang="ro-MD" i="1" dirty="0" smtClean="0"/>
              <a:t>Transferabilitate</a:t>
            </a:r>
          </a:p>
          <a:p>
            <a:pPr>
              <a:lnSpc>
                <a:spcPct val="150000"/>
              </a:lnSpc>
            </a:pPr>
            <a:r>
              <a:rPr lang="ro-MD" i="1" dirty="0" smtClean="0"/>
              <a:t>Orientare pe obiect</a:t>
            </a:r>
          </a:p>
          <a:p>
            <a:pPr>
              <a:lnSpc>
                <a:spcPct val="150000"/>
              </a:lnSpc>
            </a:pPr>
            <a:r>
              <a:rPr lang="ro-MD" i="1" dirty="0" smtClean="0"/>
              <a:t>Siguranță</a:t>
            </a:r>
            <a:endParaRPr lang="ru-RU" i="1" dirty="0" smtClean="0"/>
          </a:p>
          <a:p>
            <a:pPr>
              <a:lnSpc>
                <a:spcPct val="150000"/>
              </a:lnSpc>
            </a:pPr>
            <a:r>
              <a:rPr lang="en-US" i="1" dirty="0" smtClean="0"/>
              <a:t>Multithreading</a:t>
            </a:r>
            <a:endParaRPr lang="ru-RU" i="1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o-MD" i="1" dirty="0" smtClean="0"/>
              <a:t>Independență de arhitectură</a:t>
            </a:r>
          </a:p>
          <a:p>
            <a:pPr>
              <a:lnSpc>
                <a:spcPct val="150000"/>
              </a:lnSpc>
            </a:pPr>
            <a:r>
              <a:rPr lang="ro-MD" i="1" dirty="0" smtClean="0"/>
              <a:t>Interpretare</a:t>
            </a:r>
            <a:endParaRPr lang="en-US" i="1" dirty="0" smtClean="0"/>
          </a:p>
          <a:p>
            <a:pPr>
              <a:lnSpc>
                <a:spcPct val="150000"/>
              </a:lnSpc>
            </a:pPr>
            <a:r>
              <a:rPr lang="ro-MD" i="1" dirty="0" smtClean="0"/>
              <a:t>Productivitate ridicată</a:t>
            </a:r>
          </a:p>
          <a:p>
            <a:pPr>
              <a:lnSpc>
                <a:spcPct val="150000"/>
              </a:lnSpc>
            </a:pPr>
            <a:r>
              <a:rPr lang="ro-MD" i="1" dirty="0" smtClean="0"/>
              <a:t>Distribuire</a:t>
            </a:r>
          </a:p>
          <a:p>
            <a:pPr>
              <a:lnSpc>
                <a:spcPct val="150000"/>
              </a:lnSpc>
            </a:pPr>
            <a:r>
              <a:rPr lang="ro-MD" i="1" dirty="0" smtClean="0"/>
              <a:t>Dinamicitate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24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Java Development Kit (JDK)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1596"/>
            <a:ext cx="9144000" cy="5686404"/>
          </a:xfrm>
        </p:spPr>
        <p:txBody>
          <a:bodyPr>
            <a:normAutofit/>
          </a:bodyPr>
          <a:lstStyle/>
          <a:p>
            <a:r>
              <a:rPr lang="ro-RO" dirty="0" smtClean="0"/>
              <a:t>23 mai 1995 – prima versiune!</a:t>
            </a:r>
          </a:p>
          <a:p>
            <a:pPr>
              <a:buNone/>
            </a:pPr>
            <a:r>
              <a:rPr lang="ro-RO" i="1" dirty="0" smtClean="0"/>
              <a:t>JDK este intrument de dezvoltare care conține utilitare de bază, bibliotecile standarde de clase și exemple demonstrative.</a:t>
            </a:r>
          </a:p>
          <a:p>
            <a:r>
              <a:rPr lang="ro-RO" dirty="0" smtClean="0"/>
              <a:t>JDK nu conține nici un mijloc de elaborare a aplicațiilor. Nu are nici un redactor textual și operează doar cu fișierele java.</a:t>
            </a:r>
          </a:p>
          <a:p>
            <a:r>
              <a:rPr lang="ro-RO" dirty="0" smtClean="0"/>
              <a:t>Compilatorul java este </a:t>
            </a:r>
            <a:r>
              <a:rPr lang="ro-RO" b="1" dirty="0" smtClean="0"/>
              <a:t>javac (java compiler)</a:t>
            </a:r>
            <a:r>
              <a:rPr lang="ro-RO" dirty="0" smtClean="0"/>
              <a:t>.</a:t>
            </a:r>
          </a:p>
          <a:p>
            <a:r>
              <a:rPr lang="ro-RO" dirty="0" smtClean="0"/>
              <a:t>Mașina virtuală este reprezentat prin </a:t>
            </a:r>
            <a:r>
              <a:rPr lang="ro-RO" b="1" dirty="0" smtClean="0"/>
              <a:t>java</a:t>
            </a:r>
            <a:r>
              <a:rPr lang="ro-RO" dirty="0" smtClean="0"/>
              <a:t>.</a:t>
            </a:r>
          </a:p>
          <a:p>
            <a:r>
              <a:rPr lang="ro-RO" dirty="0" smtClean="0"/>
              <a:t>Pentru vizualizarea appleturilor este appletviewer.</a:t>
            </a:r>
          </a:p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25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Primele 8 biblioteci standard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lnSpcReduction="10000"/>
          </a:bodyPr>
          <a:lstStyle/>
          <a:p>
            <a:r>
              <a:rPr lang="ro-RO" i="1" dirty="0" smtClean="0"/>
              <a:t>java.lang</a:t>
            </a:r>
            <a:r>
              <a:rPr lang="ro-RO" dirty="0" smtClean="0"/>
              <a:t> – clasele de bază, necesare pentru orice aplicație</a:t>
            </a:r>
          </a:p>
          <a:p>
            <a:r>
              <a:rPr lang="ro-RO" i="1" dirty="0" smtClean="0"/>
              <a:t>java.util</a:t>
            </a:r>
            <a:r>
              <a:rPr lang="ro-RO" dirty="0" smtClean="0"/>
              <a:t> – multe clase suplimentare</a:t>
            </a:r>
          </a:p>
          <a:p>
            <a:r>
              <a:rPr lang="ro-RO" i="1" dirty="0" smtClean="0"/>
              <a:t>java.applet</a:t>
            </a:r>
            <a:r>
              <a:rPr lang="ro-RO" dirty="0" smtClean="0"/>
              <a:t> – clase pentru crearea appleturilor</a:t>
            </a:r>
          </a:p>
          <a:p>
            <a:r>
              <a:rPr lang="ro-RO" i="1" dirty="0" smtClean="0"/>
              <a:t>java.awt</a:t>
            </a:r>
            <a:r>
              <a:rPr lang="ro-RO" dirty="0" smtClean="0"/>
              <a:t>, </a:t>
            </a:r>
            <a:r>
              <a:rPr lang="ro-RO" i="1" dirty="0" smtClean="0"/>
              <a:t>java.awt.peer</a:t>
            </a:r>
            <a:r>
              <a:rPr lang="ro-RO" dirty="0" smtClean="0"/>
              <a:t> – biblioteca pentru crearea interfeței grafice utilizator</a:t>
            </a:r>
          </a:p>
          <a:p>
            <a:r>
              <a:rPr lang="ro-RO" i="1" dirty="0" smtClean="0"/>
              <a:t>java.awt.image</a:t>
            </a:r>
            <a:r>
              <a:rPr lang="ro-RO" dirty="0" smtClean="0"/>
              <a:t> – clasă suplimentară pentru lucru cu imagini</a:t>
            </a:r>
          </a:p>
          <a:p>
            <a:r>
              <a:rPr lang="ro-RO" i="1" dirty="0" smtClean="0"/>
              <a:t>java.io</a:t>
            </a:r>
            <a:r>
              <a:rPr lang="ro-RO" dirty="0" smtClean="0"/>
              <a:t> – lucru cu fluxuri de date (streams) și fișiere</a:t>
            </a:r>
          </a:p>
          <a:p>
            <a:r>
              <a:rPr lang="ro-RO" i="1" dirty="0" smtClean="0"/>
              <a:t>java.net</a:t>
            </a:r>
            <a:r>
              <a:rPr lang="ro-RO" dirty="0" smtClean="0"/>
              <a:t> – lucru cu rețea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26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Java 2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 smtClean="0"/>
              <a:t>15 iunie 1999</a:t>
            </a:r>
          </a:p>
          <a:p>
            <a:r>
              <a:rPr lang="ro-RO" dirty="0" smtClean="0"/>
              <a:t>Java 2 Platform, Standard Edition (J2SE) – pentru aplicații de birou, ca și în JDK standard.</a:t>
            </a:r>
          </a:p>
          <a:p>
            <a:r>
              <a:rPr lang="ro-RO" dirty="0" smtClean="0"/>
              <a:t>Java 2 Platform, Entreprise Edition (J2EE) – pentru elaborarea aplicațiilor complexe, sigure și pe servere distribuite.</a:t>
            </a:r>
          </a:p>
          <a:p>
            <a:r>
              <a:rPr lang="ro-RO" dirty="0" smtClean="0"/>
              <a:t>Java 2 Platform, Micro Edition (J2ME) – reprezintă versiune redusă a JDK, suficientă pentru dispozitivele mici și portabile.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27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274638"/>
            <a:ext cx="8229600" cy="1143000"/>
          </a:xfrm>
        </p:spPr>
        <p:txBody>
          <a:bodyPr/>
          <a:lstStyle/>
          <a:p>
            <a:r>
              <a:rPr lang="ro-MD" dirty="0" smtClean="0">
                <a:sym typeface="Symbol"/>
              </a:rPr>
              <a:t>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709" y="1511264"/>
            <a:ext cx="8229600" cy="170171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ro-MD" dirty="0" smtClean="0"/>
              <a:t>Transferarea a avut loc </a:t>
            </a:r>
          </a:p>
          <a:p>
            <a:pPr lvl="1">
              <a:lnSpc>
                <a:spcPct val="150000"/>
              </a:lnSpc>
            </a:pPr>
            <a:r>
              <a:rPr lang="ro-MD" dirty="0" smtClean="0"/>
              <a:t>APRILIE 2009 – IANUARIE 2010</a:t>
            </a:r>
          </a:p>
          <a:p>
            <a:pPr>
              <a:lnSpc>
                <a:spcPct val="150000"/>
              </a:lnSpc>
            </a:pPr>
            <a:r>
              <a:rPr lang="ro-MD" dirty="0" smtClean="0"/>
              <a:t>Prima noua versiune Oracle a fost Java SE 7.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28</a:t>
            </a:fld>
            <a:endParaRPr lang="ro-RO"/>
          </a:p>
        </p:txBody>
      </p:sp>
      <p:pic>
        <p:nvPicPr>
          <p:cNvPr id="1026" name="Picture 2" descr="Imagin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6813" y="357166"/>
            <a:ext cx="2449303" cy="1071570"/>
          </a:xfrm>
          <a:prstGeom prst="rect">
            <a:avLst/>
          </a:prstGeom>
          <a:noFill/>
        </p:spPr>
      </p:pic>
      <p:pic>
        <p:nvPicPr>
          <p:cNvPr id="1028" name="Picture 4" descr="Imagini pentru Orac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428604"/>
            <a:ext cx="3886584" cy="928694"/>
          </a:xfrm>
          <a:prstGeom prst="rect">
            <a:avLst/>
          </a:prstGeom>
          <a:noFill/>
        </p:spPr>
      </p:pic>
      <p:pic>
        <p:nvPicPr>
          <p:cNvPr id="6" name="Imagine 5"/>
          <p:cNvPicPr>
            <a:picLocks noChangeAspect="1"/>
          </p:cNvPicPr>
          <p:nvPr/>
        </p:nvPicPr>
        <p:blipFill rotWithShape="1">
          <a:blip r:embed="rId4"/>
          <a:srcRect l="20468" t="26012" r="18107" b="20196"/>
          <a:stretch/>
        </p:blipFill>
        <p:spPr>
          <a:xfrm>
            <a:off x="971600" y="3200402"/>
            <a:ext cx="7128792" cy="3324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83831" y="12073"/>
            <a:ext cx="8229600" cy="1143000"/>
          </a:xfrm>
        </p:spPr>
        <p:txBody>
          <a:bodyPr/>
          <a:lstStyle/>
          <a:p>
            <a:r>
              <a:rPr lang="ro-MD" dirty="0"/>
              <a:t>Java SE 8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539552" y="836712"/>
            <a:ext cx="8229600" cy="1540768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o-MD" dirty="0"/>
              <a:t>Expresiile </a:t>
            </a:r>
            <a:r>
              <a:rPr lang="ro-MD" dirty="0" err="1"/>
              <a:t>Lamda</a:t>
            </a:r>
            <a:r>
              <a:rPr lang="ro-MD" dirty="0"/>
              <a:t> și tot ce ține de </a:t>
            </a:r>
            <a:r>
              <a:rPr lang="ro-MD" dirty="0" smtClean="0"/>
              <a:t>asta… -</a:t>
            </a:r>
            <a:r>
              <a:rPr lang="ro-RO" dirty="0" smtClean="0"/>
              <a:t>&gt;</a:t>
            </a: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o-RO" dirty="0" smtClean="0"/>
              <a:t>Sus</a:t>
            </a:r>
            <a:r>
              <a:rPr lang="ro-MD" dirty="0" smtClean="0"/>
              <a:t>ținerea </a:t>
            </a:r>
            <a:r>
              <a:rPr lang="ro-MD" dirty="0" err="1" smtClean="0"/>
              <a:t>JavaFX</a:t>
            </a:r>
            <a:endParaRPr lang="en-US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29</a:t>
            </a:fld>
            <a:endParaRPr lang="ro-RO"/>
          </a:p>
        </p:txBody>
      </p:sp>
      <p:sp>
        <p:nvSpPr>
          <p:cNvPr id="6" name="Titlu 1"/>
          <p:cNvSpPr txBox="1">
            <a:spLocks/>
          </p:cNvSpPr>
          <p:nvPr/>
        </p:nvSpPr>
        <p:spPr>
          <a:xfrm>
            <a:off x="457200" y="21922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MD" dirty="0" smtClean="0"/>
              <a:t>Java SE 9</a:t>
            </a:r>
            <a:endParaRPr lang="en-US" dirty="0"/>
          </a:p>
        </p:txBody>
      </p:sp>
      <p:sp>
        <p:nvSpPr>
          <p:cNvPr id="7" name="Substituent conținut 2"/>
          <p:cNvSpPr txBox="1">
            <a:spLocks/>
          </p:cNvSpPr>
          <p:nvPr/>
        </p:nvSpPr>
        <p:spPr>
          <a:xfrm>
            <a:off x="518355" y="3068960"/>
            <a:ext cx="8322096" cy="1251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o-MD" dirty="0" smtClean="0"/>
              <a:t>Apariția de </a:t>
            </a:r>
            <a:r>
              <a:rPr lang="ro-MD" b="1" dirty="0" smtClean="0"/>
              <a:t>module. </a:t>
            </a:r>
            <a:r>
              <a:rPr lang="ro-MD" dirty="0" smtClean="0"/>
              <a:t>Pachetele sunt organizate în module.</a:t>
            </a:r>
            <a:endParaRPr lang="ro-RO" b="1" dirty="0" smtClean="0"/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o-MD" dirty="0" smtClean="0"/>
              <a:t>Interpretatorul </a:t>
            </a:r>
            <a:r>
              <a:rPr lang="ro-MD" dirty="0" err="1" smtClean="0"/>
              <a:t>JShell</a:t>
            </a:r>
            <a:r>
              <a:rPr lang="ro-MD" dirty="0" smtClean="0"/>
              <a:t>.</a:t>
            </a:r>
          </a:p>
          <a:p>
            <a:endParaRPr lang="en-US" dirty="0"/>
          </a:p>
        </p:txBody>
      </p:sp>
      <p:sp>
        <p:nvSpPr>
          <p:cNvPr id="8" name="Titlu 1"/>
          <p:cNvSpPr txBox="1">
            <a:spLocks/>
          </p:cNvSpPr>
          <p:nvPr/>
        </p:nvSpPr>
        <p:spPr>
          <a:xfrm>
            <a:off x="545973" y="413495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MD" dirty="0" smtClean="0"/>
              <a:t>Java SE 10 primăvara 2018</a:t>
            </a:r>
            <a:endParaRPr lang="en-US" dirty="0"/>
          </a:p>
        </p:txBody>
      </p:sp>
      <p:sp>
        <p:nvSpPr>
          <p:cNvPr id="9" name="Substituent conținut 2"/>
          <p:cNvSpPr txBox="1">
            <a:spLocks/>
          </p:cNvSpPr>
          <p:nvPr/>
        </p:nvSpPr>
        <p:spPr>
          <a:xfrm>
            <a:off x="607128" y="5011631"/>
            <a:ext cx="8322096" cy="1251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o-MD" dirty="0" smtClean="0"/>
              <a:t>Declararea variabilelor cu ajutorul cuvântului </a:t>
            </a:r>
            <a:r>
              <a:rPr lang="ro-MD" b="1" dirty="0" smtClean="0"/>
              <a:t>var</a:t>
            </a:r>
            <a:r>
              <a:rPr lang="ro-MD" dirty="0" smtClean="0"/>
              <a:t>.</a:t>
            </a:r>
            <a:endParaRPr lang="ro-RO" b="1" dirty="0" smtClean="0"/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o-MD" dirty="0" smtClean="0"/>
              <a:t>Apariția unui singur </a:t>
            </a:r>
            <a:r>
              <a:rPr lang="ro-MD" dirty="0" err="1" smtClean="0"/>
              <a:t>repozitoriu</a:t>
            </a:r>
            <a:r>
              <a:rPr lang="ro-MD" dirty="0" smtClean="0"/>
              <a:t> pentru JDK.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30</a:t>
            </a:fld>
            <a:endParaRPr lang="ro-RO"/>
          </a:p>
        </p:txBody>
      </p:sp>
      <p:pic>
        <p:nvPicPr>
          <p:cNvPr id="6" name="I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352425"/>
            <a:ext cx="90868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5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MD" dirty="0" smtClean="0"/>
              <a:t>Programarea obiect orientată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MD" dirty="0" smtClean="0"/>
              <a:t>Practic toate programele Java sînt obiect orientate!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31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Două metodologii de programare: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b="1" i="1" dirty="0" smtClean="0"/>
              <a:t>Codul care acționează asupra datelor </a:t>
            </a:r>
            <a:r>
              <a:rPr lang="ro-MD" dirty="0" smtClean="0"/>
              <a:t>(Model, orientat pe procese) – program ca consecutivitate de pași liniari (de cod).</a:t>
            </a:r>
          </a:p>
          <a:p>
            <a:endParaRPr lang="ro-MD" dirty="0" smtClean="0"/>
          </a:p>
          <a:p>
            <a:r>
              <a:rPr lang="ro-MD" b="1" i="1" dirty="0" smtClean="0"/>
              <a:t>Datele, care gestionează cu accesul la cod</a:t>
            </a:r>
            <a:r>
              <a:rPr lang="ro-MD" dirty="0" smtClean="0"/>
              <a:t>       (Programare obiect orientată) – organizarea programului în jurul datelor (adică obiectelor) și colecție de interfețe cu aceste date.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32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b="1" dirty="0" smtClean="0"/>
              <a:t>Abstractizare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>
            <a:normAutofit lnSpcReduction="10000"/>
          </a:bodyPr>
          <a:lstStyle/>
          <a:p>
            <a:r>
              <a:rPr lang="vi-VN" sz="2400" dirty="0" smtClean="0">
                <a:latin typeface="Calibri" pitchFamily="34" charset="0"/>
              </a:rPr>
              <a:t>Operație a gândirii prin care se desprind și se rețin unele dintre caracteristicile și relațiile esențiale ale obiectului cercetării</a:t>
            </a:r>
            <a:r>
              <a:rPr lang="ro-MD" sz="2400" dirty="0" smtClean="0">
                <a:latin typeface="Calibri" pitchFamily="34" charset="0"/>
              </a:rPr>
              <a:t>.</a:t>
            </a:r>
          </a:p>
          <a:p>
            <a:r>
              <a:rPr lang="ro-MD" sz="2400" dirty="0" smtClean="0"/>
              <a:t>Un mod eficient de aplicare a abstractizării reprezintă clasificarea ierarhică.</a:t>
            </a:r>
          </a:p>
          <a:p>
            <a:r>
              <a:rPr lang="ro-MD" sz="2400" dirty="0" smtClean="0"/>
              <a:t>Grație abstractizării datele programului obișnuit orientat pe procese, poate fi transformat în obiecte constituiente, și etapele procesului în mulțimea de mesaje cu care comunică obiectele.</a:t>
            </a:r>
          </a:p>
          <a:p>
            <a:r>
              <a:rPr lang="ro-MD" sz="2400" dirty="0" smtClean="0"/>
              <a:t>Fiecare obiect descrie comportamentul său.</a:t>
            </a:r>
          </a:p>
          <a:p>
            <a:r>
              <a:rPr lang="ro-MD" sz="2400" dirty="0" smtClean="0"/>
              <a:t>Obiectele pot fi considerate</a:t>
            </a:r>
            <a:r>
              <a:rPr lang="ru-RU" sz="2400" dirty="0" smtClean="0"/>
              <a:t> </a:t>
            </a:r>
            <a:r>
              <a:rPr lang="ro-MD" sz="2400" dirty="0" smtClean="0"/>
              <a:t>noțiuni esențiale, care reacționează la mesaje, care prescriu îndeplinirea anumitei acțiuni.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33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D" dirty="0" smtClean="0"/>
              <a:t>Principiile programării obiect orientate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MD" b="1" i="1" dirty="0" smtClean="0"/>
              <a:t>Încapsulare</a:t>
            </a:r>
            <a:r>
              <a:rPr lang="ro-MD" dirty="0" smtClean="0"/>
              <a:t> – mecanismul, care leagă codul și datele, cu care se manipulează, protejînd ambele aceste componente de la amestecul extern.</a:t>
            </a:r>
          </a:p>
          <a:p>
            <a:r>
              <a:rPr lang="ro-MD" b="1" i="1" dirty="0" smtClean="0"/>
              <a:t>Moștenire</a:t>
            </a:r>
            <a:r>
              <a:rPr lang="ro-MD" dirty="0" smtClean="0"/>
              <a:t> – proces, în rezultatul căruia un obiect primește proprietățile altuia.</a:t>
            </a:r>
          </a:p>
          <a:p>
            <a:r>
              <a:rPr lang="ro-MD" b="1" i="1" dirty="0" smtClean="0"/>
              <a:t>Polimorfism</a:t>
            </a:r>
            <a:r>
              <a:rPr lang="ro-MD" dirty="0" smtClean="0"/>
              <a:t> – principiul POO, care permite folosirea unuia și aceleeași interfețe pentru mai multe tipuri de acțiuni.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34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MD" b="1" dirty="0" smtClean="0"/>
              <a:t>Clasă &amp; Obiect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fontScale="92500" lnSpcReduction="10000"/>
          </a:bodyPr>
          <a:lstStyle/>
          <a:p>
            <a:r>
              <a:rPr lang="ro-MD" dirty="0" smtClean="0"/>
              <a:t>Clasa definește structura și comportamentul (datele și codul), care va fi folosit cu colecția de obiecte.</a:t>
            </a:r>
          </a:p>
          <a:p>
            <a:r>
              <a:rPr lang="ro-MD" dirty="0" smtClean="0"/>
              <a:t>Clasa reprezintă o descriere a unui grup de obiecte.</a:t>
            </a:r>
          </a:p>
          <a:p>
            <a:r>
              <a:rPr lang="ro-MD" dirty="0" smtClean="0"/>
              <a:t>Clasa este o construcție logică.</a:t>
            </a:r>
          </a:p>
          <a:p>
            <a:r>
              <a:rPr lang="ro-MD" dirty="0" smtClean="0"/>
              <a:t>Obiectul este o construcție fizică.</a:t>
            </a:r>
          </a:p>
          <a:p>
            <a:r>
              <a:rPr lang="ro-MD" b="1" i="1" dirty="0" smtClean="0"/>
              <a:t>În programele bine scrise în Java, metodele definesc modul în care vor fi folosite variabilele clasei. - Încapsulare</a:t>
            </a:r>
            <a:endParaRPr lang="en-US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738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Exemplu de obiecte și clasă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36</a:t>
            </a:fld>
            <a:endParaRPr lang="ro-RO"/>
          </a:p>
        </p:txBody>
      </p:sp>
      <p:pic>
        <p:nvPicPr>
          <p:cNvPr id="46082" name="Picture 2" descr="Imagini pentru transport"/>
          <p:cNvPicPr>
            <a:picLocks noChangeAspect="1" noChangeArrowheads="1"/>
          </p:cNvPicPr>
          <p:nvPr/>
        </p:nvPicPr>
        <p:blipFill>
          <a:blip r:embed="rId2"/>
          <a:srcRect r="1111" b="7335"/>
          <a:stretch>
            <a:fillRect/>
          </a:stretch>
        </p:blipFill>
        <p:spPr bwMode="auto">
          <a:xfrm>
            <a:off x="1142976" y="1142983"/>
            <a:ext cx="6786610" cy="53377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880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Exemplu de obiecte și clasă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37</a:t>
            </a:fld>
            <a:endParaRPr lang="ro-RO"/>
          </a:p>
        </p:txBody>
      </p:sp>
      <p:pic>
        <p:nvPicPr>
          <p:cNvPr id="1026" name="Picture 2" descr="Imagini pentru automobi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57298"/>
            <a:ext cx="8632517" cy="47863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059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Primul exemplu de program simplu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/* 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este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un program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simplu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*/</a:t>
            </a:r>
          </a:p>
          <a:p>
            <a:pPr>
              <a:buNone/>
            </a:pPr>
            <a:r>
              <a:rPr lang="en-US" b="1" dirty="0" smtClean="0">
                <a:latin typeface="Consolas" pitchFamily="49" charset="0"/>
                <a:cs typeface="Consolas" pitchFamily="49" charset="0"/>
              </a:rPr>
              <a:t>class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Example {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//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programul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începe cu apelul metodei main()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ro-MD" b="1" dirty="0" smtClean="0">
                <a:latin typeface="Consolas" pitchFamily="49" charset="0"/>
                <a:cs typeface="Consolas" pitchFamily="49" charset="0"/>
              </a:rPr>
              <a:t>public static void main 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(String args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[]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)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(“Program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simplu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Java”);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495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Culegerea</a:t>
            </a:r>
            <a:r>
              <a:rPr lang="en-US" dirty="0" smtClean="0"/>
              <a:t> </a:t>
            </a:r>
            <a:r>
              <a:rPr lang="en-US" dirty="0" err="1" smtClean="0"/>
              <a:t>codului</a:t>
            </a:r>
            <a:r>
              <a:rPr lang="en-US" dirty="0" smtClean="0"/>
              <a:t> </a:t>
            </a:r>
            <a:r>
              <a:rPr lang="en-US" dirty="0" err="1" smtClean="0"/>
              <a:t>programului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Fi</a:t>
            </a:r>
            <a:r>
              <a:rPr lang="ro-MD" dirty="0" smtClean="0"/>
              <a:t>șierul care va conține codul programului Java va avea extensia </a:t>
            </a:r>
            <a:r>
              <a:rPr lang="ro-MD" b="1" dirty="0" smtClean="0"/>
              <a:t>.java</a:t>
            </a:r>
            <a:r>
              <a:rPr lang="ro-MD" dirty="0" smtClean="0"/>
              <a:t>.</a:t>
            </a:r>
          </a:p>
          <a:p>
            <a:r>
              <a:rPr lang="ro-MD" dirty="0" smtClean="0"/>
              <a:t>Denumirea fișierului care conține programul cules în slidul precedent va fi </a:t>
            </a:r>
            <a:r>
              <a:rPr lang="ro-MD" b="1" dirty="0" smtClean="0"/>
              <a:t>Example.java</a:t>
            </a:r>
            <a:r>
              <a:rPr lang="ro-MD" dirty="0" smtClean="0"/>
              <a:t>.</a:t>
            </a:r>
          </a:p>
          <a:p>
            <a:r>
              <a:rPr lang="ro-MD" dirty="0" smtClean="0"/>
              <a:t>Codul programului Java este un fișier textual.</a:t>
            </a:r>
          </a:p>
          <a:p>
            <a:r>
              <a:rPr lang="ro-MD" dirty="0" smtClean="0"/>
              <a:t>În Java tot codul trebuie să fie conținut într-o clasă.</a:t>
            </a:r>
          </a:p>
          <a:p>
            <a:r>
              <a:rPr lang="ro-MD" dirty="0" smtClean="0"/>
              <a:t>Numele clasei principale, trebuie să coincidă cu numele fișierului care conține codul programului.</a:t>
            </a:r>
          </a:p>
          <a:p>
            <a:r>
              <a:rPr lang="ro-MD" dirty="0" smtClean="0"/>
              <a:t>În Java se deosebesc literele mari de litere mici.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580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Compilarea programului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MD" dirty="0" smtClean="0"/>
              <a:t>Pentru a compila programul Example, trebuie lansat compilatorul (</a:t>
            </a:r>
            <a:r>
              <a:rPr lang="ro-MD" b="1" dirty="0" smtClean="0"/>
              <a:t>javac</a:t>
            </a:r>
            <a:r>
              <a:rPr lang="ro-MD" dirty="0" smtClean="0"/>
              <a:t>), și de indicat numele fișierului sursă în linia de comandă:</a:t>
            </a:r>
          </a:p>
          <a:p>
            <a:pPr>
              <a:buNone/>
            </a:pPr>
            <a:r>
              <a:rPr lang="ro-MD" b="1" dirty="0" smtClean="0">
                <a:latin typeface="Consolas" pitchFamily="49" charset="0"/>
                <a:cs typeface="Consolas" pitchFamily="49" charset="0"/>
              </a:rPr>
              <a:t>	C: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\&gt;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javac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Example.java</a:t>
            </a:r>
            <a:endParaRPr lang="ro-MD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ro-MD" dirty="0" smtClean="0"/>
              <a:t>Compilatorul javac va crea fișierul Example.class</a:t>
            </a:r>
            <a:r>
              <a:rPr lang="en-US" dirty="0" smtClean="0"/>
              <a:t>, care con</a:t>
            </a:r>
            <a:r>
              <a:rPr lang="ro-MD" dirty="0" smtClean="0"/>
              <a:t>ține byte-codul pentru JVM.</a:t>
            </a:r>
          </a:p>
          <a:p>
            <a:r>
              <a:rPr lang="ro-MD" dirty="0" smtClean="0"/>
              <a:t>Pentru a lansa programul în execuție trebuie de utilizat încărcătorul aplicațiilor Java (java):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ro-MD" b="1" dirty="0" smtClean="0">
                <a:latin typeface="Consolas" pitchFamily="49" charset="0"/>
                <a:cs typeface="Consolas" pitchFamily="49" charset="0"/>
              </a:rPr>
              <a:t>C: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\&gt;java Example</a:t>
            </a:r>
            <a:endParaRPr lang="ro-MD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ro-MD" dirty="0" smtClean="0"/>
              <a:t>În rezultat va apărea rezultatul execuției: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ro-MD" b="1" dirty="0" smtClean="0">
                <a:latin typeface="Consolas" pitchFamily="49" charset="0"/>
                <a:cs typeface="Consolas" pitchFamily="49" charset="0"/>
              </a:rPr>
              <a:t>Program simplu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8237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Al doilea exemplu de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/*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Î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nc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ă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un 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program java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*/</a:t>
            </a:r>
            <a:endParaRPr lang="ro-MD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US" b="1" dirty="0" smtClean="0">
                <a:latin typeface="Consolas" pitchFamily="49" charset="0"/>
                <a:cs typeface="Consolas" pitchFamily="49" charset="0"/>
              </a:rPr>
              <a:t>class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Example2 {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public static void main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(String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args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[]) {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int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num;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num=100;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(“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Variabila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num:” + num);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num=num*2;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System.out.print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(“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Valoarea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variabile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num*2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este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egal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cu ”);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(num);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9555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42</a:t>
            </a:fld>
            <a:endParaRPr lang="ro-RO"/>
          </a:p>
        </p:txBody>
      </p:sp>
      <p:pic>
        <p:nvPicPr>
          <p:cNvPr id="6" name="Imagine 5"/>
          <p:cNvPicPr>
            <a:picLocks noChangeAspect="1"/>
          </p:cNvPicPr>
          <p:nvPr/>
        </p:nvPicPr>
        <p:blipFill rotWithShape="1">
          <a:blip r:embed="rId2"/>
          <a:srcRect l="18107" t="29647" r="19682" b="4205"/>
          <a:stretch/>
        </p:blipFill>
        <p:spPr>
          <a:xfrm>
            <a:off x="17184" y="548680"/>
            <a:ext cx="9126815" cy="52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1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Operatorul</a:t>
            </a:r>
            <a:r>
              <a:rPr lang="en-US" dirty="0" smtClean="0"/>
              <a:t> </a:t>
            </a:r>
            <a:r>
              <a:rPr lang="en-US" dirty="0" err="1" smtClean="0"/>
              <a:t>condi</a:t>
            </a:r>
            <a:r>
              <a:rPr lang="ro-MD" dirty="0" smtClean="0"/>
              <a:t>țional </a:t>
            </a:r>
            <a:r>
              <a:rPr lang="ro-MD" b="1" dirty="0" smtClean="0">
                <a:latin typeface="Consolas" pitchFamily="49" charset="0"/>
                <a:cs typeface="Consolas" pitchFamily="49" charset="0"/>
              </a:rPr>
              <a:t>if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/>
          <a:lstStyle/>
          <a:p>
            <a:r>
              <a:rPr lang="ro-MD" dirty="0" smtClean="0"/>
              <a:t>Sintaxa acestui operator este similară operatorilor if în limbajele de programare C, C++ și C#.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if (condiție) operator 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ro-MD" i="1" dirty="0" smtClean="0">
                <a:latin typeface="+mj-lt"/>
                <a:cs typeface="Consolas" pitchFamily="49" charset="0"/>
              </a:rPr>
              <a:t>Exemplu: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if (num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&lt; 100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)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(“num &lt; 100”);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1735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Operatorul</a:t>
            </a:r>
            <a:r>
              <a:rPr lang="en-US" dirty="0" smtClean="0"/>
              <a:t> </a:t>
            </a:r>
            <a:r>
              <a:rPr lang="en-US" dirty="0" err="1" smtClean="0"/>
              <a:t>repetitiv</a:t>
            </a:r>
            <a:r>
              <a:rPr lang="en-US" dirty="0" smtClean="0"/>
              <a:t>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for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 err="1" smtClean="0"/>
              <a:t>Formatul</a:t>
            </a:r>
            <a:r>
              <a:rPr lang="en-US" dirty="0" smtClean="0"/>
              <a:t> </a:t>
            </a:r>
            <a:r>
              <a:rPr lang="en-US" dirty="0" err="1" smtClean="0"/>
              <a:t>operatorului</a:t>
            </a:r>
            <a:endParaRPr lang="en-US" dirty="0" smtClean="0"/>
          </a:p>
          <a:p>
            <a:pPr>
              <a:buNone/>
            </a:pPr>
            <a:r>
              <a:rPr lang="en-US" b="1" dirty="0" smtClean="0">
                <a:latin typeface="Consolas" pitchFamily="49" charset="0"/>
                <a:cs typeface="Consolas" pitchFamily="49" charset="0"/>
              </a:rPr>
              <a:t>for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ini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țializare;condiție;iterație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 	operator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dirty="0" err="1" smtClean="0"/>
              <a:t>Exemplu</a:t>
            </a:r>
            <a:r>
              <a:rPr lang="en-US" dirty="0" smtClean="0"/>
              <a:t>:</a:t>
            </a:r>
            <a:endParaRPr lang="ro-MD" dirty="0" smtClean="0"/>
          </a:p>
          <a:p>
            <a:pPr>
              <a:buNone/>
            </a:pPr>
            <a:r>
              <a:rPr lang="ro-MD" dirty="0" smtClean="0"/>
              <a:t>	</a:t>
            </a:r>
            <a:r>
              <a:rPr lang="ro-MD" sz="2800" b="1" dirty="0" smtClean="0">
                <a:latin typeface="Consolas" pitchFamily="49" charset="0"/>
                <a:cs typeface="Consolas" pitchFamily="49" charset="0"/>
              </a:rPr>
              <a:t>for</a:t>
            </a:r>
            <a:r>
              <a:rPr lang="ro-MD" sz="2800" dirty="0" smtClean="0">
                <a:latin typeface="Consolas" pitchFamily="49" charset="0"/>
                <a:cs typeface="Consolas" pitchFamily="49" charset="0"/>
              </a:rPr>
              <a:t>(int x=0;x</a:t>
            </a:r>
            <a:r>
              <a:rPr lang="en-US" sz="2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ro-MD" sz="2800" dirty="0" smtClean="0">
                <a:latin typeface="Consolas" pitchFamily="49" charset="0"/>
                <a:cs typeface="Consolas" pitchFamily="49" charset="0"/>
              </a:rPr>
              <a:t>10</a:t>
            </a:r>
            <a:r>
              <a:rPr lang="en-US" sz="2800" dirty="0" smtClean="0">
                <a:latin typeface="Consolas" pitchFamily="49" charset="0"/>
                <a:cs typeface="Consolas" pitchFamily="49" charset="0"/>
              </a:rPr>
              <a:t>;x=x+1</a:t>
            </a:r>
            <a:r>
              <a:rPr lang="ro-MD" sz="2800" dirty="0" smtClean="0">
                <a:latin typeface="Consolas" pitchFamily="49" charset="0"/>
                <a:cs typeface="Consolas" pitchFamily="49" charset="0"/>
              </a:rPr>
              <a:t>)</a:t>
            </a:r>
            <a:endParaRPr lang="en-US" sz="2800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sz="2800" dirty="0" err="1" smtClean="0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sz="2800" dirty="0" smtClean="0">
                <a:latin typeface="Consolas" pitchFamily="49" charset="0"/>
                <a:cs typeface="Consolas" pitchFamily="49" charset="0"/>
              </a:rPr>
              <a:t>(“</a:t>
            </a:r>
            <a:r>
              <a:rPr lang="en-US" sz="2800" dirty="0" err="1" smtClean="0">
                <a:latin typeface="Consolas" pitchFamily="49" charset="0"/>
                <a:cs typeface="Consolas" pitchFamily="49" charset="0"/>
              </a:rPr>
              <a:t>Valoarea</a:t>
            </a:r>
            <a:r>
              <a:rPr lang="en-US" sz="2800" dirty="0" smtClean="0">
                <a:latin typeface="Consolas" pitchFamily="49" charset="0"/>
                <a:cs typeface="Consolas" pitchFamily="49" charset="0"/>
              </a:rPr>
              <a:t> x: ”+x);</a:t>
            </a:r>
            <a:r>
              <a:rPr lang="ro-MD" sz="2800" dirty="0" smtClean="0">
                <a:latin typeface="Consolas" pitchFamily="49" charset="0"/>
                <a:cs typeface="Consolas" pitchFamily="49" charset="0"/>
              </a:rPr>
              <a:t> </a:t>
            </a:r>
            <a:endParaRPr lang="en-US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836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45</a:t>
            </a:fld>
            <a:endParaRPr lang="ro-RO"/>
          </a:p>
        </p:txBody>
      </p:sp>
      <p:pic>
        <p:nvPicPr>
          <p:cNvPr id="6" name="Imagine 5"/>
          <p:cNvPicPr>
            <a:picLocks noChangeAspect="1"/>
          </p:cNvPicPr>
          <p:nvPr/>
        </p:nvPicPr>
        <p:blipFill rotWithShape="1">
          <a:blip r:embed="rId2"/>
          <a:srcRect l="18894" t="50727" r="18894" b="4204"/>
          <a:stretch/>
        </p:blipFill>
        <p:spPr>
          <a:xfrm>
            <a:off x="323528" y="1640182"/>
            <a:ext cx="8820472" cy="346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9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Utilizarea</a:t>
            </a:r>
            <a:r>
              <a:rPr lang="en-US" dirty="0" smtClean="0"/>
              <a:t> </a:t>
            </a:r>
            <a:r>
              <a:rPr lang="en-US" dirty="0" err="1" smtClean="0"/>
              <a:t>blocurilor</a:t>
            </a:r>
            <a:r>
              <a:rPr lang="en-US" dirty="0" smtClean="0"/>
              <a:t> de cod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MD" dirty="0" smtClean="0"/>
              <a:t>Două și m</a:t>
            </a:r>
            <a:r>
              <a:rPr lang="en-US" dirty="0" err="1" smtClean="0"/>
              <a:t>ai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r>
              <a:rPr lang="en-US" dirty="0" smtClean="0"/>
              <a:t> </a:t>
            </a:r>
            <a:r>
              <a:rPr lang="en-US" dirty="0" err="1" smtClean="0"/>
              <a:t>instruc</a:t>
            </a:r>
            <a:r>
              <a:rPr lang="ro-MD" dirty="0" smtClean="0"/>
              <a:t>țiuni pot fi grupate în blocuri de cod.</a:t>
            </a:r>
          </a:p>
          <a:p>
            <a:r>
              <a:rPr lang="ro-MD" dirty="0" smtClean="0"/>
              <a:t>Blocurile de cod se iau în paranteze figurate</a:t>
            </a:r>
          </a:p>
          <a:p>
            <a:pPr indent="17463"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{</a:t>
            </a:r>
          </a:p>
          <a:p>
            <a:pPr indent="17463"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Instruc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țiunea 1;</a:t>
            </a:r>
          </a:p>
          <a:p>
            <a:pPr indent="17463"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Instrucțiunea 2;</a:t>
            </a:r>
          </a:p>
          <a:p>
            <a:pPr indent="17463"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...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 indent="17463"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  <a:endParaRPr lang="ro-MD" dirty="0" smtClean="0">
              <a:latin typeface="Consolas" pitchFamily="49" charset="0"/>
              <a:cs typeface="Consolas" pitchFamily="49" charset="0"/>
            </a:endParaRPr>
          </a:p>
          <a:p>
            <a:r>
              <a:rPr lang="ro-MD" dirty="0" smtClean="0"/>
              <a:t>Deseori blocurile de cod se utilizează cu instrucțiunile compuse 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if</a:t>
            </a:r>
            <a:r>
              <a:rPr lang="ro-MD" dirty="0" smtClean="0"/>
              <a:t> și </a:t>
            </a:r>
            <a:r>
              <a:rPr lang="ro-MD" dirty="0" smtClean="0">
                <a:latin typeface="Consolas" pitchFamily="49" charset="0"/>
                <a:cs typeface="Consolas" pitchFamily="49" charset="0"/>
              </a:rPr>
              <a:t>for</a:t>
            </a:r>
            <a:r>
              <a:rPr lang="ro-MD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243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47</a:t>
            </a:fld>
            <a:endParaRPr lang="ro-RO"/>
          </a:p>
        </p:txBody>
      </p:sp>
      <p:pic>
        <p:nvPicPr>
          <p:cNvPr id="6" name="Imagine 5"/>
          <p:cNvPicPr>
            <a:picLocks noChangeAspect="1"/>
          </p:cNvPicPr>
          <p:nvPr/>
        </p:nvPicPr>
        <p:blipFill rotWithShape="1">
          <a:blip r:embed="rId2"/>
          <a:srcRect l="18499" t="23400" r="20864" b="15701"/>
          <a:stretch/>
        </p:blipFill>
        <p:spPr>
          <a:xfrm>
            <a:off x="96950" y="846138"/>
            <a:ext cx="9033148" cy="51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5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1579</Words>
  <Application>Microsoft Office PowerPoint</Application>
  <PresentationFormat>On-screen Show (4:3)</PresentationFormat>
  <Paragraphs>272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Consolas</vt:lpstr>
      <vt:lpstr>Symbol</vt:lpstr>
      <vt:lpstr>Office Theme</vt:lpstr>
      <vt:lpstr>Высшее образование дает возможность нам заработать на хлеб, а самообразование - на икру и на масло.</vt:lpstr>
      <vt:lpstr>Programarea orientată pe obiect II</vt:lpstr>
      <vt:lpstr>Cum primim notele?</vt:lpstr>
      <vt:lpstr>Principiile de lucru în cadrul disciplinei </vt:lpstr>
      <vt:lpstr>Surse bibliografice</vt:lpstr>
      <vt:lpstr>Surse bibliografice</vt:lpstr>
      <vt:lpstr>Surse bibliografice</vt:lpstr>
      <vt:lpstr>Resursele informaţionale la unitatea de curs </vt:lpstr>
      <vt:lpstr>Despre mine</vt:lpstr>
      <vt:lpstr>Programarea orientată pe obiect II</vt:lpstr>
      <vt:lpstr>Limbajele folosite deja cunoscute</vt:lpstr>
      <vt:lpstr>PowerPoint Presentation</vt:lpstr>
      <vt:lpstr>Motivele apariției limbajelor noi de programare</vt:lpstr>
      <vt:lpstr>Originea limbajului de programare Java</vt:lpstr>
      <vt:lpstr>Apariția limbajului Java</vt:lpstr>
      <vt:lpstr>Tipuri de aplicații Java (MS-DOS)</vt:lpstr>
      <vt:lpstr>Tipuri de aplicații Java  (Desktop-GUI)</vt:lpstr>
      <vt:lpstr>Tipuri de aplicații Java (Applets)</vt:lpstr>
      <vt:lpstr>Cum a schimbat LP Java Internetul?</vt:lpstr>
      <vt:lpstr>Byte-codul</vt:lpstr>
      <vt:lpstr>Java Virtual Machine</vt:lpstr>
      <vt:lpstr>Tipuri de aplicații Java (JSP)</vt:lpstr>
      <vt:lpstr>Servlet-urile &amp; Paginile JSP</vt:lpstr>
      <vt:lpstr>Caracteristicile deosebite ale limbajului Java</vt:lpstr>
      <vt:lpstr>Java Development Kit (JDK)</vt:lpstr>
      <vt:lpstr>Primele 8 biblioteci standard</vt:lpstr>
      <vt:lpstr>Java 2</vt:lpstr>
      <vt:lpstr> </vt:lpstr>
      <vt:lpstr>Java SE 8</vt:lpstr>
      <vt:lpstr>PowerPoint Presentation</vt:lpstr>
      <vt:lpstr>Programarea obiect orientată</vt:lpstr>
      <vt:lpstr>Două metodologii de programare:</vt:lpstr>
      <vt:lpstr>Abstractizare</vt:lpstr>
      <vt:lpstr>Principiile programării obiect orientate</vt:lpstr>
      <vt:lpstr>Clasă &amp; Obiect</vt:lpstr>
      <vt:lpstr>Exemplu de obiecte și clasă</vt:lpstr>
      <vt:lpstr>Exemplu de obiecte și clasă</vt:lpstr>
      <vt:lpstr>Primul exemplu de program simplu</vt:lpstr>
      <vt:lpstr>Culegerea codului programului</vt:lpstr>
      <vt:lpstr>Compilarea programului</vt:lpstr>
      <vt:lpstr>Al doilea exemplu de program</vt:lpstr>
      <vt:lpstr>PowerPoint Presentation</vt:lpstr>
      <vt:lpstr>Operatorul condițional if</vt:lpstr>
      <vt:lpstr>Operatorul repetitiv for</vt:lpstr>
      <vt:lpstr>PowerPoint Presentation</vt:lpstr>
      <vt:lpstr>Utilizarea blocurilor de cod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Programarea Java</dc:title>
  <dc:creator>Bijou</dc:creator>
  <cp:lastModifiedBy>Utilizator Windows</cp:lastModifiedBy>
  <cp:revision>70</cp:revision>
  <dcterms:created xsi:type="dcterms:W3CDTF">2013-02-08T07:26:23Z</dcterms:created>
  <dcterms:modified xsi:type="dcterms:W3CDTF">2020-02-08T17:19:15Z</dcterms:modified>
</cp:coreProperties>
</file>